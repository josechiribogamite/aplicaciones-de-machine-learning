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6858000" cx="12192000"/>
  <p:notesSz cx="6858000" cy="9144000"/>
  <p:embeddedFontLst>
    <p:embeddedFont>
      <p:font typeface="Poppins"/>
      <p:regular r:id="rId69"/>
      <p:bold r:id="rId70"/>
      <p:italic r:id="rId71"/>
      <p:boldItalic r:id="rId72"/>
    </p:embeddedFont>
    <p:embeddedFont>
      <p:font typeface="Roboto Mono"/>
      <p:regular r:id="rId73"/>
      <p:bold r:id="rId74"/>
      <p:italic r:id="rId75"/>
      <p:boldItalic r:id="rId76"/>
    </p:embeddedFont>
    <p:embeddedFont>
      <p:font typeface="Cambria Math"/>
      <p:regular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8" roundtripDataSignature="AMtx7mg1IQUXVdDp9p4Wv8n05lOPlfHM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CAB9B7-7BD9-40E0-9C54-0859FF286D44}">
  <a:tblStyle styleId="{0ACAB9B7-7BD9-40E0-9C54-0859FF286D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7530816-5F79-43F7-9BB8-DFBB62571D5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5B34B81-AB43-439F-BE6F-5AA330D8B097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RobotoMono-regular.fntdata"/><Relationship Id="rId72" Type="http://schemas.openxmlformats.org/officeDocument/2006/relationships/font" Target="fonts/Poppins-boldItalic.fntdata"/><Relationship Id="rId31" Type="http://schemas.openxmlformats.org/officeDocument/2006/relationships/slide" Target="slides/slide26.xml"/><Relationship Id="rId75" Type="http://schemas.openxmlformats.org/officeDocument/2006/relationships/font" Target="fonts/RobotoMono-italic.fntdata"/><Relationship Id="rId30" Type="http://schemas.openxmlformats.org/officeDocument/2006/relationships/slide" Target="slides/slide25.xml"/><Relationship Id="rId74" Type="http://schemas.openxmlformats.org/officeDocument/2006/relationships/font" Target="fonts/RobotoMono-bold.fntdata"/><Relationship Id="rId33" Type="http://schemas.openxmlformats.org/officeDocument/2006/relationships/slide" Target="slides/slide28.xml"/><Relationship Id="rId77" Type="http://schemas.openxmlformats.org/officeDocument/2006/relationships/font" Target="fonts/CambriaMath-regular.fntdata"/><Relationship Id="rId32" Type="http://schemas.openxmlformats.org/officeDocument/2006/relationships/slide" Target="slides/slide27.xml"/><Relationship Id="rId76" Type="http://schemas.openxmlformats.org/officeDocument/2006/relationships/font" Target="fonts/RobotoMono-boldItalic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8" Type="http://customschemas.google.com/relationships/presentationmetadata" Target="metadata"/><Relationship Id="rId71" Type="http://schemas.openxmlformats.org/officeDocument/2006/relationships/font" Target="fonts/Poppins-italic.fntdata"/><Relationship Id="rId70" Type="http://schemas.openxmlformats.org/officeDocument/2006/relationships/font" Target="fonts/Poppins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Poppins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96a81364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96a81364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f96a81364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96a813643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96a813643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f96a813643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96a813643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96a813643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96a813643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e8e95dec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e8e95dec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e8e95dec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ecbccedb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ecbccedb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ecbccedb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ecbccedbb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ecbccedbb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ecbccedbb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e8e95dec6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e8e95dec6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e8e95dec6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143a508e4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f143a508e4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9" name="Google Shape;219;g3f143a508e4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e8e95dec6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e8e95dec6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e8e95dec6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143a508e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143a508e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143a508e4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e8e95dec6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de8e95dec6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de8e95dec6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143a508e4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143a508e4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f143a508e4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e8e95dec6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e8e95dec6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e8e95dec6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e8e95dec6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e8e95dec6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de8e95dec6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848de210e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848de210e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d848de210e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6" name="Google Shape;3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5" name="Google Shape;3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1" name="Google Shape;3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5" name="Google Shape;35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764d1ba5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f764d1ba5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/>
              <a:t>yi​=real; </a:t>
            </a:r>
            <a:r>
              <a:rPr i="0"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𝑦 ̂_𝑖</a:t>
            </a:r>
            <a:r>
              <a:rPr lang="es-ES"/>
              <a:t>=prediccion; </a:t>
            </a:r>
            <a:r>
              <a:rPr i="0"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𝑦┴ˉ</a:t>
            </a:r>
            <a:r>
              <a:rPr lang="es-ES"/>
              <a:t>=promedio </a:t>
            </a:r>
            <a:r>
              <a:rPr i="0"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𝑦</a:t>
            </a:r>
            <a:r>
              <a:rPr b="0" i="0" lang="es-ES" sz="1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;</a:t>
            </a:r>
            <a:r>
              <a:rPr lang="es-ES"/>
              <a:t> </a:t>
            </a:r>
            <a:r>
              <a:rPr i="0"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r>
              <a:rPr lang="es-ES"/>
              <a:t>=observaciones</a:t>
            </a:r>
            <a:endParaRPr/>
          </a:p>
        </p:txBody>
      </p:sp>
      <p:sp>
        <p:nvSpPr>
          <p:cNvPr id="363" name="Google Shape;363;g3f764d1ba5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aba8ce0c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faba8ce0c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faba8ce0c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1" name="Google Shape;3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s-ES"/>
              <a:t>Mean Square Error </a:t>
            </a:r>
            <a:r>
              <a:rPr lang="es-ES"/>
              <a:t> mide el </a:t>
            </a:r>
            <a:r>
              <a:rPr b="1" lang="es-ES"/>
              <a:t>error absoluto del modelo</a:t>
            </a:r>
            <a:r>
              <a:rPr lang="es-ES"/>
              <a:t> (cuánto se equivoca). MSE= SSE/n</a:t>
            </a:r>
            <a:endParaRPr/>
          </a:p>
        </p:txBody>
      </p:sp>
      <p:sp>
        <p:nvSpPr>
          <p:cNvPr id="393" name="Google Shape;39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02a93216f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f02a93216f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f02a93216f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940096d306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3940096d306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940096d306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f02a93216f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f02a93216f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f02a93216f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9" name="Google Shape;49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99ce022d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d99ce022d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d99ce022d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99ce022d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g3d99ce022d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d99ce022d7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d99ce022d7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g3d99ce022d7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d99ce022d7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99ce022d7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d99ce022d7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d99ce022d7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d99ce022d7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3d99ce022d7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d99ce022d7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f0550357c3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f0550357c3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f0550357c3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0550357c3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f0550357c3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f0550357c3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f0550357c3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f0550357c3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3f0550357c3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0550357c3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f0550357c3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f0550357c3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99ce022d7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d99ce022d7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d99ce022d7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d99ce022d7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d99ce022d7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d99ce022d7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d99ce022d7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d99ce022d7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d99ce022d7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ca695f72d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g3ca695f72d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/>
              <a:t>yi​=real; </a:t>
            </a:r>
            <a:r>
              <a:rPr i="0"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𝑦 ̂_𝑖</a:t>
            </a:r>
            <a:r>
              <a:rPr lang="es-ES"/>
              <a:t>=prediccion; </a:t>
            </a:r>
            <a:r>
              <a:rPr i="0"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𝑦┴ˉ</a:t>
            </a:r>
            <a:r>
              <a:rPr lang="es-ES"/>
              <a:t>=promedio </a:t>
            </a:r>
            <a:r>
              <a:rPr i="0"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𝑦</a:t>
            </a:r>
            <a:r>
              <a:rPr b="0" i="0" lang="es-ES" sz="1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;</a:t>
            </a:r>
            <a:r>
              <a:rPr lang="es-ES"/>
              <a:t> </a:t>
            </a:r>
            <a:r>
              <a:rPr i="0"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r>
              <a:rPr lang="es-ES"/>
              <a:t>=observaciones</a:t>
            </a:r>
            <a:endParaRPr/>
          </a:p>
        </p:txBody>
      </p:sp>
      <p:sp>
        <p:nvSpPr>
          <p:cNvPr id="677" name="Google Shape;677;g3ca695f72d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90" name="Google Shape;69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3.png"/><Relationship Id="rId4" Type="http://schemas.openxmlformats.org/officeDocument/2006/relationships/image" Target="../media/image120.jpg"/><Relationship Id="rId5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29.png"/><Relationship Id="rId13" Type="http://schemas.openxmlformats.org/officeDocument/2006/relationships/image" Target="../media/image17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18.png"/><Relationship Id="rId14" Type="http://schemas.openxmlformats.org/officeDocument/2006/relationships/image" Target="../media/image26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25.png"/><Relationship Id="rId8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37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image" Target="../media/image38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Relationship Id="rId7" Type="http://schemas.openxmlformats.org/officeDocument/2006/relationships/image" Target="../media/image21.png"/><Relationship Id="rId8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png"/><Relationship Id="rId4" Type="http://schemas.openxmlformats.org/officeDocument/2006/relationships/image" Target="../media/image34.png"/><Relationship Id="rId5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39.png"/><Relationship Id="rId5" Type="http://schemas.openxmlformats.org/officeDocument/2006/relationships/image" Target="../media/image36.png"/><Relationship Id="rId6" Type="http://schemas.openxmlformats.org/officeDocument/2006/relationships/image" Target="../media/image43.png"/><Relationship Id="rId7" Type="http://schemas.openxmlformats.org/officeDocument/2006/relationships/image" Target="../media/image4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Relationship Id="rId4" Type="http://schemas.openxmlformats.org/officeDocument/2006/relationships/image" Target="../media/image52.png"/><Relationship Id="rId5" Type="http://schemas.openxmlformats.org/officeDocument/2006/relationships/image" Target="../media/image5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Relationship Id="rId4" Type="http://schemas.openxmlformats.org/officeDocument/2006/relationships/image" Target="../media/image50.png"/><Relationship Id="rId5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png"/><Relationship Id="rId4" Type="http://schemas.openxmlformats.org/officeDocument/2006/relationships/image" Target="../media/image44.png"/><Relationship Id="rId5" Type="http://schemas.openxmlformats.org/officeDocument/2006/relationships/image" Target="../media/image47.png"/><Relationship Id="rId6" Type="http://schemas.openxmlformats.org/officeDocument/2006/relationships/image" Target="../media/image56.png"/><Relationship Id="rId7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5.png"/><Relationship Id="rId4" Type="http://schemas.openxmlformats.org/officeDocument/2006/relationships/image" Target="../media/image5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3.png"/><Relationship Id="rId4" Type="http://schemas.openxmlformats.org/officeDocument/2006/relationships/image" Target="../media/image55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Relationship Id="rId4" Type="http://schemas.openxmlformats.org/officeDocument/2006/relationships/image" Target="../media/image64.png"/><Relationship Id="rId5" Type="http://schemas.openxmlformats.org/officeDocument/2006/relationships/image" Target="../media/image6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6.png"/><Relationship Id="rId4" Type="http://schemas.openxmlformats.org/officeDocument/2006/relationships/image" Target="../media/image60.png"/><Relationship Id="rId5" Type="http://schemas.openxmlformats.org/officeDocument/2006/relationships/image" Target="../media/image68.png"/><Relationship Id="rId6" Type="http://schemas.openxmlformats.org/officeDocument/2006/relationships/image" Target="../media/image7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9.png"/><Relationship Id="rId4" Type="http://schemas.openxmlformats.org/officeDocument/2006/relationships/image" Target="../media/image81.png"/><Relationship Id="rId5" Type="http://schemas.openxmlformats.org/officeDocument/2006/relationships/image" Target="../media/image76.png"/><Relationship Id="rId6" Type="http://schemas.openxmlformats.org/officeDocument/2006/relationships/image" Target="../media/image6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Relationship Id="rId5" Type="http://schemas.openxmlformats.org/officeDocument/2006/relationships/image" Target="../media/image67.png"/><Relationship Id="rId6" Type="http://schemas.openxmlformats.org/officeDocument/2006/relationships/image" Target="../media/image72.png"/><Relationship Id="rId7" Type="http://schemas.openxmlformats.org/officeDocument/2006/relationships/image" Target="../media/image86.png"/><Relationship Id="rId8" Type="http://schemas.openxmlformats.org/officeDocument/2006/relationships/image" Target="../media/image10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3.png"/><Relationship Id="rId4" Type="http://schemas.openxmlformats.org/officeDocument/2006/relationships/image" Target="../media/image120.jpg"/><Relationship Id="rId5" Type="http://schemas.openxmlformats.org/officeDocument/2006/relationships/image" Target="../media/image4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3.png"/><Relationship Id="rId4" Type="http://schemas.openxmlformats.org/officeDocument/2006/relationships/image" Target="../media/image82.png"/><Relationship Id="rId5" Type="http://schemas.openxmlformats.org/officeDocument/2006/relationships/image" Target="../media/image87.png"/><Relationship Id="rId6" Type="http://schemas.openxmlformats.org/officeDocument/2006/relationships/image" Target="../media/image78.png"/><Relationship Id="rId7" Type="http://schemas.openxmlformats.org/officeDocument/2006/relationships/image" Target="../media/image88.png"/><Relationship Id="rId8" Type="http://schemas.openxmlformats.org/officeDocument/2006/relationships/image" Target="../media/image8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1.png"/><Relationship Id="rId4" Type="http://schemas.openxmlformats.org/officeDocument/2006/relationships/image" Target="../media/image9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0.png"/><Relationship Id="rId4" Type="http://schemas.openxmlformats.org/officeDocument/2006/relationships/image" Target="../media/image9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3.png"/><Relationship Id="rId4" Type="http://schemas.openxmlformats.org/officeDocument/2006/relationships/image" Target="../media/image120.jpg"/><Relationship Id="rId5" Type="http://schemas.openxmlformats.org/officeDocument/2006/relationships/image" Target="../media/image4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4.png"/><Relationship Id="rId4" Type="http://schemas.openxmlformats.org/officeDocument/2006/relationships/image" Target="../media/image93.gif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3.gif"/><Relationship Id="rId4" Type="http://schemas.openxmlformats.org/officeDocument/2006/relationships/image" Target="../media/image114.png"/><Relationship Id="rId5" Type="http://schemas.openxmlformats.org/officeDocument/2006/relationships/image" Target="../media/image97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3.gif"/><Relationship Id="rId4" Type="http://schemas.openxmlformats.org/officeDocument/2006/relationships/image" Target="../media/image118.png"/><Relationship Id="rId5" Type="http://schemas.openxmlformats.org/officeDocument/2006/relationships/image" Target="../media/image10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3.gif"/><Relationship Id="rId4" Type="http://schemas.openxmlformats.org/officeDocument/2006/relationships/image" Target="../media/image11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9.png"/><Relationship Id="rId4" Type="http://schemas.openxmlformats.org/officeDocument/2006/relationships/image" Target="../media/image106.png"/><Relationship Id="rId5" Type="http://schemas.openxmlformats.org/officeDocument/2006/relationships/image" Target="../media/image10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9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7.png"/><Relationship Id="rId4" Type="http://schemas.openxmlformats.org/officeDocument/2006/relationships/image" Target="../media/image9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1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18.png"/><Relationship Id="rId4" Type="http://schemas.openxmlformats.org/officeDocument/2006/relationships/image" Target="../media/image109.png"/><Relationship Id="rId5" Type="http://schemas.openxmlformats.org/officeDocument/2006/relationships/image" Target="../media/image10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1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1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6.png"/><Relationship Id="rId4" Type="http://schemas.openxmlformats.org/officeDocument/2006/relationships/image" Target="../media/image60.png"/><Relationship Id="rId5" Type="http://schemas.openxmlformats.org/officeDocument/2006/relationships/image" Target="../media/image68.png"/><Relationship Id="rId6" Type="http://schemas.openxmlformats.org/officeDocument/2006/relationships/image" Target="../media/image7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1999861" y="1941947"/>
            <a:ext cx="8192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000" u="none" cap="none" strike="noStrike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ASIGNATURA: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TÉCNICAS</a:t>
            </a:r>
            <a:r>
              <a:rPr b="1" i="0" lang="es-ES" sz="4000" u="none" cap="none" strike="noStrike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 DE MACHINE LEARNING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4306957" y="4454332"/>
            <a:ext cx="37636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SISTEMAS INTELIGENTES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f96a81364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700" y="301313"/>
            <a:ext cx="6831526" cy="6255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" name="Google Shape;97;g3f96a813643_0_0"/>
          <p:cNvSpPr txBox="1"/>
          <p:nvPr/>
        </p:nvSpPr>
        <p:spPr>
          <a:xfrm>
            <a:off x="7650325" y="2228400"/>
            <a:ext cx="4105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-ES" sz="1600"/>
              <a:t>De 8 actividades se reduce a 6 actividades.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ES" sz="1600"/>
              <a:t>Se suprime la evaluación parcial.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ES" sz="1600"/>
              <a:t>La 1era actividad se realiza en la semana 3.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-ES" sz="1600"/>
              <a:t>La evaluación final pasa a la semana 7</a:t>
            </a:r>
            <a:r>
              <a:rPr lang="es-ES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ES" sz="1600"/>
              <a:t>Examen atrasado y de recuperación pasa a la semana 8.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3f96a813643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3575" y="1537677"/>
            <a:ext cx="7194175" cy="2769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f96a813643_0_86"/>
          <p:cNvPicPr preferRelativeResize="0"/>
          <p:nvPr/>
        </p:nvPicPr>
        <p:blipFill rotWithShape="1">
          <a:blip r:embed="rId3">
            <a:alphaModFix/>
          </a:blip>
          <a:srcRect b="7877" l="0" r="0" t="0"/>
          <a:stretch/>
        </p:blipFill>
        <p:spPr>
          <a:xfrm>
            <a:off x="3341700" y="410425"/>
            <a:ext cx="5508601" cy="60371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1970" y="-198307"/>
            <a:ext cx="9160030" cy="51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"/>
          <p:cNvPicPr preferRelativeResize="0"/>
          <p:nvPr/>
        </p:nvPicPr>
        <p:blipFill rotWithShape="1">
          <a:blip r:embed="rId4">
            <a:alphaModFix/>
          </a:blip>
          <a:srcRect b="185" l="16381" r="45105" t="1116"/>
          <a:stretch/>
        </p:blipFill>
        <p:spPr>
          <a:xfrm>
            <a:off x="-76200" y="-50801"/>
            <a:ext cx="4038600" cy="696976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 txBox="1"/>
          <p:nvPr/>
        </p:nvSpPr>
        <p:spPr>
          <a:xfrm>
            <a:off x="4411089" y="1595151"/>
            <a:ext cx="713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b="1" lang="es-ES" sz="3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Regresiones y SVM</a:t>
            </a:r>
            <a:endParaRPr b="1" sz="3000">
              <a:solidFill>
                <a:srgbClr val="00508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4411074" y="2498150"/>
            <a:ext cx="7780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2.1 </a:t>
            </a:r>
            <a:r>
              <a:rPr b="1"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Regresión</a:t>
            </a:r>
            <a:r>
              <a:rPr b="1"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 Lineal (ols,ridge,lasso)</a:t>
            </a:r>
            <a:endParaRPr b="1"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2.2 </a:t>
            </a: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Regresión</a:t>
            </a: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Logística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2.3 Support Vector Machine (svr,svc)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6697" y="5411192"/>
            <a:ext cx="1502667" cy="98145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/>
          <p:nvPr/>
        </p:nvSpPr>
        <p:spPr>
          <a:xfrm flipH="1">
            <a:off x="3858768" y="0"/>
            <a:ext cx="194733" cy="6858000"/>
          </a:xfrm>
          <a:prstGeom prst="rect">
            <a:avLst/>
          </a:prstGeom>
          <a:solidFill>
            <a:srgbClr val="34C0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/>
        </p:nvSpPr>
        <p:spPr>
          <a:xfrm>
            <a:off x="3780631" y="524239"/>
            <a:ext cx="463073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Regresión</a:t>
            </a:r>
            <a:r>
              <a:rPr b="1" lang="es-ES" sz="4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 Lineal</a:t>
            </a:r>
            <a:endParaRPr b="1" sz="2200">
              <a:solidFill>
                <a:srgbClr val="00508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0" y="1553617"/>
            <a:ext cx="55332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Método supervisado que </a:t>
            </a:r>
            <a:r>
              <a:rPr b="1" i="0" lang="es-ES" sz="2400" u="none" cap="none" strike="noStrik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predice un valor continuo “y</a:t>
            </a:r>
            <a:r>
              <a:rPr b="0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” (ej.: precio de casa o salario) a </a:t>
            </a:r>
            <a:r>
              <a:rPr b="0" i="0" lang="es-ES" sz="2400" u="none" cap="none" strike="noStrike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partir de una o </a:t>
            </a:r>
            <a:r>
              <a:rPr lang="es-ES" sz="240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b="0" i="0" lang="es-ES" sz="2400" u="none" cap="none" strike="noStrike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 variables de entrada “X_i”</a:t>
            </a:r>
            <a:r>
              <a:rPr b="0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El objetivo es trazar una línea</a:t>
            </a:r>
            <a:r>
              <a:rPr b="0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s-ES" sz="24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línea</a:t>
            </a:r>
            <a:r>
              <a:rPr lang="es-ES" sz="24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predictora</a:t>
            </a:r>
            <a:r>
              <a:rPr b="0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) que mejor se ajuste a los datos, a través de minimizar el error entre los valores reales y las predicciones.</a:t>
            </a:r>
            <a:endParaRPr/>
          </a:p>
        </p:txBody>
      </p:sp>
      <p:pic>
        <p:nvPicPr>
          <p:cNvPr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9" y="1828069"/>
            <a:ext cx="5533063" cy="3606079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e8e95dec6_0_0"/>
          <p:cNvSpPr txBox="1"/>
          <p:nvPr/>
        </p:nvSpPr>
        <p:spPr>
          <a:xfrm>
            <a:off x="3672225" y="390125"/>
            <a:ext cx="64401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mx + b			</a:t>
            </a: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x: metros cuadrados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y: valor de una casa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B_1* 	x + B_0 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B_0  + B_1* 	x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ecbccedbb_0_0"/>
          <p:cNvSpPr txBox="1"/>
          <p:nvPr/>
        </p:nvSpPr>
        <p:spPr>
          <a:xfrm>
            <a:off x="3244700" y="2915100"/>
            <a:ext cx="74226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B_0  + B_1* 	</a:t>
            </a:r>
            <a:r>
              <a:rPr lang="es-E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+ </a:t>
            </a: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B_2*x_2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B_3*x_3 </a:t>
            </a:r>
            <a:r>
              <a:rPr lang="es-E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+ ….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eecbccedbb_0_0"/>
          <p:cNvSpPr txBox="1"/>
          <p:nvPr/>
        </p:nvSpPr>
        <p:spPr>
          <a:xfrm>
            <a:off x="1340475" y="857250"/>
            <a:ext cx="10137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solo los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metros cuadrados (</a:t>
            </a:r>
            <a:r>
              <a:rPr lang="es-ES" sz="28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definen el precio de una casa..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los </a:t>
            </a: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años</a:t>
            </a: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antigüedad</a:t>
            </a: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de la casa (x_2)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sector donde </a:t>
            </a: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ubicada la casa </a:t>
            </a: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(x_3)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etc… (</a:t>
            </a:r>
            <a:r>
              <a:rPr lang="es-ES" sz="28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x_4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ES" sz="28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x_5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/>
        </p:nvSpPr>
        <p:spPr>
          <a:xfrm>
            <a:off x="271108" y="839157"/>
            <a:ext cx="1104889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Gráficamente la línea de regresión es la recta que pasa lo </a:t>
            </a:r>
            <a:r>
              <a:rPr lang="es-ES" sz="24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b="0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cerca posible de todos los puntos.</a:t>
            </a:r>
            <a:endParaRPr/>
          </a:p>
        </p:txBody>
      </p:sp>
      <p:pic>
        <p:nvPicPr>
          <p:cNvPr id="148" name="Google Shape;1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0959" y="3424085"/>
            <a:ext cx="3476165" cy="171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4"/>
          <p:cNvPicPr preferRelativeResize="0"/>
          <p:nvPr/>
        </p:nvPicPr>
        <p:blipFill rotWithShape="1">
          <a:blip r:embed="rId4">
            <a:alphaModFix/>
          </a:blip>
          <a:srcRect b="0" l="0" r="16868" t="0"/>
          <a:stretch/>
        </p:blipFill>
        <p:spPr>
          <a:xfrm>
            <a:off x="2822081" y="2083450"/>
            <a:ext cx="6973920" cy="8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/>
          <p:nvPr/>
        </p:nvSpPr>
        <p:spPr>
          <a:xfrm>
            <a:off x="271108" y="357377"/>
            <a:ext cx="110488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Que significa “</a:t>
            </a:r>
            <a:r>
              <a:rPr b="1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minimizar el error</a:t>
            </a:r>
            <a:r>
              <a:rPr b="0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”? </a:t>
            </a:r>
            <a:endParaRPr/>
          </a:p>
        </p:txBody>
      </p:sp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860" y="2520806"/>
            <a:ext cx="2834886" cy="548688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7" name="Google Shape;157;p5"/>
          <p:cNvSpPr txBox="1"/>
          <p:nvPr/>
        </p:nvSpPr>
        <p:spPr>
          <a:xfrm>
            <a:off x="0" y="1306982"/>
            <a:ext cx="6096000" cy="101566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0180" l="0" r="-1000" t="-29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58" name="Google Shape;158;p5"/>
          <p:cNvCxnSpPr>
            <a:endCxn id="156" idx="1"/>
          </p:cNvCxnSpPr>
          <p:nvPr/>
        </p:nvCxnSpPr>
        <p:spPr>
          <a:xfrm>
            <a:off x="5034260" y="2795150"/>
            <a:ext cx="2967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159" name="Google Shape;15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860" y="3785647"/>
            <a:ext cx="2911092" cy="823031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60" name="Google Shape;160;p5"/>
          <p:cNvCxnSpPr>
            <a:stCxn id="161" idx="3"/>
            <a:endCxn id="159" idx="1"/>
          </p:cNvCxnSpPr>
          <p:nvPr/>
        </p:nvCxnSpPr>
        <p:spPr>
          <a:xfrm>
            <a:off x="6095960" y="4197163"/>
            <a:ext cx="1905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2" name="Google Shape;162;p5"/>
          <p:cNvSpPr txBox="1"/>
          <p:nvPr/>
        </p:nvSpPr>
        <p:spPr>
          <a:xfrm>
            <a:off x="7280777" y="5297764"/>
            <a:ext cx="4144295" cy="8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7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Esta técnica se llama: 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7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Mínimos Cuadrados Ordinarios</a:t>
            </a:r>
            <a:r>
              <a:rPr b="0" i="0" lang="es-ES" sz="17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7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(OLS – Ordinary Least Squares)</a:t>
            </a:r>
            <a:endParaRPr/>
          </a:p>
        </p:txBody>
      </p:sp>
      <p:cxnSp>
        <p:nvCxnSpPr>
          <p:cNvPr id="163" name="Google Shape;163;p5"/>
          <p:cNvCxnSpPr>
            <a:endCxn id="159" idx="2"/>
          </p:cNvCxnSpPr>
          <p:nvPr/>
        </p:nvCxnSpPr>
        <p:spPr>
          <a:xfrm rot="10800000">
            <a:off x="9457406" y="4608678"/>
            <a:ext cx="0" cy="641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4" name="Google Shape;164;p5"/>
          <p:cNvSpPr txBox="1"/>
          <p:nvPr/>
        </p:nvSpPr>
        <p:spPr>
          <a:xfrm>
            <a:off x="0" y="2610530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El error para cada observación es:</a:t>
            </a:r>
            <a:endParaRPr/>
          </a:p>
        </p:txBody>
      </p:sp>
      <p:pic>
        <p:nvPicPr>
          <p:cNvPr id="165" name="Google Shape;165;p5"/>
          <p:cNvPicPr preferRelativeResize="0"/>
          <p:nvPr/>
        </p:nvPicPr>
        <p:blipFill rotWithShape="1">
          <a:blip r:embed="rId6">
            <a:alphaModFix/>
          </a:blip>
          <a:srcRect b="0" l="0" r="16868" t="0"/>
          <a:stretch/>
        </p:blipFill>
        <p:spPr>
          <a:xfrm>
            <a:off x="6344276" y="1349075"/>
            <a:ext cx="5385281" cy="6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 txBox="1"/>
          <p:nvPr/>
        </p:nvSpPr>
        <p:spPr>
          <a:xfrm>
            <a:off x="1687500" y="3785650"/>
            <a:ext cx="431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La </a:t>
            </a:r>
            <a:r>
              <a:rPr lang="es-ES" sz="20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función</a:t>
            </a:r>
            <a:r>
              <a:rPr lang="es-ES" sz="20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objetivo a minimizar es la </a:t>
            </a:r>
            <a:r>
              <a:rPr lang="es-ES" sz="20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función</a:t>
            </a:r>
            <a:r>
              <a:rPr lang="es-ES" sz="20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de error.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eecbccedbb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852200"/>
            <a:ext cx="4934549" cy="47747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3" name="Google Shape;173;g3eecbccedbb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9224" y="1088375"/>
            <a:ext cx="6310374" cy="3808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de8e95dec6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149" y="1449819"/>
            <a:ext cx="5533063" cy="3606079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" name="Google Shape;180;g3de8e95dec6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9960" y="695281"/>
            <a:ext cx="2834886" cy="548688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271108" y="357377"/>
            <a:ext cx="11048894" cy="49244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1249" l="0" r="0" t="-124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87" name="Google Shape;187;p6"/>
          <p:cNvCxnSpPr/>
          <p:nvPr/>
        </p:nvCxnSpPr>
        <p:spPr>
          <a:xfrm>
            <a:off x="4109013" y="1409698"/>
            <a:ext cx="317146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id="188" name="Google Shape;18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121" y="2278962"/>
            <a:ext cx="5303980" cy="2133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9011" y="2278962"/>
            <a:ext cx="1120237" cy="20804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6"/>
          <p:cNvGrpSpPr/>
          <p:nvPr/>
        </p:nvGrpSpPr>
        <p:grpSpPr>
          <a:xfrm>
            <a:off x="556684" y="1959338"/>
            <a:ext cx="6460658" cy="420871"/>
            <a:chOff x="556684" y="1959338"/>
            <a:chExt cx="6460658" cy="420871"/>
          </a:xfrm>
        </p:grpSpPr>
        <p:sp>
          <p:nvSpPr>
            <p:cNvPr id="191" name="Google Shape;191;p6"/>
            <p:cNvSpPr txBox="1"/>
            <p:nvPr/>
          </p:nvSpPr>
          <p:spPr>
            <a:xfrm>
              <a:off x="556684" y="2103210"/>
              <a:ext cx="585866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8889" l="-5208" r="-1041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2" name="Google Shape;192;p6"/>
            <p:cNvSpPr txBox="1"/>
            <p:nvPr/>
          </p:nvSpPr>
          <p:spPr>
            <a:xfrm>
              <a:off x="2889050" y="2103210"/>
              <a:ext cx="1185004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35554" l="-2577" r="-7216" t="-222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3" name="Google Shape;193;p6"/>
            <p:cNvSpPr txBox="1"/>
            <p:nvPr/>
          </p:nvSpPr>
          <p:spPr>
            <a:xfrm>
              <a:off x="4903026" y="1959338"/>
              <a:ext cx="1176219" cy="27699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32607" l="-6735" r="-4662" t="-217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4" name="Google Shape;194;p6"/>
            <p:cNvSpPr txBox="1"/>
            <p:nvPr/>
          </p:nvSpPr>
          <p:spPr>
            <a:xfrm>
              <a:off x="6431476" y="1980309"/>
              <a:ext cx="585866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6667" l="-5208" r="-1041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95" name="Google Shape;195;p6"/>
          <p:cNvSpPr txBox="1"/>
          <p:nvPr/>
        </p:nvSpPr>
        <p:spPr>
          <a:xfrm>
            <a:off x="1061911" y="4848045"/>
            <a:ext cx="5010411" cy="136422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7502332" y="1219690"/>
            <a:ext cx="4050890" cy="39074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5970" l="0" r="0" t="-2984"/>
            </a:stretch>
          </a:blipFill>
          <a:ln cap="flat" cmpd="sng" w="19050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2473035" y="1236447"/>
            <a:ext cx="1500152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32257" l="-6854" r="-4032" t="-17742"/>
            </a:stretch>
          </a:blipFill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1061911" y="4571046"/>
            <a:ext cx="585866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6667" l="-5208" r="-1041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3680254" y="4551246"/>
            <a:ext cx="585866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6667" l="-5208" r="-937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/>
          <p:nvPr/>
        </p:nvSpPr>
        <p:spPr>
          <a:xfrm>
            <a:off x="4108372" y="1591842"/>
            <a:ext cx="4385816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4982961" y="1350481"/>
            <a:ext cx="517899" cy="24622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999" l="-4705" r="-823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7430930" y="1317260"/>
            <a:ext cx="1049198" cy="24622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4998" l="-2906" r="-639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8594464" y="1976563"/>
            <a:ext cx="1176219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2607" l="-6735" r="-4145" t="-217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6221989" y="2005059"/>
            <a:ext cx="1048492" cy="24622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2499" l="-9302" r="-348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3780364" y="1991952"/>
            <a:ext cx="1048492" cy="24622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32499" l="-8721" r="-406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2207957" y="2813210"/>
            <a:ext cx="7583102" cy="40915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2172359" y="3714296"/>
            <a:ext cx="4741234" cy="409151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2247286" y="4525457"/>
            <a:ext cx="4248021" cy="409151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4644699" y="5507519"/>
            <a:ext cx="2625782" cy="409151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215" name="Google Shape;215;p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01025" y="319200"/>
            <a:ext cx="1547875" cy="5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143a508e4_0_31"/>
          <p:cNvSpPr txBox="1"/>
          <p:nvPr/>
        </p:nvSpPr>
        <p:spPr>
          <a:xfrm>
            <a:off x="4414686" y="1832679"/>
            <a:ext cx="26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Taller # 10</a:t>
            </a:r>
            <a:endParaRPr/>
          </a:p>
        </p:txBody>
      </p:sp>
      <p:sp>
        <p:nvSpPr>
          <p:cNvPr id="222" name="Google Shape;222;g3f143a508e4_0_31"/>
          <p:cNvSpPr txBox="1"/>
          <p:nvPr/>
        </p:nvSpPr>
        <p:spPr>
          <a:xfrm>
            <a:off x="2694038" y="3121223"/>
            <a:ext cx="734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143a508e4_0_31"/>
          <p:cNvSpPr txBox="1"/>
          <p:nvPr/>
        </p:nvSpPr>
        <p:spPr>
          <a:xfrm>
            <a:off x="4080389" y="2621266"/>
            <a:ext cx="337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Regresión lineal: Monomial y Polinómica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/>
          <p:nvPr/>
        </p:nvSpPr>
        <p:spPr>
          <a:xfrm>
            <a:off x="3357715" y="452196"/>
            <a:ext cx="54765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Polynomial Features</a:t>
            </a:r>
            <a:endParaRPr b="1" i="0" sz="2400" u="none" cap="none" strike="noStrike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1425673" y="1554669"/>
            <a:ext cx="9675647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150" l="-566" r="0" t="-47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1381331" y="4123331"/>
            <a:ext cx="88701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6" l="-619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No se transforma a “y”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3127" y="2545003"/>
            <a:ext cx="4625741" cy="883997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3de8e95dec6_0_25"/>
          <p:cNvPicPr preferRelativeResize="0"/>
          <p:nvPr/>
        </p:nvPicPr>
        <p:blipFill rotWithShape="1">
          <a:blip r:embed="rId3">
            <a:alphaModFix/>
          </a:blip>
          <a:srcRect b="0" l="0" r="79118" t="0"/>
          <a:stretch/>
        </p:blipFill>
        <p:spPr>
          <a:xfrm>
            <a:off x="1700100" y="1024050"/>
            <a:ext cx="1205625" cy="410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de8e95dec6_0_25"/>
          <p:cNvPicPr preferRelativeResize="0"/>
          <p:nvPr/>
        </p:nvPicPr>
        <p:blipFill rotWithShape="1">
          <a:blip r:embed="rId3">
            <a:alphaModFix/>
          </a:blip>
          <a:srcRect b="0" l="52068" r="0" t="0"/>
          <a:stretch/>
        </p:blipFill>
        <p:spPr>
          <a:xfrm>
            <a:off x="2905725" y="1024050"/>
            <a:ext cx="2767450" cy="410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de8e95dec6_0_25"/>
          <p:cNvPicPr preferRelativeResize="0"/>
          <p:nvPr/>
        </p:nvPicPr>
        <p:blipFill rotWithShape="1">
          <a:blip r:embed="rId4">
            <a:alphaModFix/>
          </a:blip>
          <a:srcRect b="0" l="0" r="76030" t="0"/>
          <a:stretch/>
        </p:blipFill>
        <p:spPr>
          <a:xfrm>
            <a:off x="9052225" y="434000"/>
            <a:ext cx="557100" cy="51435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f143a508e4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500" y="1614481"/>
            <a:ext cx="5773600" cy="410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f143a508e4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6425" y="2005431"/>
            <a:ext cx="2324100" cy="514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8" name="Google Shape;248;g3f143a508e4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2450" y="3556882"/>
            <a:ext cx="4819650" cy="495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9" name="Google Shape;249;g3f143a508e4_0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8425" y="5873157"/>
            <a:ext cx="8039100" cy="428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0" name="Google Shape;250;g3f143a508e4_0_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45808" y="322100"/>
            <a:ext cx="1933575" cy="685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1" name="Google Shape;251;g3f143a508e4_0_4"/>
          <p:cNvSpPr txBox="1"/>
          <p:nvPr/>
        </p:nvSpPr>
        <p:spPr>
          <a:xfrm>
            <a:off x="1516925" y="464900"/>
            <a:ext cx="4819800" cy="4002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</a:t>
            </a:r>
            <a:r>
              <a:rPr lang="es-ES"/>
              <a:t>igue siendo lineal respecto a los coeficientes β: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3de8e95dec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450" y="1694950"/>
            <a:ext cx="7527824" cy="39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de8e95dec6_0_15"/>
          <p:cNvSpPr txBox="1"/>
          <p:nvPr/>
        </p:nvSpPr>
        <p:spPr>
          <a:xfrm>
            <a:off x="5122950" y="57657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/>
              <a:t>Variables: x1,x2,x3</a:t>
            </a:r>
            <a:endParaRPr sz="1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g3f143a508e4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25" y="1694950"/>
            <a:ext cx="7527824" cy="39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f143a508e4_0_15"/>
          <p:cNvSpPr txBox="1"/>
          <p:nvPr/>
        </p:nvSpPr>
        <p:spPr>
          <a:xfrm>
            <a:off x="5122950" y="540250"/>
            <a:ext cx="177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Variables: x1,x2,x3</a:t>
            </a:r>
            <a:endParaRPr/>
          </a:p>
        </p:txBody>
      </p:sp>
      <p:pic>
        <p:nvPicPr>
          <p:cNvPr id="266" name="Google Shape;266;g3f143a508e4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2324" y="2041750"/>
            <a:ext cx="3105150" cy="4572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7" name="Google Shape;267;g3f143a508e4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7450" y="4019225"/>
            <a:ext cx="8020050" cy="40005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e8e95dec6_0_32"/>
          <p:cNvSpPr txBox="1"/>
          <p:nvPr/>
        </p:nvSpPr>
        <p:spPr>
          <a:xfrm>
            <a:off x="4456875" y="452275"/>
            <a:ext cx="30000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/>
              <a:t>Si tienes: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/>
              <a:t>n variables predictoras X_n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/>
              <a:t>grado 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/>
              <a:t>Número de combinaciones:</a:t>
            </a:r>
            <a:endParaRPr/>
          </a:p>
        </p:txBody>
      </p:sp>
      <p:pic>
        <p:nvPicPr>
          <p:cNvPr id="274" name="Google Shape;274;g3de8e95dec6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325" y="2195875"/>
            <a:ext cx="1971675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de8e95dec6_0_32"/>
          <p:cNvSpPr txBox="1"/>
          <p:nvPr/>
        </p:nvSpPr>
        <p:spPr>
          <a:xfrm>
            <a:off x="8436825" y="2420050"/>
            <a:ext cx="295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</a:rPr>
              <a:t>El </a:t>
            </a:r>
            <a:r>
              <a:rPr b="1" lang="es-ES" sz="1100">
                <a:solidFill>
                  <a:schemeClr val="dk1"/>
                </a:solidFill>
              </a:rPr>
              <a:t>−1</a:t>
            </a:r>
            <a:r>
              <a:rPr lang="es-ES" sz="1100">
                <a:solidFill>
                  <a:schemeClr val="dk1"/>
                </a:solidFill>
              </a:rPr>
              <a:t> es porque </a:t>
            </a:r>
            <a:r>
              <a:rPr lang="es-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include_bias=False</a:t>
            </a:r>
            <a:r>
              <a:rPr lang="es-ES" sz="1100">
                <a:solidFill>
                  <a:schemeClr val="dk1"/>
                </a:solidFill>
              </a:rPr>
              <a:t> (no incluye la constante 1)</a:t>
            </a:r>
            <a:endParaRPr/>
          </a:p>
        </p:txBody>
      </p:sp>
      <p:pic>
        <p:nvPicPr>
          <p:cNvPr id="276" name="Google Shape;276;g3de8e95dec6_0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3500" y="3928325"/>
            <a:ext cx="222885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de8e95dec6_0_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1913" y="4880625"/>
            <a:ext cx="3209925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e8e95dec6_0_47"/>
          <p:cNvSpPr txBox="1"/>
          <p:nvPr/>
        </p:nvSpPr>
        <p:spPr>
          <a:xfrm>
            <a:off x="5155825" y="480947"/>
            <a:ext cx="3000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n=1 (una variable)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d=2 (grado)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ES">
                <a:solidFill>
                  <a:schemeClr val="dk1"/>
                </a:solidFill>
              </a:rPr>
              <a:t>Número de combinaciones:</a:t>
            </a:r>
            <a:endParaRPr b="1"/>
          </a:p>
        </p:txBody>
      </p:sp>
      <p:pic>
        <p:nvPicPr>
          <p:cNvPr id="284" name="Google Shape;284;g3de8e95dec6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6163" y="1623200"/>
            <a:ext cx="5019675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de8e95dec6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300" y="2825000"/>
            <a:ext cx="22669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3de8e95dec6_0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3975" y="5785706"/>
            <a:ext cx="2324100" cy="51435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7" name="Google Shape;287;g3de8e95dec6_0_47"/>
          <p:cNvSpPr txBox="1"/>
          <p:nvPr/>
        </p:nvSpPr>
        <p:spPr>
          <a:xfrm>
            <a:off x="4570283" y="4525675"/>
            <a:ext cx="321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ES">
                <a:solidFill>
                  <a:schemeClr val="dk1"/>
                </a:solidFill>
              </a:rPr>
              <a:t>Número de Betas (sin intercepto):</a:t>
            </a:r>
            <a:endParaRPr b="1"/>
          </a:p>
        </p:txBody>
      </p:sp>
      <p:pic>
        <p:nvPicPr>
          <p:cNvPr id="288" name="Google Shape;288;g3de8e95dec6_0_47"/>
          <p:cNvPicPr preferRelativeResize="0"/>
          <p:nvPr/>
        </p:nvPicPr>
        <p:blipFill rotWithShape="1">
          <a:blip r:embed="rId5">
            <a:alphaModFix/>
          </a:blip>
          <a:srcRect b="0" l="44420" r="0" t="0"/>
          <a:stretch/>
        </p:blipFill>
        <p:spPr>
          <a:xfrm>
            <a:off x="5450138" y="4925875"/>
            <a:ext cx="1291725" cy="51435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848de210e_0_4"/>
          <p:cNvSpPr txBox="1"/>
          <p:nvPr/>
        </p:nvSpPr>
        <p:spPr>
          <a:xfrm>
            <a:off x="1784400" y="567375"/>
            <a:ext cx="831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</a:rPr>
              <a:t>Si usas </a:t>
            </a:r>
            <a:r>
              <a:rPr b="1" lang="es-ES" sz="1100">
                <a:solidFill>
                  <a:schemeClr val="dk1"/>
                </a:solidFill>
              </a:rPr>
              <a:t>13 variables</a:t>
            </a:r>
            <a:r>
              <a:rPr lang="es-ES" sz="1100">
                <a:solidFill>
                  <a:schemeClr val="dk1"/>
                </a:solidFill>
              </a:rPr>
              <a:t> y </a:t>
            </a:r>
            <a:r>
              <a:rPr lang="es-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PolynomialFeatures(degree=2, include_bias=False)</a:t>
            </a:r>
            <a:r>
              <a:rPr lang="es-ES" sz="1100">
                <a:solidFill>
                  <a:schemeClr val="dk1"/>
                </a:solidFill>
              </a:rPr>
              <a:t>, se crean coeficentes : </a:t>
            </a:r>
            <a:endParaRPr/>
          </a:p>
        </p:txBody>
      </p:sp>
      <p:pic>
        <p:nvPicPr>
          <p:cNvPr id="295" name="Google Shape;295;g3d848de210e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025" y="1213550"/>
            <a:ext cx="123825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d848de210e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6650" y="1261425"/>
            <a:ext cx="1619250" cy="609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7" name="Google Shape;297;g3d848de210e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0013" y="2211075"/>
            <a:ext cx="4371975" cy="838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8" name="Google Shape;298;g3d848de210e_0_4"/>
          <p:cNvSpPr txBox="1"/>
          <p:nvPr/>
        </p:nvSpPr>
        <p:spPr>
          <a:xfrm>
            <a:off x="4498000" y="3182300"/>
            <a:ext cx="414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dk1"/>
                </a:solidFill>
              </a:rPr>
              <a:t>Total: </a:t>
            </a:r>
            <a:r>
              <a:rPr b="1" lang="es-ES" sz="1500">
                <a:solidFill>
                  <a:schemeClr val="dk1"/>
                </a:solidFill>
              </a:rPr>
              <a:t>104 coeficientes/betas</a:t>
            </a:r>
            <a:r>
              <a:rPr lang="es-ES" sz="1500">
                <a:solidFill>
                  <a:schemeClr val="dk1"/>
                </a:solidFill>
              </a:rPr>
              <a:t> (sin intercepto) </a:t>
            </a:r>
            <a:endParaRPr sz="1800"/>
          </a:p>
        </p:txBody>
      </p:sp>
      <p:sp>
        <p:nvSpPr>
          <p:cNvPr id="299" name="Google Shape;299;g3d848de210e_0_4"/>
          <p:cNvSpPr txBox="1"/>
          <p:nvPr/>
        </p:nvSpPr>
        <p:spPr>
          <a:xfrm>
            <a:off x="3626350" y="3864825"/>
            <a:ext cx="38715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chemeClr val="dk1"/>
                </a:solidFill>
              </a:rPr>
              <a:t>Términos lineales (grado 1):</a:t>
            </a:r>
            <a:r>
              <a:rPr lang="es-ES" sz="1100">
                <a:solidFill>
                  <a:schemeClr val="dk1"/>
                </a:solidFill>
              </a:rPr>
              <a:t>  </a:t>
            </a:r>
            <a:r>
              <a:rPr lang="es-ES" sz="1100">
                <a:solidFill>
                  <a:schemeClr val="dk1"/>
                </a:solidFill>
              </a:rPr>
              <a:t>13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chemeClr val="dk1"/>
                </a:solidFill>
              </a:rPr>
              <a:t>Términos cuadráticos e interacciones (grado 2): </a:t>
            </a:r>
            <a:r>
              <a:rPr lang="es-ES" sz="1100">
                <a:solidFill>
                  <a:schemeClr val="dk1"/>
                </a:solidFill>
              </a:rPr>
              <a:t>91</a:t>
            </a:r>
            <a:r>
              <a:rPr lang="es-E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</a:rPr>
              <a:t>	terminos X_i al cuadrado: 13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100">
                <a:solidFill>
                  <a:schemeClr val="dk1"/>
                </a:solidFill>
              </a:rPr>
              <a:t>	78 combinaciones cuadraticas entre los X_i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00" name="Google Shape;300;g3d848de210e_0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6300" y="4476350"/>
            <a:ext cx="1504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3d848de210e_0_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2675" y="5168850"/>
            <a:ext cx="1190625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d848de210e_0_4"/>
          <p:cNvSpPr txBox="1"/>
          <p:nvPr/>
        </p:nvSpPr>
        <p:spPr>
          <a:xfrm>
            <a:off x="3157625" y="5961675"/>
            <a:ext cx="572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chemeClr val="accent2"/>
                </a:solidFill>
              </a:rPr>
              <a:t>M</a:t>
            </a:r>
            <a:r>
              <a:rPr b="1" lang="es-ES">
                <a:solidFill>
                  <a:schemeClr val="accent2"/>
                </a:solidFill>
              </a:rPr>
              <a:t>ás el intercepto B_0 que mi modelo lo agrega. </a:t>
            </a:r>
            <a:endParaRPr b="1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chemeClr val="accent2"/>
                </a:solidFill>
              </a:rPr>
              <a:t>En total 105 Betas </a:t>
            </a:r>
            <a:endParaRPr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"/>
          <p:cNvSpPr txBox="1"/>
          <p:nvPr/>
        </p:nvSpPr>
        <p:spPr>
          <a:xfrm>
            <a:off x="4414686" y="1832679"/>
            <a:ext cx="26153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Taller # 10</a:t>
            </a:r>
            <a:endParaRPr/>
          </a:p>
        </p:txBody>
      </p:sp>
      <p:sp>
        <p:nvSpPr>
          <p:cNvPr id="309" name="Google Shape;309;p9"/>
          <p:cNvSpPr txBox="1"/>
          <p:nvPr/>
        </p:nvSpPr>
        <p:spPr>
          <a:xfrm>
            <a:off x="2694038" y="3121223"/>
            <a:ext cx="73446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 txBox="1"/>
          <p:nvPr/>
        </p:nvSpPr>
        <p:spPr>
          <a:xfrm>
            <a:off x="4080389" y="2621266"/>
            <a:ext cx="33724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Regresión lineal: Monomial y Polinómica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"/>
          <p:cNvSpPr txBox="1"/>
          <p:nvPr/>
        </p:nvSpPr>
        <p:spPr>
          <a:xfrm>
            <a:off x="3357715" y="452196"/>
            <a:ext cx="547656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Regresión Lineal – OLS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error</a:t>
            </a:r>
            <a:endParaRPr b="0" i="0" sz="1800" u="none" cap="none" strike="noStrike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7" name="Google Shape;317;p10"/>
          <p:cNvPicPr preferRelativeResize="0"/>
          <p:nvPr/>
        </p:nvPicPr>
        <p:blipFill rotWithShape="1">
          <a:blip r:embed="rId3">
            <a:alphaModFix/>
          </a:blip>
          <a:srcRect b="63546" l="30022" r="29688" t="13878"/>
          <a:stretch/>
        </p:blipFill>
        <p:spPr>
          <a:xfrm>
            <a:off x="4468585" y="2017874"/>
            <a:ext cx="3254829" cy="739733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8" name="Google Shape;318;p10"/>
          <p:cNvSpPr txBox="1"/>
          <p:nvPr/>
        </p:nvSpPr>
        <p:spPr>
          <a:xfrm>
            <a:off x="1406009" y="1554669"/>
            <a:ext cx="9675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los coeficientes que minimizan la suma de los errores cuadrados sin usar ninguna penalización.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 txBox="1"/>
          <p:nvPr/>
        </p:nvSpPr>
        <p:spPr>
          <a:xfrm>
            <a:off x="1406008" y="2890585"/>
            <a:ext cx="1951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 analítica: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10"/>
          <p:cNvPicPr preferRelativeResize="0"/>
          <p:nvPr/>
        </p:nvPicPr>
        <p:blipFill rotWithShape="1">
          <a:blip r:embed="rId3">
            <a:alphaModFix/>
          </a:blip>
          <a:srcRect b="38917" l="39012" r="37680" t="49590"/>
          <a:stretch/>
        </p:blipFill>
        <p:spPr>
          <a:xfrm>
            <a:off x="4844142" y="3075250"/>
            <a:ext cx="2614165" cy="522833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1" name="Google Shape;321;p10"/>
          <p:cNvSpPr txBox="1"/>
          <p:nvPr/>
        </p:nvSpPr>
        <p:spPr>
          <a:xfrm>
            <a:off x="1406006" y="4131556"/>
            <a:ext cx="8870107" cy="64633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151" l="-619" r="0" t="-56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"/>
          <p:cNvSpPr txBox="1"/>
          <p:nvPr/>
        </p:nvSpPr>
        <p:spPr>
          <a:xfrm>
            <a:off x="4248761" y="498598"/>
            <a:ext cx="31845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Regresión Ridge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Regularización L2</a:t>
            </a:r>
            <a:endParaRPr/>
          </a:p>
        </p:txBody>
      </p:sp>
      <p:sp>
        <p:nvSpPr>
          <p:cNvPr id="328" name="Google Shape;328;p11"/>
          <p:cNvSpPr txBox="1"/>
          <p:nvPr/>
        </p:nvSpPr>
        <p:spPr>
          <a:xfrm>
            <a:off x="1406009" y="1554669"/>
            <a:ext cx="9675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Agrega una penalización cuadrática (L2) a los coeficientes.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1406008" y="2890585"/>
            <a:ext cx="1951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 analítica: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1406006" y="4131556"/>
            <a:ext cx="887010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Efecto: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Penaliza los coeficientes grandes 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Betas 🡪 los encoge hacia cero, pero no los vuelve cero.</a:t>
            </a:r>
            <a:endParaRPr b="1"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la generalización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reduciendo el sobreajuste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9679" y="2030995"/>
            <a:ext cx="2652642" cy="695449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2" name="Google Shape;3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6514" y="3252034"/>
            <a:ext cx="2838972" cy="502279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3" name="Google Shape;333;p11"/>
          <p:cNvSpPr txBox="1"/>
          <p:nvPr/>
        </p:nvSpPr>
        <p:spPr>
          <a:xfrm>
            <a:off x="8359350" y="2194053"/>
            <a:ext cx="2761343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0" r="0" t="-98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334" name="Google Shape;334;p11"/>
          <p:cNvGrpSpPr/>
          <p:nvPr/>
        </p:nvGrpSpPr>
        <p:grpSpPr>
          <a:xfrm>
            <a:off x="1674527" y="5270074"/>
            <a:ext cx="8931485" cy="1102274"/>
            <a:chOff x="1608752" y="4941174"/>
            <a:chExt cx="8931485" cy="1102274"/>
          </a:xfrm>
        </p:grpSpPr>
        <p:sp>
          <p:nvSpPr>
            <p:cNvPr id="335" name="Google Shape;335;p11"/>
            <p:cNvSpPr txBox="1"/>
            <p:nvPr/>
          </p:nvSpPr>
          <p:spPr>
            <a:xfrm>
              <a:off x="1608752" y="5107590"/>
              <a:ext cx="3817800" cy="7695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1" marL="45720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ES" sz="2400" u="none" cap="none" strike="noStrike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𝝀 </a:t>
              </a:r>
              <a:r>
                <a:rPr b="1" i="0" lang="es-ES" sz="2000" u="none" cap="none" strike="noStrike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Es un </a:t>
              </a:r>
              <a:r>
                <a:rPr b="1" lang="es-ES" sz="2000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hiper parámetro</a:t>
              </a:r>
              <a:r>
                <a:rPr b="1" i="0" lang="es-ES" sz="2000" u="none" cap="none" strike="noStrike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 de regularización :</a:t>
              </a:r>
              <a:endParaRPr/>
            </a:p>
          </p:txBody>
        </p:sp>
        <p:pic>
          <p:nvPicPr>
            <p:cNvPr id="336" name="Google Shape;336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26681" y="4941174"/>
              <a:ext cx="5113556" cy="1102274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cxnSp>
        <p:nvCxnSpPr>
          <p:cNvPr id="337" name="Google Shape;337;p11"/>
          <p:cNvCxnSpPr/>
          <p:nvPr/>
        </p:nvCxnSpPr>
        <p:spPr>
          <a:xfrm flipH="1" rot="10800000">
            <a:off x="6585425" y="2712274"/>
            <a:ext cx="892500" cy="9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 txBox="1"/>
          <p:nvPr/>
        </p:nvSpPr>
        <p:spPr>
          <a:xfrm>
            <a:off x="4248761" y="498598"/>
            <a:ext cx="31845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Regresión Lasso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Regularización L1</a:t>
            </a:r>
            <a:endParaRPr b="1" i="0" sz="1600" u="none" cap="none" strike="noStrike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p12"/>
          <p:cNvSpPr txBox="1"/>
          <p:nvPr/>
        </p:nvSpPr>
        <p:spPr>
          <a:xfrm>
            <a:off x="1406009" y="1554669"/>
            <a:ext cx="9675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Agrega una penalización absoluta (L1) a los coeficientes.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1406009" y="3294004"/>
            <a:ext cx="9135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Efecto: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Penaliza los coeficientes grandes 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Betas 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algunos se vuelven exactamente cero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decir, se eliminan predictores (features).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Útil, cuando hay muchas variables predictoras (features) y se busca un modelo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simple.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Lasso no solo reduce los coeficientes Betas sino que apaga algunos de ellos.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 txBox="1"/>
          <p:nvPr/>
        </p:nvSpPr>
        <p:spPr>
          <a:xfrm>
            <a:off x="8359350" y="2477831"/>
            <a:ext cx="2761343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589" l="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47" name="Google Shape;34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4593" y="2268383"/>
            <a:ext cx="2832931" cy="695449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348" name="Google Shape;348;p12"/>
          <p:cNvGrpSpPr/>
          <p:nvPr/>
        </p:nvGrpSpPr>
        <p:grpSpPr>
          <a:xfrm>
            <a:off x="1608752" y="4941174"/>
            <a:ext cx="8931484" cy="1102274"/>
            <a:chOff x="1608752" y="4941174"/>
            <a:chExt cx="8931484" cy="1102274"/>
          </a:xfrm>
        </p:grpSpPr>
        <p:sp>
          <p:nvSpPr>
            <p:cNvPr id="349" name="Google Shape;349;p12"/>
            <p:cNvSpPr txBox="1"/>
            <p:nvPr/>
          </p:nvSpPr>
          <p:spPr>
            <a:xfrm>
              <a:off x="1608752" y="5107590"/>
              <a:ext cx="3817929" cy="769441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1" marL="45720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ES" sz="2400" u="none" cap="none" strike="noStrike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𝝀 </a:t>
              </a:r>
              <a:r>
                <a:rPr b="1" i="0" lang="es-ES" sz="2000" u="none" cap="none" strike="noStrike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Es un </a:t>
              </a:r>
              <a:r>
                <a:rPr b="1" lang="es-ES" sz="2000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hiper parámetro</a:t>
              </a:r>
              <a:r>
                <a:rPr b="1" i="0" lang="es-ES" sz="2000" u="none" cap="none" strike="noStrike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 de regularización :</a:t>
              </a:r>
              <a:endParaRPr/>
            </a:p>
          </p:txBody>
        </p:sp>
        <p:pic>
          <p:nvPicPr>
            <p:cNvPr id="350" name="Google Shape;350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26681" y="4941174"/>
              <a:ext cx="5113555" cy="1102274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cxnSp>
        <p:nvCxnSpPr>
          <p:cNvPr id="351" name="Google Shape;351;p12"/>
          <p:cNvCxnSpPr/>
          <p:nvPr/>
        </p:nvCxnSpPr>
        <p:spPr>
          <a:xfrm flipH="1" rot="10800000">
            <a:off x="6439925" y="2963824"/>
            <a:ext cx="892500" cy="9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6"/>
          <p:cNvSpPr txBox="1"/>
          <p:nvPr/>
        </p:nvSpPr>
        <p:spPr>
          <a:xfrm>
            <a:off x="4414686" y="1832679"/>
            <a:ext cx="26153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Taller # 11</a:t>
            </a:r>
            <a:endParaRPr/>
          </a:p>
        </p:txBody>
      </p:sp>
      <p:sp>
        <p:nvSpPr>
          <p:cNvPr id="358" name="Google Shape;358;p16"/>
          <p:cNvSpPr txBox="1"/>
          <p:nvPr/>
        </p:nvSpPr>
        <p:spPr>
          <a:xfrm>
            <a:off x="2694038" y="3121223"/>
            <a:ext cx="73446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 txBox="1"/>
          <p:nvPr/>
        </p:nvSpPr>
        <p:spPr>
          <a:xfrm>
            <a:off x="4842388" y="2467378"/>
            <a:ext cx="25072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Regresión lineal: Ridge y Lasso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5" name="Google Shape;365;g3f764d1ba5b_0_0"/>
          <p:cNvGraphicFramePr/>
          <p:nvPr/>
        </p:nvGraphicFramePr>
        <p:xfrm>
          <a:off x="457200" y="10496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{0ACAB9B7-7BD9-40E0-9C54-0859FF286D44}</a:tableStyleId>
              </a:tblPr>
              <a:tblGrid>
                <a:gridCol w="2905425"/>
                <a:gridCol w="2538325"/>
                <a:gridCol w="2800600"/>
                <a:gridCol w="3244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cap="none" strike="noStrike"/>
                        <a:t>Métrica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cap="none" strike="noStrike"/>
                        <a:t>Formula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cap="none" strike="noStrike"/>
                        <a:t>Interpretación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cap="none" strike="noStrike"/>
                        <a:t>python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800" u="none" cap="none" strike="noStrike"/>
                        <a:t>MAE</a:t>
                      </a:r>
                      <a:r>
                        <a:rPr lang="es-ES" sz="1800" u="none" cap="none" strike="noStrike"/>
                        <a:t> (Mean Absolute Error)-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Error absoluto medio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mae =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ourier New"/>
                        <a:buNone/>
                      </a:pPr>
                      <a:r>
                        <a:rPr lang="es-ES" sz="11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mean_absolute_error(y_test,y_pred)</a:t>
                      </a:r>
                      <a:endParaRPr sz="1150"/>
                    </a:p>
                  </a:txBody>
                  <a:tcPr marT="45725" marB="45725" marR="91450" marL="91450" anchor="ctr"/>
                </a:tc>
              </a:tr>
              <a:tr h="106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800"/>
                        <a:t>MSE</a:t>
                      </a:r>
                      <a:r>
                        <a:rPr lang="es-ES" sz="1800"/>
                        <a:t> (Mean Squared Error)-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Error cuadratico medio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Promedio del cuadrado de los errores.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Penaliza fuertemente los errores grandes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mse = mean_squared_error(y_test,y_pred)</a:t>
                      </a:r>
                      <a:endParaRPr sz="1200"/>
                    </a:p>
                  </a:txBody>
                  <a:tcPr marT="45725" marB="45725" marR="91450" marL="91450" anchor="ctr"/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800"/>
                        <a:t>RMSE</a:t>
                      </a:r>
                      <a:r>
                        <a:rPr lang="es-ES" sz="1800"/>
                        <a:t> (Raíz del MSE)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Raíz cuadrada del MSE. Mantiene la misma escala que la variable original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urier New"/>
                        <a:buNone/>
                      </a:pP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rmse = np.sqrt(mse)</a:t>
                      </a:r>
                      <a:endParaRPr sz="1300"/>
                    </a:p>
                  </a:txBody>
                  <a:tcPr marT="45725" marB="45725" marR="91450" marL="91450" anchor="ctr"/>
                </a:tc>
              </a:tr>
              <a:tr h="131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800"/>
                        <a:t>R²</a:t>
                      </a:r>
                      <a:r>
                        <a:rPr lang="es-ES" sz="1800"/>
                        <a:t> (Coeficiente de determinación)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urier New"/>
                        <a:buNone/>
                      </a:pP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r2 = r2_score(y_test, y_pred)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urier New"/>
                        <a:buNone/>
                      </a:pP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model.score(X_test, y_test)</a:t>
                      </a:r>
                      <a:endParaRPr sz="13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366" name="Google Shape;366;g3f764d1ba5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2269" y="2605277"/>
            <a:ext cx="2279251" cy="449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f764d1ba5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2269" y="3588390"/>
            <a:ext cx="2279251" cy="41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g3f764d1ba5b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2269" y="4591181"/>
            <a:ext cx="2279250" cy="515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3f764d1ba5b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2109" y="1587431"/>
            <a:ext cx="2279251" cy="63649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f764d1ba5b_0_0"/>
          <p:cNvSpPr txBox="1"/>
          <p:nvPr/>
        </p:nvSpPr>
        <p:spPr>
          <a:xfrm>
            <a:off x="3525520" y="326983"/>
            <a:ext cx="5344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rgbClr val="34C0C7"/>
                </a:solidFill>
                <a:latin typeface="Calibri"/>
                <a:ea typeface="Calibri"/>
                <a:cs typeface="Calibri"/>
                <a:sym typeface="Calibri"/>
              </a:rPr>
              <a:t>Para Regresión (variable numérica continua)</a:t>
            </a:r>
            <a:endParaRPr b="1" sz="2200">
              <a:solidFill>
                <a:srgbClr val="34C0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f764d1ba5b_0_0"/>
          <p:cNvSpPr txBox="1"/>
          <p:nvPr/>
        </p:nvSpPr>
        <p:spPr>
          <a:xfrm>
            <a:off x="3525520" y="5857396"/>
            <a:ext cx="65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MAE, MSE, RMSE 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Indicador de errores acumulados del modelo.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R²  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explicativa del modelo.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g3faba8ce0c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00" y="1695450"/>
            <a:ext cx="4791075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"/>
          <p:cNvSpPr txBox="1"/>
          <p:nvPr/>
        </p:nvSpPr>
        <p:spPr>
          <a:xfrm>
            <a:off x="2879781" y="546918"/>
            <a:ext cx="567739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Métrica:        </a:t>
            </a:r>
            <a:r>
              <a:rPr b="1"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.score() 🡪 R^2</a:t>
            </a:r>
            <a:r>
              <a:rPr b="1" i="0" lang="es-E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4" name="Google Shape;384;p14"/>
          <p:cNvSpPr txBox="1"/>
          <p:nvPr/>
        </p:nvSpPr>
        <p:spPr>
          <a:xfrm>
            <a:off x="5001125" y="1215200"/>
            <a:ext cx="301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5" name="Google Shape;3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2609" y="1883460"/>
            <a:ext cx="3266779" cy="1047574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86" name="Google Shape;3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97601" y="1883460"/>
            <a:ext cx="2803802" cy="1047574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87" name="Google Shape;38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4587" y="3429000"/>
            <a:ext cx="5562826" cy="156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4134" y="1883459"/>
            <a:ext cx="2692263" cy="1047573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9" name="Google Shape;389;p14"/>
          <p:cNvSpPr txBox="1"/>
          <p:nvPr/>
        </p:nvSpPr>
        <p:spPr>
          <a:xfrm>
            <a:off x="1301400" y="5510425"/>
            <a:ext cx="9199500" cy="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SSE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Sum of Squared Errors -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Suma de Errores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Cuadráticos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SST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Total Sum of Squares -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Suma Total de Cuadrados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489" y="462318"/>
            <a:ext cx="6282834" cy="2689956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6" name="Google Shape;3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9419" y="1807296"/>
            <a:ext cx="3266779" cy="1047574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7" name="Google Shape;39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0682" y="462318"/>
            <a:ext cx="2692263" cy="1047573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8" name="Google Shape;39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889" y="3458055"/>
            <a:ext cx="3588132" cy="672129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9" name="Google Shape;39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9231" y="3331525"/>
            <a:ext cx="5020376" cy="1343212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0" name="Google Shape;40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590" y="4947680"/>
            <a:ext cx="5744377" cy="1448002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1" name="Google Shape;40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59490" y="4947680"/>
            <a:ext cx="3978920" cy="573051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2" name="Google Shape;402;p15"/>
          <p:cNvSpPr txBox="1"/>
          <p:nvPr/>
        </p:nvSpPr>
        <p:spPr>
          <a:xfrm>
            <a:off x="7122695" y="5520731"/>
            <a:ext cx="447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modelo explica aproximadamente el 89.9% </a:t>
            </a: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las notas.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Solo el 10.1% de la variabilidad queda sin explicar (ruido, errores, u otras causas no incluidas).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1970" y="-198307"/>
            <a:ext cx="9160030" cy="51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7"/>
          <p:cNvPicPr preferRelativeResize="0"/>
          <p:nvPr/>
        </p:nvPicPr>
        <p:blipFill rotWithShape="1">
          <a:blip r:embed="rId4">
            <a:alphaModFix/>
          </a:blip>
          <a:srcRect b="185" l="16381" r="45105" t="1116"/>
          <a:stretch/>
        </p:blipFill>
        <p:spPr>
          <a:xfrm>
            <a:off x="-76200" y="-50801"/>
            <a:ext cx="4038600" cy="696976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7"/>
          <p:cNvSpPr txBox="1"/>
          <p:nvPr/>
        </p:nvSpPr>
        <p:spPr>
          <a:xfrm>
            <a:off x="4411089" y="1595151"/>
            <a:ext cx="713155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2. Aprendizaje Supervisado</a:t>
            </a:r>
            <a:endParaRPr/>
          </a:p>
        </p:txBody>
      </p:sp>
      <p:sp>
        <p:nvSpPr>
          <p:cNvPr id="411" name="Google Shape;411;p17"/>
          <p:cNvSpPr txBox="1"/>
          <p:nvPr/>
        </p:nvSpPr>
        <p:spPr>
          <a:xfrm>
            <a:off x="4411087" y="2498147"/>
            <a:ext cx="7443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2.1 </a:t>
            </a: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Regresión</a:t>
            </a: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 Lineal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2.2 </a:t>
            </a:r>
            <a:r>
              <a:rPr b="1"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Regresión</a:t>
            </a:r>
            <a:r>
              <a:rPr b="1"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Logística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2.3 Support Vector Machine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2" name="Google Shape;41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6697" y="5411192"/>
            <a:ext cx="1502667" cy="981458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7"/>
          <p:cNvSpPr/>
          <p:nvPr/>
        </p:nvSpPr>
        <p:spPr>
          <a:xfrm flipH="1">
            <a:off x="3858768" y="0"/>
            <a:ext cx="194733" cy="6858000"/>
          </a:xfrm>
          <a:prstGeom prst="rect">
            <a:avLst/>
          </a:prstGeom>
          <a:solidFill>
            <a:srgbClr val="34C0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"/>
          <p:cNvSpPr txBox="1"/>
          <p:nvPr/>
        </p:nvSpPr>
        <p:spPr>
          <a:xfrm>
            <a:off x="3207814" y="524239"/>
            <a:ext cx="553306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Regresión Logística</a:t>
            </a:r>
            <a:endParaRPr b="1" sz="2200">
              <a:solidFill>
                <a:srgbClr val="00508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0" name="Google Shape;420;p18"/>
          <p:cNvSpPr txBox="1"/>
          <p:nvPr/>
        </p:nvSpPr>
        <p:spPr>
          <a:xfrm>
            <a:off x="0" y="1553617"/>
            <a:ext cx="55332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Método supervisado utilizado cuando la variable a predecir</a:t>
            </a:r>
            <a:r>
              <a:rPr b="1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 “y</a:t>
            </a:r>
            <a:r>
              <a:rPr b="0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” es categórica, normalmente  </a:t>
            </a:r>
            <a:r>
              <a:rPr b="1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binaria, </a:t>
            </a:r>
            <a:r>
              <a:rPr b="0" i="0" lang="es-E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ejemplo: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00"/>
              <a:buFont typeface="Arial"/>
              <a:buChar char="•"/>
            </a:pPr>
            <a:r>
              <a:rPr b="0" i="0" lang="es-ES" sz="22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Determinar si un paciente tiene una enfermedad (1) o no la tiene (0).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00"/>
              <a:buFont typeface="Arial"/>
              <a:buChar char="•"/>
            </a:pPr>
            <a:r>
              <a:rPr b="0" i="0" lang="es-ES" sz="22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Clasificar si un cliente </a:t>
            </a:r>
            <a:r>
              <a:rPr lang="es-ES" sz="22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comprará</a:t>
            </a:r>
            <a:r>
              <a:rPr b="0" i="0" lang="es-ES" sz="22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un producto (1) o no lo comprara (0).</a:t>
            </a:r>
            <a:endParaRPr/>
          </a:p>
        </p:txBody>
      </p:sp>
      <p:pic>
        <p:nvPicPr>
          <p:cNvPr id="421" name="Google Shape;4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481428"/>
            <a:ext cx="5448772" cy="4290432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02a93216f_0_1"/>
          <p:cNvSpPr txBox="1"/>
          <p:nvPr/>
        </p:nvSpPr>
        <p:spPr>
          <a:xfrm>
            <a:off x="340275" y="1349450"/>
            <a:ext cx="5140800" cy="3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</a:rPr>
              <a:t>El objetivo es predecir la </a:t>
            </a:r>
            <a:r>
              <a:rPr b="1" lang="es-ES" sz="2400">
                <a:solidFill>
                  <a:schemeClr val="dk1"/>
                </a:solidFill>
              </a:rPr>
              <a:t>probabilidad</a:t>
            </a:r>
            <a:r>
              <a:rPr lang="es-ES" sz="2400">
                <a:solidFill>
                  <a:schemeClr val="dk1"/>
                </a:solidFill>
              </a:rPr>
              <a:t> de que una observación pertenezca a una clase determinada.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900">
                <a:solidFill>
                  <a:schemeClr val="dk1"/>
                </a:solidFill>
              </a:rPr>
              <a:t>Ejemplos:</a:t>
            </a:r>
            <a:endParaRPr sz="1900">
              <a:solidFill>
                <a:schemeClr val="dk1"/>
              </a:solidFill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s-ES" sz="1900">
                <a:solidFill>
                  <a:schemeClr val="dk1"/>
                </a:solidFill>
              </a:rPr>
              <a:t>¿El cliente comprará? (Sí/No)</a:t>
            </a:r>
            <a:endParaRPr sz="1900">
              <a:solidFill>
                <a:schemeClr val="dk1"/>
              </a:solidFill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s-ES" sz="1900">
                <a:solidFill>
                  <a:schemeClr val="dk1"/>
                </a:solidFill>
              </a:rPr>
              <a:t>¿El correo es spam? (Sí/No)</a:t>
            </a:r>
            <a:endParaRPr sz="1900">
              <a:solidFill>
                <a:schemeClr val="dk1"/>
              </a:solidFill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s-ES" sz="1900">
                <a:solidFill>
                  <a:schemeClr val="dk1"/>
                </a:solidFill>
              </a:rPr>
              <a:t>¿El paciente tiene la enfermedad? (Sí/No)</a:t>
            </a:r>
            <a:endParaRPr sz="1900">
              <a:solidFill>
                <a:schemeClr val="dk1"/>
              </a:solidFill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s-ES" sz="1900">
                <a:solidFill>
                  <a:schemeClr val="dk1"/>
                </a:solidFill>
              </a:rPr>
              <a:t>¿El estudiante aprobará? (Sí/No)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428" name="Google Shape;428;g3f02a93216f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3225" y="1024478"/>
            <a:ext cx="5448772" cy="4290432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0"/>
          <p:cNvSpPr txBox="1"/>
          <p:nvPr/>
        </p:nvSpPr>
        <p:spPr>
          <a:xfrm>
            <a:off x="763122" y="414775"/>
            <a:ext cx="47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Clasificación: 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Decisión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binaria: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5" name="Google Shape;4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9050" y="1557278"/>
            <a:ext cx="5438775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0"/>
          <p:cNvSpPr txBox="1"/>
          <p:nvPr/>
        </p:nvSpPr>
        <p:spPr>
          <a:xfrm>
            <a:off x="834200" y="1157075"/>
            <a:ext cx="629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Se parte de una </a:t>
            </a:r>
            <a:r>
              <a:rPr lang="es-ES" sz="1600"/>
              <a:t>combinación</a:t>
            </a:r>
            <a:r>
              <a:rPr lang="es-ES" sz="1600"/>
              <a:t> lineal:</a:t>
            </a:r>
            <a:endParaRPr sz="1600"/>
          </a:p>
        </p:txBody>
      </p:sp>
      <p:sp>
        <p:nvSpPr>
          <p:cNvPr id="437" name="Google Shape;437;p20"/>
          <p:cNvSpPr txBox="1"/>
          <p:nvPr/>
        </p:nvSpPr>
        <p:spPr>
          <a:xfrm>
            <a:off x="834200" y="2699575"/>
            <a:ext cx="629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Función logística (sigmoid): Para transformar z en probabilidad: </a:t>
            </a:r>
            <a:endParaRPr sz="1600"/>
          </a:p>
        </p:txBody>
      </p:sp>
      <p:pic>
        <p:nvPicPr>
          <p:cNvPr id="438" name="Google Shape;4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7263" y="3331575"/>
            <a:ext cx="35623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0"/>
          <p:cNvSpPr txBox="1"/>
          <p:nvPr/>
        </p:nvSpPr>
        <p:spPr>
          <a:xfrm>
            <a:off x="5181025" y="4694875"/>
            <a:ext cx="3655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/>
              <a:t>Si p≥0.5  → clase 1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/>
              <a:t>Si p&lt;0.5  → clase 0</a:t>
            </a:r>
            <a:endParaRPr sz="2300"/>
          </a:p>
        </p:txBody>
      </p:sp>
      <p:pic>
        <p:nvPicPr>
          <p:cNvPr id="440" name="Google Shape;44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7775" y="3549075"/>
            <a:ext cx="2561283" cy="20107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1" name="Google Shape;441;p20"/>
          <p:cNvSpPr txBox="1"/>
          <p:nvPr/>
        </p:nvSpPr>
        <p:spPr>
          <a:xfrm>
            <a:off x="8759375" y="32846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Esta función transforma cualquier número real en un valor entre 0 y 1, y por lo tanto probabilidad.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 txBox="1"/>
          <p:nvPr/>
        </p:nvSpPr>
        <p:spPr>
          <a:xfrm>
            <a:off x="1648960" y="545135"/>
            <a:ext cx="85394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 ecuación de la función logística (sigmoide-valores entre 0 y 1) tiene esta forma: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8" name="Google Shape;4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8567" y="4558823"/>
            <a:ext cx="6166206" cy="899238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9" name="Google Shape;4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0317" y="4823776"/>
            <a:ext cx="2026051" cy="369332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0" name="Google Shape;450;p19"/>
          <p:cNvSpPr txBox="1"/>
          <p:nvPr/>
        </p:nvSpPr>
        <p:spPr>
          <a:xfrm>
            <a:off x="1121943" y="2099189"/>
            <a:ext cx="85394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Z, se reemplaza la ecuación de la regresión lineal: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3194" y="1046185"/>
            <a:ext cx="2545611" cy="837546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2" name="Google Shape;452;p19"/>
          <p:cNvPicPr preferRelativeResize="0"/>
          <p:nvPr/>
        </p:nvPicPr>
        <p:blipFill rotWithShape="1">
          <a:blip r:embed="rId3">
            <a:alphaModFix/>
          </a:blip>
          <a:srcRect b="0" l="66860" r="0" t="0"/>
          <a:stretch/>
        </p:blipFill>
        <p:spPr>
          <a:xfrm>
            <a:off x="5074244" y="2520115"/>
            <a:ext cx="2043507" cy="899238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3" name="Google Shape;453;p19"/>
          <p:cNvSpPr txBox="1"/>
          <p:nvPr/>
        </p:nvSpPr>
        <p:spPr>
          <a:xfrm>
            <a:off x="1121942" y="3824881"/>
            <a:ext cx="100794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probabilidad de que la variable dependiente sea 1 dados los valores de las variables independientes: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741" y="1119686"/>
            <a:ext cx="3003231" cy="1983398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5" name="Google Shape;455;p19"/>
          <p:cNvPicPr preferRelativeResize="0"/>
          <p:nvPr/>
        </p:nvPicPr>
        <p:blipFill rotWithShape="1">
          <a:blip r:embed="rId7">
            <a:alphaModFix/>
          </a:blip>
          <a:srcRect b="0" l="20339" r="53582" t="0"/>
          <a:stretch/>
        </p:blipFill>
        <p:spPr>
          <a:xfrm>
            <a:off x="3078575" y="2468525"/>
            <a:ext cx="1206350" cy="9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9"/>
          <p:cNvPicPr preferRelativeResize="0"/>
          <p:nvPr/>
        </p:nvPicPr>
        <p:blipFill rotWithShape="1">
          <a:blip r:embed="rId8">
            <a:alphaModFix/>
          </a:blip>
          <a:srcRect b="0" l="0" r="94261" t="0"/>
          <a:stretch/>
        </p:blipFill>
        <p:spPr>
          <a:xfrm>
            <a:off x="2547226" y="2618786"/>
            <a:ext cx="264726" cy="613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9"/>
          <p:cNvSpPr txBox="1"/>
          <p:nvPr/>
        </p:nvSpPr>
        <p:spPr>
          <a:xfrm>
            <a:off x="2753711" y="2588026"/>
            <a:ext cx="150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g3940096d306_0_18"/>
          <p:cNvPicPr preferRelativeResize="0"/>
          <p:nvPr/>
        </p:nvPicPr>
        <p:blipFill rotWithShape="1">
          <a:blip r:embed="rId3">
            <a:alphaModFix/>
          </a:blip>
          <a:srcRect b="37702" l="0" r="0" t="0"/>
          <a:stretch/>
        </p:blipFill>
        <p:spPr>
          <a:xfrm>
            <a:off x="2342813" y="2085805"/>
            <a:ext cx="7506350" cy="152390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g3940096d306_0_18"/>
          <p:cNvSpPr txBox="1"/>
          <p:nvPr/>
        </p:nvSpPr>
        <p:spPr>
          <a:xfrm>
            <a:off x="5041219" y="3525487"/>
            <a:ext cx="43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Debemos encontrar los pesos y el intercepto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3749" y="1000760"/>
            <a:ext cx="4701947" cy="723963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1"/>
          <p:cNvSpPr txBox="1"/>
          <p:nvPr/>
        </p:nvSpPr>
        <p:spPr>
          <a:xfrm>
            <a:off x="3926048" y="371018"/>
            <a:ext cx="471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Función de </a:t>
            </a:r>
            <a:r>
              <a:rPr lang="es-E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pérdida</a:t>
            </a:r>
            <a:r>
              <a:rPr lang="es-E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pic>
        <p:nvPicPr>
          <p:cNvPr id="472" name="Google Shape;47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1052" y="2237561"/>
            <a:ext cx="6729043" cy="990686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1"/>
          <p:cNvSpPr txBox="1"/>
          <p:nvPr/>
        </p:nvSpPr>
        <p:spPr>
          <a:xfrm>
            <a:off x="8637634" y="2237561"/>
            <a:ext cx="218190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~Ridge L2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~Lasso L1</a:t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 rot="5400000">
            <a:off x="5825396" y="1681237"/>
            <a:ext cx="286742" cy="3129093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00508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1"/>
          <p:cNvSpPr/>
          <p:nvPr/>
        </p:nvSpPr>
        <p:spPr>
          <a:xfrm rot="5400000">
            <a:off x="8022941" y="2888864"/>
            <a:ext cx="286742" cy="67876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00508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 txBox="1"/>
          <p:nvPr/>
        </p:nvSpPr>
        <p:spPr>
          <a:xfrm>
            <a:off x="5584271" y="3371753"/>
            <a:ext cx="7689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Loss 1</a:t>
            </a:r>
            <a:endParaRPr/>
          </a:p>
        </p:txBody>
      </p:sp>
      <p:sp>
        <p:nvSpPr>
          <p:cNvPr id="477" name="Google Shape;477;p21"/>
          <p:cNvSpPr txBox="1"/>
          <p:nvPr/>
        </p:nvSpPr>
        <p:spPr>
          <a:xfrm>
            <a:off x="7781816" y="3363988"/>
            <a:ext cx="7689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Loss 2</a:t>
            </a:r>
            <a:endParaRPr/>
          </a:p>
        </p:txBody>
      </p:sp>
      <p:sp>
        <p:nvSpPr>
          <p:cNvPr id="478" name="Google Shape;478;p21"/>
          <p:cNvSpPr txBox="1"/>
          <p:nvPr/>
        </p:nvSpPr>
        <p:spPr>
          <a:xfrm>
            <a:off x="2083500" y="4287614"/>
            <a:ext cx="8842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 C~1/α;​ C tiene efecto inverso al parámetro de regularización α.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Loss1 mide qué tan bien el modelo clasifica los datos (error logístico).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Loss2 penaliza pesos grandes, reduciendo la complejidad del modelo (sobreajuste).</a:t>
            </a:r>
            <a:endParaRPr sz="2000">
              <a:solidFill>
                <a:srgbClr val="0050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"/>
          <p:cNvSpPr txBox="1"/>
          <p:nvPr/>
        </p:nvSpPr>
        <p:spPr>
          <a:xfrm>
            <a:off x="4283979" y="675974"/>
            <a:ext cx="43986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“C” o fuerza inversa de regularización:</a:t>
            </a:r>
            <a:endParaRPr/>
          </a:p>
        </p:txBody>
      </p:sp>
      <p:pic>
        <p:nvPicPr>
          <p:cNvPr id="485" name="Google Shape;4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2443" y="3429000"/>
            <a:ext cx="7025802" cy="2650605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6" name="Google Shape;48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3100" y="1279346"/>
            <a:ext cx="7235150" cy="1902679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87" name="Google Shape;487;p22"/>
          <p:cNvCxnSpPr/>
          <p:nvPr/>
        </p:nvCxnSpPr>
        <p:spPr>
          <a:xfrm>
            <a:off x="6996418" y="2181138"/>
            <a:ext cx="1686188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8" name="Google Shape;488;p22"/>
          <p:cNvCxnSpPr/>
          <p:nvPr/>
        </p:nvCxnSpPr>
        <p:spPr>
          <a:xfrm>
            <a:off x="6226029" y="3158252"/>
            <a:ext cx="1198228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f02a93216f_0_13"/>
          <p:cNvSpPr txBox="1"/>
          <p:nvPr/>
        </p:nvSpPr>
        <p:spPr>
          <a:xfrm>
            <a:off x="884725" y="525050"/>
            <a:ext cx="9603300" cy="26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Desventajas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-ES" sz="2300"/>
              <a:t>Solo modela fronteras de decisión lineales.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-ES" sz="2300"/>
              <a:t>Sensible a valores atípicos.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-ES" sz="2300"/>
              <a:t>Puede verse afectada por la multicolinealidad.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s-ES" sz="2300"/>
              <a:t>No captura relaciones complejas sin ingeniería de características (por ejemplo, variables polinomiales o interacciones).</a:t>
            </a:r>
            <a:endParaRPr sz="2300"/>
          </a:p>
        </p:txBody>
      </p:sp>
      <p:sp>
        <p:nvSpPr>
          <p:cNvPr id="495" name="Google Shape;495;g3f02a93216f_0_13"/>
          <p:cNvSpPr txBox="1"/>
          <p:nvPr/>
        </p:nvSpPr>
        <p:spPr>
          <a:xfrm>
            <a:off x="884725" y="3645925"/>
            <a:ext cx="9100200" cy="21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s-ES" sz="2300">
                <a:solidFill>
                  <a:schemeClr val="dk1"/>
                </a:solidFill>
              </a:rPr>
              <a:t>Ventajas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ES" sz="2000">
                <a:solidFill>
                  <a:schemeClr val="dk1"/>
                </a:solidFill>
              </a:rPr>
              <a:t>Muy rápida de entrenar.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ES" sz="2000">
                <a:solidFill>
                  <a:schemeClr val="dk1"/>
                </a:solidFill>
              </a:rPr>
              <a:t>Produce probabilidades.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ES" sz="2000">
                <a:solidFill>
                  <a:schemeClr val="dk1"/>
                </a:solidFill>
              </a:rPr>
              <a:t>Funciona bien con conjuntos de datos pequeños.</a:t>
            </a:r>
            <a:endParaRPr sz="20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ES" sz="2000">
                <a:solidFill>
                  <a:schemeClr val="dk1"/>
                </a:solidFill>
              </a:rPr>
              <a:t>Es una excelente línea base para problemas de clasificación</a:t>
            </a:r>
            <a:r>
              <a:rPr lang="es-ES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3"/>
          <p:cNvSpPr txBox="1"/>
          <p:nvPr/>
        </p:nvSpPr>
        <p:spPr>
          <a:xfrm>
            <a:off x="4414686" y="1832679"/>
            <a:ext cx="26153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Taller # 12</a:t>
            </a:r>
            <a:endParaRPr/>
          </a:p>
        </p:txBody>
      </p:sp>
      <p:sp>
        <p:nvSpPr>
          <p:cNvPr id="502" name="Google Shape;502;p23"/>
          <p:cNvSpPr txBox="1"/>
          <p:nvPr/>
        </p:nvSpPr>
        <p:spPr>
          <a:xfrm>
            <a:off x="2694038" y="3121223"/>
            <a:ext cx="73446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3"/>
          <p:cNvSpPr txBox="1"/>
          <p:nvPr/>
        </p:nvSpPr>
        <p:spPr>
          <a:xfrm>
            <a:off x="5246455" y="2400006"/>
            <a:ext cx="16990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Regresión Logística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1970" y="-198307"/>
            <a:ext cx="9160030" cy="51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4"/>
          <p:cNvPicPr preferRelativeResize="0"/>
          <p:nvPr/>
        </p:nvPicPr>
        <p:blipFill rotWithShape="1">
          <a:blip r:embed="rId4">
            <a:alphaModFix/>
          </a:blip>
          <a:srcRect b="185" l="16381" r="45105" t="1116"/>
          <a:stretch/>
        </p:blipFill>
        <p:spPr>
          <a:xfrm>
            <a:off x="-76200" y="-50801"/>
            <a:ext cx="4038600" cy="6969761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4"/>
          <p:cNvSpPr txBox="1"/>
          <p:nvPr/>
        </p:nvSpPr>
        <p:spPr>
          <a:xfrm>
            <a:off x="4411089" y="1595151"/>
            <a:ext cx="713155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2. Aprendizaje Supervisado</a:t>
            </a:r>
            <a:endParaRPr/>
          </a:p>
        </p:txBody>
      </p:sp>
      <p:sp>
        <p:nvSpPr>
          <p:cNvPr id="512" name="Google Shape;512;p24"/>
          <p:cNvSpPr txBox="1"/>
          <p:nvPr/>
        </p:nvSpPr>
        <p:spPr>
          <a:xfrm>
            <a:off x="4411087" y="2498147"/>
            <a:ext cx="7443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2.1 </a:t>
            </a: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Regresión</a:t>
            </a: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 Lineal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2.2 </a:t>
            </a: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Regresión</a:t>
            </a: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Logística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2.3 Support Vector Machine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3" name="Google Shape;51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6697" y="5411192"/>
            <a:ext cx="1502667" cy="981458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4"/>
          <p:cNvSpPr/>
          <p:nvPr/>
        </p:nvSpPr>
        <p:spPr>
          <a:xfrm flipH="1">
            <a:off x="3858768" y="0"/>
            <a:ext cx="194733" cy="6858000"/>
          </a:xfrm>
          <a:prstGeom prst="rect">
            <a:avLst/>
          </a:prstGeom>
          <a:solidFill>
            <a:srgbClr val="34C0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99ce022d7_0_0"/>
          <p:cNvSpPr txBox="1"/>
          <p:nvPr/>
        </p:nvSpPr>
        <p:spPr>
          <a:xfrm>
            <a:off x="3715473" y="467396"/>
            <a:ext cx="4967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Support Vector Machines (SVM)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Máquinas de vectores de soporte</a:t>
            </a:r>
            <a:endParaRPr/>
          </a:p>
        </p:txBody>
      </p:sp>
      <p:sp>
        <p:nvSpPr>
          <p:cNvPr id="521" name="Google Shape;521;g3d99ce022d7_0_0"/>
          <p:cNvSpPr txBox="1"/>
          <p:nvPr/>
        </p:nvSpPr>
        <p:spPr>
          <a:xfrm>
            <a:off x="143675" y="1450033"/>
            <a:ext cx="5091900" cy="4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Drucker en 1997, en el </a:t>
            </a:r>
            <a:r>
              <a:rPr lang="es-E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artículo</a:t>
            </a:r>
            <a:r>
              <a:rPr b="0" i="0" lang="es-E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titulado “support vector regression machines” propone este algoritmo para el problema de </a:t>
            </a:r>
            <a:r>
              <a:rPr b="1" i="0" lang="es-E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regresión</a:t>
            </a:r>
            <a:r>
              <a:rPr b="0" i="0" lang="es-E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ES" sz="2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Support Vector Regressor</a:t>
            </a:r>
            <a:endParaRPr b="0" i="0" sz="21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A diferencia de la regresión lineal tradicional, que busca minimizar el error total, SVR busca encontrar una línea (o hiperplano) que se ajuste a los datos dentro de un margen de tolerancia específico.</a:t>
            </a:r>
            <a:endParaRPr/>
          </a:p>
        </p:txBody>
      </p:sp>
      <p:pic>
        <p:nvPicPr>
          <p:cNvPr id="522" name="Google Shape;522;g3d99ce022d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975" y="1389296"/>
            <a:ext cx="6651626" cy="466648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g3d99ce022d7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925" y="1613838"/>
            <a:ext cx="4735574" cy="332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9" name="Google Shape;529;g3d99ce022d7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20763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g3d99ce022d7_0_9"/>
          <p:cNvSpPr txBox="1"/>
          <p:nvPr/>
        </p:nvSpPr>
        <p:spPr>
          <a:xfrm>
            <a:off x="360025" y="551425"/>
            <a:ext cx="7062900" cy="54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accent5"/>
                </a:solidFill>
                <a:highlight>
                  <a:srgbClr val="FFFFFF"/>
                </a:highlight>
              </a:rPr>
              <a:t>1. </a:t>
            </a:r>
            <a:r>
              <a:rPr b="1" lang="es-ES" sz="2000">
                <a:solidFill>
                  <a:schemeClr val="accent5"/>
                </a:solidFill>
                <a:highlight>
                  <a:srgbClr val="FFFFFF"/>
                </a:highlight>
              </a:rPr>
              <a:t>Conceptos Clave de SVR</a:t>
            </a:r>
            <a:endParaRPr b="1" sz="2000">
              <a:solidFill>
                <a:schemeClr val="accent5"/>
              </a:solidFill>
              <a:highlight>
                <a:srgbClr val="FFFFFF"/>
              </a:highlight>
            </a:endParaRPr>
          </a:p>
          <a:p>
            <a:pPr indent="-27305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700"/>
              <a:buChar char="●"/>
            </a:pPr>
            <a:r>
              <a:rPr b="1" lang="es-E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Hiperplano</a:t>
            </a:r>
            <a:r>
              <a:rPr lang="es-E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Es la línea (en 2D) o plano (en 3D) que representa la predicción del modelo.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3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700"/>
              <a:buChar char="●"/>
            </a:pPr>
            <a:r>
              <a:rPr b="1" lang="es-E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Margen de Tolerancia 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(Épsilon): SVR crea un "tubo" o "calle" alrededor del hiperplano. </a:t>
            </a:r>
            <a:r>
              <a:rPr b="1" lang="es-ES" sz="1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El objetivo es que la mayor cantidad de puntos de datos caigan dentro de este tubo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. Los puntos fuera de este margen son considerados errores.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3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700"/>
              <a:buChar char="●"/>
            </a:pPr>
            <a:r>
              <a:rPr b="1" lang="es-E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Vectores de Soporte:</a:t>
            </a:r>
            <a:r>
              <a:rPr b="1"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 los puntos de datos que están en el borde del margen o fuera de él. Estos puntos son los que definen la posición del hiperplano.</a:t>
            </a:r>
            <a:endParaRPr sz="7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g3d99ce022d7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763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g3d99ce022d7_0_20"/>
          <p:cNvSpPr txBox="1"/>
          <p:nvPr/>
        </p:nvSpPr>
        <p:spPr>
          <a:xfrm>
            <a:off x="286050" y="1020141"/>
            <a:ext cx="7062900" cy="15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accent5"/>
                </a:solidFill>
                <a:highlight>
                  <a:srgbClr val="FFFFFF"/>
                </a:highlight>
              </a:rPr>
              <a:t>2</a:t>
            </a:r>
            <a:r>
              <a:rPr b="1" lang="es-ES" sz="2000">
                <a:solidFill>
                  <a:schemeClr val="accent5"/>
                </a:solidFill>
                <a:highlight>
                  <a:srgbClr val="FFFFFF"/>
                </a:highlight>
              </a:rPr>
              <a:t>. </a:t>
            </a:r>
            <a:r>
              <a:rPr b="1" lang="es-ES" sz="2000">
                <a:solidFill>
                  <a:schemeClr val="accent5"/>
                </a:solidFill>
                <a:highlight>
                  <a:srgbClr val="FFFFFF"/>
                </a:highlight>
              </a:rPr>
              <a:t>¿Cómo funciona?</a:t>
            </a:r>
            <a:r>
              <a:rPr lang="es-E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A0A0A"/>
              </a:buClr>
              <a:buSzPts val="700"/>
              <a:buChar char="●"/>
            </a:pP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SVR intenta encajar la mayor cantidad posible de datos dentro del margen de error (tubo)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. El tubo tiene forma: 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8" name="Google Shape;538;g3d99ce022d7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8200" y="4478850"/>
            <a:ext cx="84296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g3d99ce022d7_0_20"/>
          <p:cNvPicPr preferRelativeResize="0"/>
          <p:nvPr/>
        </p:nvPicPr>
        <p:blipFill rotWithShape="1">
          <a:blip r:embed="rId4">
            <a:alphaModFix/>
          </a:blip>
          <a:srcRect b="0" l="1807" r="0" t="0"/>
          <a:stretch/>
        </p:blipFill>
        <p:spPr>
          <a:xfrm>
            <a:off x="7892425" y="1447725"/>
            <a:ext cx="3880175" cy="32597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40" name="Google Shape;540;g3d99ce022d7_0_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6725" y="3287934"/>
            <a:ext cx="1869791" cy="554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1" name="Google Shape;541;g3d99ce022d7_0_20"/>
          <p:cNvSpPr txBox="1"/>
          <p:nvPr/>
        </p:nvSpPr>
        <p:spPr>
          <a:xfrm>
            <a:off x="7855363" y="4828575"/>
            <a:ext cx="3954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1200"/>
              </a:spcAft>
              <a:buNone/>
            </a:pPr>
            <a:r>
              <a:rPr lang="es-ES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Vectores de Soporte son los puntos que “empujan” ‘</a:t>
            </a:r>
            <a:r>
              <a:rPr b="1" lang="es-ES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y’</a:t>
            </a:r>
            <a:r>
              <a:rPr lang="es-ES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determinan la forma final de la tuberia y del hiper plano ‘W^T*X’.</a:t>
            </a:r>
            <a:endParaRPr sz="1200"/>
          </a:p>
        </p:txBody>
      </p:sp>
      <p:pic>
        <p:nvPicPr>
          <p:cNvPr id="542" name="Google Shape;542;g3d99ce022d7_0_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1175" y="3109985"/>
            <a:ext cx="1329950" cy="3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g3d99ce022d7_0_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01438" y="3541747"/>
            <a:ext cx="1429425" cy="2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g3d99ce022d7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763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g3d99ce022d7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3575" y="4646025"/>
            <a:ext cx="8429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g3d99ce022d7_0_69"/>
          <p:cNvSpPr txBox="1"/>
          <p:nvPr/>
        </p:nvSpPr>
        <p:spPr>
          <a:xfrm>
            <a:off x="733150" y="3988849"/>
            <a:ext cx="6504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Si un punto cae dentro → no hay penalización, no es SV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Si cae fuera → error →se penaliza y es Support Vector (SV)</a:t>
            </a:r>
            <a:endParaRPr b="1"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Si cae en el borde → no penaliza y es SV</a:t>
            </a:r>
            <a:endParaRPr b="1"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2" name="Google Shape;552;g3d99ce022d7_0_69"/>
          <p:cNvSpPr txBox="1"/>
          <p:nvPr/>
        </p:nvSpPr>
        <p:spPr>
          <a:xfrm>
            <a:off x="7928663" y="4646025"/>
            <a:ext cx="3954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1200"/>
              </a:spcAft>
              <a:buNone/>
            </a:pPr>
            <a:r>
              <a:rPr lang="es-ES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Vectores de Soporte son los puntos que “empujan” ‘</a:t>
            </a:r>
            <a:r>
              <a:rPr b="1" lang="es-ES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y’</a:t>
            </a:r>
            <a:r>
              <a:rPr lang="es-ES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determinan la forma final de la tuberia y del hiper plano ‘W^T*X’.</a:t>
            </a:r>
            <a:endParaRPr sz="1200"/>
          </a:p>
        </p:txBody>
      </p:sp>
      <p:sp>
        <p:nvSpPr>
          <p:cNvPr id="553" name="Google Shape;553;g3d99ce022d7_0_69"/>
          <p:cNvSpPr txBox="1"/>
          <p:nvPr/>
        </p:nvSpPr>
        <p:spPr>
          <a:xfrm>
            <a:off x="733150" y="2326549"/>
            <a:ext cx="6415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= vector de pendientes. Regularizador. Lo minimizamos para mantener una funcion sencilla que generalice mejor.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 es un valor de penalización para los errores  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Errores fuera de </a:t>
            </a:r>
            <a:r>
              <a:rPr b="1"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ε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→ penalizados,, asi: </a:t>
            </a:r>
            <a:endParaRPr/>
          </a:p>
        </p:txBody>
      </p:sp>
      <p:pic>
        <p:nvPicPr>
          <p:cNvPr id="554" name="Google Shape;554;g3d99ce022d7_0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3350" y="1288959"/>
            <a:ext cx="3414801" cy="74531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55" name="Google Shape;555;g3d99ce022d7_0_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8675" y="1021250"/>
            <a:ext cx="3954299" cy="3503643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6" name="Google Shape;556;g3d99ce022d7_0_69"/>
          <p:cNvSpPr txBox="1"/>
          <p:nvPr/>
        </p:nvSpPr>
        <p:spPr>
          <a:xfrm>
            <a:off x="540560" y="717741"/>
            <a:ext cx="680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1200"/>
              </a:spcAft>
              <a:buNone/>
            </a:pP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Función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Objetivo a minimizar: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g3d99ce022d7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763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g3d99ce022d7_0_43"/>
          <p:cNvSpPr txBox="1"/>
          <p:nvPr/>
        </p:nvSpPr>
        <p:spPr>
          <a:xfrm>
            <a:off x="360025" y="551425"/>
            <a:ext cx="7062900" cy="54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b="1" lang="es-E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el margen es estrecho:</a:t>
            </a:r>
            <a:r>
              <a:rPr lang="es-E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El modelo es más preciso con los datos de entrenamiento. pero puede ajustarse demasiado (overfitting). 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Túnel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estrecho, aumenta el 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número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de support vectors → modelo 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complejo. 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b="1" lang="es-E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el margen es amplio: 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El modelo es más flexible, pero puede ser menos preciso.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Al 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reducir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número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de support vectors → modelo 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s-E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simple.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4" name="Google Shape;564;g3d99ce022d7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3575" y="4646025"/>
            <a:ext cx="8429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g3d99ce022d7_0_43"/>
          <p:cNvSpPr txBox="1"/>
          <p:nvPr/>
        </p:nvSpPr>
        <p:spPr>
          <a:xfrm>
            <a:off x="11355975" y="47984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6" name="Google Shape;566;g3d99ce022d7_0_43"/>
          <p:cNvPicPr preferRelativeResize="0"/>
          <p:nvPr/>
        </p:nvPicPr>
        <p:blipFill rotWithShape="1">
          <a:blip r:embed="rId4">
            <a:alphaModFix/>
          </a:blip>
          <a:srcRect b="0" l="1807" r="0" t="0"/>
          <a:stretch/>
        </p:blipFill>
        <p:spPr>
          <a:xfrm>
            <a:off x="7734425" y="1497875"/>
            <a:ext cx="4383549" cy="368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g3f0550357c3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1000" y="1642000"/>
            <a:ext cx="3609975" cy="933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3" name="Google Shape;573;g3f0550357c3_0_19"/>
          <p:cNvSpPr txBox="1"/>
          <p:nvPr/>
        </p:nvSpPr>
        <p:spPr>
          <a:xfrm>
            <a:off x="2983950" y="497625"/>
            <a:ext cx="275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/>
              <a:t>R</a:t>
            </a:r>
            <a:r>
              <a:rPr lang="es-ES" sz="1500"/>
              <a:t>egularización (complejidad)</a:t>
            </a:r>
            <a:endParaRPr sz="1500"/>
          </a:p>
        </p:txBody>
      </p:sp>
      <p:cxnSp>
        <p:nvCxnSpPr>
          <p:cNvPr id="574" name="Google Shape;574;g3f0550357c3_0_19"/>
          <p:cNvCxnSpPr>
            <a:stCxn id="573" idx="2"/>
          </p:cNvCxnSpPr>
          <p:nvPr/>
        </p:nvCxnSpPr>
        <p:spPr>
          <a:xfrm>
            <a:off x="4360200" y="913125"/>
            <a:ext cx="679500" cy="8676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g3f0550357c3_0_19"/>
          <p:cNvSpPr txBox="1"/>
          <p:nvPr/>
        </p:nvSpPr>
        <p:spPr>
          <a:xfrm>
            <a:off x="6663600" y="5052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/>
              <a:t>Penalización de errores </a:t>
            </a:r>
            <a:endParaRPr sz="1500"/>
          </a:p>
        </p:txBody>
      </p:sp>
      <p:cxnSp>
        <p:nvCxnSpPr>
          <p:cNvPr id="576" name="Google Shape;576;g3f0550357c3_0_19"/>
          <p:cNvCxnSpPr>
            <a:stCxn id="575" idx="2"/>
          </p:cNvCxnSpPr>
          <p:nvPr/>
        </p:nvCxnSpPr>
        <p:spPr>
          <a:xfrm flipH="1">
            <a:off x="7182600" y="920775"/>
            <a:ext cx="981000" cy="914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77" name="Google Shape;577;g3f0550357c3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4100" y="2952750"/>
            <a:ext cx="32004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f0550357c3_0_19"/>
          <p:cNvSpPr txBox="1"/>
          <p:nvPr/>
        </p:nvSpPr>
        <p:spPr>
          <a:xfrm>
            <a:off x="432750" y="3979950"/>
            <a:ext cx="5303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dk1"/>
                </a:solidFill>
              </a:rPr>
              <a:t>“Para evitar cometer errores hago más complejo el modelo”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</a:t>
            </a:r>
            <a:r>
              <a:rPr lang="es-ES"/>
              <a:t>os errores pesan más que la complejidad del modelo.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</a:t>
            </a:r>
            <a:r>
              <a:rPr lang="es-ES"/>
              <a:t>enor efecto de la regularización.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Mayor riesgo de overfitting.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9" name="Google Shape;579;g3f0550357c3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8300" y="2971800"/>
            <a:ext cx="34671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g3f0550357c3_0_19"/>
          <p:cNvSpPr txBox="1"/>
          <p:nvPr/>
        </p:nvSpPr>
        <p:spPr>
          <a:xfrm>
            <a:off x="6321450" y="4037500"/>
            <a:ext cx="5657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chemeClr val="dk1"/>
                </a:solidFill>
              </a:rPr>
              <a:t>Prefiero mantener un modelo simple, aunque cometa + errores.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Los errores casi no importan.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Eso produce un modelo más suave y simple. 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f0550357c3_0_1"/>
          <p:cNvSpPr txBox="1"/>
          <p:nvPr/>
        </p:nvSpPr>
        <p:spPr>
          <a:xfrm>
            <a:off x="1171413" y="1543950"/>
            <a:ext cx="6033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700">
                <a:solidFill>
                  <a:schemeClr val="dk1"/>
                </a:solidFill>
              </a:rPr>
              <a:t>En </a:t>
            </a:r>
            <a:r>
              <a:rPr b="1" lang="es-E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sklearn.svm.SVR</a:t>
            </a:r>
            <a:r>
              <a:rPr lang="es-ES" sz="1700">
                <a:solidFill>
                  <a:schemeClr val="dk1"/>
                </a:solidFill>
              </a:rPr>
              <a:t>, el valor por defecto de </a:t>
            </a:r>
            <a:r>
              <a:rPr b="1" lang="es-ES" sz="1700">
                <a:solidFill>
                  <a:schemeClr val="dk1"/>
                </a:solidFill>
              </a:rPr>
              <a:t>C</a:t>
            </a:r>
            <a:r>
              <a:rPr lang="es-ES" sz="1700">
                <a:solidFill>
                  <a:schemeClr val="dk1"/>
                </a:solidFill>
              </a:rPr>
              <a:t> es 1.0​ </a:t>
            </a:r>
            <a:endParaRPr sz="2000"/>
          </a:p>
        </p:txBody>
      </p:sp>
      <p:graphicFrame>
        <p:nvGraphicFramePr>
          <p:cNvPr id="587" name="Google Shape;587;g3f0550357c3_0_1"/>
          <p:cNvGraphicFramePr/>
          <p:nvPr/>
        </p:nvGraphicFramePr>
        <p:xfrm>
          <a:off x="7951250" y="45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{D7530816-5F79-43F7-9BB8-DFBB62571D51}</a:tableStyleId>
              </a:tblPr>
              <a:tblGrid>
                <a:gridCol w="964775"/>
                <a:gridCol w="30162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/>
                        <a:t>Valor de (C)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/>
                        <a:t>Comportamiento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0.01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Regularización muy fuerte (modelo muy simple)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Regularización fuerte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/>
                        <a:t>1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/>
                        <a:t>Valor por defecto de Scikit-learn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Ajuste más estricto a los datos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Muy alta; mayor riesgo de sobreajuste (modelo </a:t>
                      </a:r>
                      <a:r>
                        <a:rPr lang="es-ES"/>
                        <a:t>más</a:t>
                      </a:r>
                      <a:r>
                        <a:rPr lang="es-ES"/>
                        <a:t> complejo)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588" name="Google Shape;588;g3f0550357c3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3213" y="374575"/>
            <a:ext cx="3609975" cy="933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9" name="Google Shape;589;g3f0550357c3_0_1"/>
          <p:cNvSpPr txBox="1"/>
          <p:nvPr/>
        </p:nvSpPr>
        <p:spPr>
          <a:xfrm>
            <a:off x="1101875" y="2226275"/>
            <a:ext cx="57624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dk1"/>
                </a:solidFill>
              </a:rPr>
              <a:t>Si C es grande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Los errores fuera del tubo ε son muy costosos.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El modelo intenta ajustar la mayor cantidad posible de puntos.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Mayor riesgo de </a:t>
            </a:r>
            <a:r>
              <a:rPr b="1" lang="es-ES" sz="1300">
                <a:solidFill>
                  <a:schemeClr val="dk1"/>
                </a:solidFill>
              </a:rPr>
              <a:t>sobreajuste (overfitting)</a:t>
            </a:r>
            <a:r>
              <a:rPr lang="es-ES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90" name="Google Shape;590;g3f0550357c3_0_1"/>
          <p:cNvSpPr txBox="1"/>
          <p:nvPr/>
        </p:nvSpPr>
        <p:spPr>
          <a:xfrm>
            <a:off x="1101875" y="3930600"/>
            <a:ext cx="6790200" cy="1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dk1"/>
                </a:solidFill>
              </a:rPr>
              <a:t>Si C es pequeño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Los errores fuera del tubo </a:t>
            </a:r>
            <a:r>
              <a:rPr lang="es-ES" sz="1300">
                <a:solidFill>
                  <a:schemeClr val="dk1"/>
                </a:solidFill>
              </a:rPr>
              <a:t>ε </a:t>
            </a:r>
            <a:r>
              <a:rPr lang="es-ES" sz="1300">
                <a:solidFill>
                  <a:schemeClr val="dk1"/>
                </a:solidFill>
              </a:rPr>
              <a:t>son poco costosos.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El modelo acepta más errores si con ello obtiene una función más simple.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Menor riesgo de sobreajuste, pero puede aparecer </a:t>
            </a:r>
            <a:r>
              <a:rPr b="1" lang="es-ES" sz="1300">
                <a:solidFill>
                  <a:schemeClr val="dk1"/>
                </a:solidFill>
              </a:rPr>
              <a:t>subajuste (underfitting)</a:t>
            </a:r>
            <a:r>
              <a:rPr lang="es-ES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g3f0550357c3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675" y="828875"/>
            <a:ext cx="5924550" cy="529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7" name="Google Shape;597;g3f0550357c3_0_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38" y="1991850"/>
            <a:ext cx="3609975" cy="933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8" name="Google Shape;598;g3f0550357c3_0_48"/>
          <p:cNvSpPr txBox="1"/>
          <p:nvPr/>
        </p:nvSpPr>
        <p:spPr>
          <a:xfrm>
            <a:off x="907875" y="598725"/>
            <a:ext cx="3491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900">
                <a:solidFill>
                  <a:srgbClr val="34C0C7"/>
                </a:solidFill>
              </a:rPr>
              <a:t>ε</a:t>
            </a:r>
            <a:r>
              <a:rPr lang="es-ES" sz="1900">
                <a:solidFill>
                  <a:srgbClr val="34C0C7"/>
                </a:solidFill>
              </a:rPr>
              <a:t> - ancho del tubo</a:t>
            </a:r>
            <a:endParaRPr sz="1900">
              <a:solidFill>
                <a:srgbClr val="34C0C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</a:rPr>
              <a:t>responde a: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900">
                <a:solidFill>
                  <a:schemeClr val="dk1"/>
                </a:solidFill>
              </a:rPr>
              <a:t>Qué errores voy a ignorar?"</a:t>
            </a:r>
            <a:r>
              <a:rPr lang="es-ES" sz="1900">
                <a:solidFill>
                  <a:schemeClr val="dk1"/>
                </a:solidFill>
              </a:rPr>
              <a:t> </a:t>
            </a:r>
            <a:endParaRPr sz="22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" name="Google Shape;604;g3f0550357c3_0_59"/>
          <p:cNvGraphicFramePr/>
          <p:nvPr/>
        </p:nvGraphicFramePr>
        <p:xfrm>
          <a:off x="2397775" y="197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{D7530816-5F79-43F7-9BB8-DFBB62571D51}</a:tableStyleId>
              </a:tblPr>
              <a:tblGrid>
                <a:gridCol w="1225550"/>
                <a:gridCol w="2889175"/>
                <a:gridCol w="40204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500"/>
                        <a:t>Parámetro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500"/>
                        <a:t>Controla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500"/>
                        <a:t>Si aumenta...</a:t>
                      </a:r>
                      <a:endParaRPr b="1" sz="15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ES" sz="1900">
                          <a:solidFill>
                            <a:srgbClr val="34C0C7"/>
                          </a:solidFill>
                        </a:rPr>
                        <a:t>ε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Tamaño del error que se ignora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Se ignoran más errores → modelo más simple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ES" sz="1900">
                          <a:solidFill>
                            <a:srgbClr val="34C0C7"/>
                          </a:solidFill>
                        </a:rPr>
                        <a:t>C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Penalización de los errores no ignorados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Se castigan más los errores → modelo más complejo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5"/>
          <p:cNvSpPr txBox="1"/>
          <p:nvPr/>
        </p:nvSpPr>
        <p:spPr>
          <a:xfrm>
            <a:off x="0" y="1489200"/>
            <a:ext cx="5435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Imagine 2 clases (azul-rojo) como puntos en un plano.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SVM busca la línea que separa las clases con el mayor margen posible, dejando el espacio vacío </a:t>
            </a:r>
            <a:r>
              <a:rPr lang="es-E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b="0" i="0" lang="es-E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grande entre ambos.</a:t>
            </a:r>
            <a:endParaRPr/>
          </a:p>
        </p:txBody>
      </p:sp>
      <p:pic>
        <p:nvPicPr>
          <p:cNvPr id="611" name="Google Shape;6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7509" y="1676527"/>
            <a:ext cx="5197290" cy="3833192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5"/>
          <p:cNvSpPr txBox="1"/>
          <p:nvPr/>
        </p:nvSpPr>
        <p:spPr>
          <a:xfrm>
            <a:off x="3757750" y="243875"/>
            <a:ext cx="543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Support Vector Classifier (SVC)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6"/>
          <p:cNvSpPr txBox="1"/>
          <p:nvPr/>
        </p:nvSpPr>
        <p:spPr>
          <a:xfrm>
            <a:off x="477461" y="1984258"/>
            <a:ext cx="50202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El margen </a:t>
            </a:r>
            <a:r>
              <a:rPr b="0" i="0" lang="es-E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es la distancia entre el hiperplano/recta y los puntos </a:t>
            </a:r>
            <a:r>
              <a:rPr lang="es-E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b="0" i="0" lang="es-E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cercanos de cada clase.</a:t>
            </a:r>
            <a:endParaRPr b="0" i="0" sz="21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Margen equivale a Tubo.</a:t>
            </a:r>
            <a:endParaRPr sz="21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Un margen más ancho significa que el modelo separa las clases con más confianza y podrá generalizar mejor.</a:t>
            </a:r>
            <a:endParaRPr/>
          </a:p>
        </p:txBody>
      </p:sp>
      <p:pic>
        <p:nvPicPr>
          <p:cNvPr id="619" name="Google Shape;6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6631" y="1041269"/>
            <a:ext cx="5867908" cy="3962743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d99ce022d7_0_87"/>
          <p:cNvSpPr txBox="1"/>
          <p:nvPr/>
        </p:nvSpPr>
        <p:spPr>
          <a:xfrm>
            <a:off x="602125" y="695412"/>
            <a:ext cx="62571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Vectores de Soporte: </a:t>
            </a:r>
            <a:endParaRPr b="1" sz="21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 los puntos de datos más críticos, los que están más cerca del límite de decisión. </a:t>
            </a:r>
            <a:endParaRPr sz="21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Ellos definen la posición y orientación del hiperplano </a:t>
            </a:r>
            <a:endParaRPr/>
          </a:p>
        </p:txBody>
      </p:sp>
      <p:pic>
        <p:nvPicPr>
          <p:cNvPr id="626" name="Google Shape;626;g3d99ce022d7_0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0075" y="1265812"/>
            <a:ext cx="3789675" cy="3194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7" name="Google Shape;627;g3d99ce022d7_0_87"/>
          <p:cNvSpPr txBox="1"/>
          <p:nvPr/>
        </p:nvSpPr>
        <p:spPr>
          <a:xfrm>
            <a:off x="602125" y="3110012"/>
            <a:ext cx="5551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Hiperplano de decisión</a:t>
            </a:r>
            <a:endParaRPr b="1" sz="21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w^T x+b=0</a:t>
            </a:r>
            <a:r>
              <a:rPr lang="es-ES"/>
              <a:t> </a:t>
            </a:r>
            <a:endParaRPr/>
          </a:p>
        </p:txBody>
      </p:sp>
      <p:sp>
        <p:nvSpPr>
          <p:cNvPr id="628" name="Google Shape;628;g3d99ce022d7_0_87"/>
          <p:cNvSpPr txBox="1"/>
          <p:nvPr/>
        </p:nvSpPr>
        <p:spPr>
          <a:xfrm>
            <a:off x="718475" y="4311787"/>
            <a:ext cx="57228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Divide el espacio en dos clases:</a:t>
            </a:r>
            <a:endParaRPr sz="21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&gt;0 → clase 1</a:t>
            </a:r>
            <a:endParaRPr sz="21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&lt;0 → clase 0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g3d99ce022d7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2800" y="779400"/>
            <a:ext cx="6430149" cy="20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0"/>
          <p:cNvSpPr txBox="1"/>
          <p:nvPr/>
        </p:nvSpPr>
        <p:spPr>
          <a:xfrm>
            <a:off x="609600" y="501761"/>
            <a:ext cx="6354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‘C’</a:t>
            </a: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 </a:t>
            </a:r>
            <a:r>
              <a:rPr b="1"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parámetro de penalización</a:t>
            </a: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controla </a:t>
            </a:r>
            <a:r>
              <a:rPr b="1"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cuánto tolera el modelo los errores de clasificación</a:t>
            </a: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los datos de entrenamiento. </a:t>
            </a:r>
            <a:r>
              <a:rPr lang="es-ES" sz="2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 multiplica el error.</a:t>
            </a:r>
            <a:endParaRPr sz="2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 grande → Tolera menos errores. </a:t>
            </a:r>
            <a:endParaRPr sz="2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ES" sz="2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 pequeño → Tolera más errores.</a:t>
            </a:r>
            <a:r>
              <a:rPr lang="es-ES" sz="2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1" name="Google Shape;641;p30"/>
          <p:cNvPicPr preferRelativeResize="0"/>
          <p:nvPr/>
        </p:nvPicPr>
        <p:blipFill rotWithShape="1">
          <a:blip r:embed="rId3">
            <a:alphaModFix/>
          </a:blip>
          <a:srcRect b="0" l="0" r="75021" t="0"/>
          <a:stretch/>
        </p:blipFill>
        <p:spPr>
          <a:xfrm>
            <a:off x="7327825" y="610850"/>
            <a:ext cx="983599" cy="859475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2" name="Google Shape;642;p30"/>
          <p:cNvPicPr preferRelativeResize="0"/>
          <p:nvPr/>
        </p:nvPicPr>
        <p:blipFill rotWithShape="1">
          <a:blip r:embed="rId4">
            <a:alphaModFix/>
          </a:blip>
          <a:srcRect b="0" l="50362" r="0" t="0"/>
          <a:stretch/>
        </p:blipFill>
        <p:spPr>
          <a:xfrm>
            <a:off x="290751" y="2756325"/>
            <a:ext cx="3555900" cy="3810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3" name="Google Shape;643;p30"/>
          <p:cNvGraphicFramePr/>
          <p:nvPr/>
        </p:nvGraphicFramePr>
        <p:xfrm>
          <a:off x="7515492" y="25497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{E5B34B81-AB43-439F-BE6F-5AA330D8B097}</a:tableStyleId>
              </a:tblPr>
              <a:tblGrid>
                <a:gridCol w="963500"/>
                <a:gridCol w="2091650"/>
                <a:gridCol w="152757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ES" sz="1400" u="none" cap="none" strike="noStrike"/>
                        <a:t>Valor de 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ES" sz="1400" u="none" cap="none" strike="noStrike"/>
                        <a:t>Comportamiento del modelo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ES" sz="1400" u="none" cap="none" strike="noStrike"/>
                        <a:t>Resultado típico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ES" sz="1400" u="none" cap="none" strike="noStrike"/>
                        <a:t>C Grande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083"/>
                        </a:buClr>
                        <a:buSzPts val="1400"/>
                        <a:buFont typeface="Calibri"/>
                        <a:buNone/>
                      </a:pPr>
                      <a:r>
                        <a:rPr lang="es-ES">
                          <a:solidFill>
                            <a:srgbClr val="005083"/>
                          </a:solidFill>
                        </a:rPr>
                        <a:t>Penaliza mucho los errores → </a:t>
                      </a:r>
                      <a:endParaRPr>
                        <a:solidFill>
                          <a:srgbClr val="005083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083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ES">
                          <a:solidFill>
                            <a:srgbClr val="005083"/>
                          </a:solidFill>
                        </a:rPr>
                        <a:t>Margen más estrecho</a:t>
                      </a:r>
                      <a:r>
                        <a:rPr lang="es-ES">
                          <a:solidFill>
                            <a:srgbClr val="005083"/>
                          </a:solidFill>
                        </a:rPr>
                        <a:t>  → </a:t>
                      </a:r>
                      <a:endParaRPr>
                        <a:solidFill>
                          <a:srgbClr val="005083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083"/>
                        </a:buClr>
                        <a:buSzPts val="1400"/>
                        <a:buFont typeface="Calibri"/>
                        <a:buNone/>
                      </a:pPr>
                      <a:r>
                        <a:rPr lang="es-ES" sz="1400" u="none" cap="none" strike="noStrike">
                          <a:solidFill>
                            <a:srgbClr val="005083"/>
                          </a:solidFill>
                        </a:rPr>
                        <a:t>M</a:t>
                      </a:r>
                      <a:r>
                        <a:rPr lang="es-ES">
                          <a:solidFill>
                            <a:srgbClr val="005083"/>
                          </a:solidFill>
                        </a:rPr>
                        <a:t>enos puntos mal clasificados en entrenamiento</a:t>
                      </a:r>
                      <a:r>
                        <a:rPr lang="es-ES" sz="1400" u="none" cap="none" strike="noStrike">
                          <a:solidFill>
                            <a:srgbClr val="005083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ES" sz="1400" u="none" cap="none" strike="noStrike"/>
                        <a:t>Menos errores en entrenamiento</a:t>
                      </a:r>
                      <a:r>
                        <a:rPr lang="es-ES"/>
                        <a:t>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ES"/>
                        <a:t>Riesgo de </a:t>
                      </a:r>
                      <a:r>
                        <a:rPr lang="es-ES" sz="1400" u="none" cap="none" strike="noStrike"/>
                        <a:t> </a:t>
                      </a:r>
                      <a:r>
                        <a:rPr b="1" lang="es-ES" sz="1400" u="none" cap="none" strike="noStrike"/>
                        <a:t>sobreajuste (overfitting)</a:t>
                      </a:r>
                      <a:r>
                        <a:rPr lang="es-ES" sz="1400" u="none" cap="none" strike="noStrike"/>
                        <a:t>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ES" sz="1400" u="none" cap="none" strike="noStrike"/>
                        <a:t>C Pequeño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083"/>
                        </a:buClr>
                        <a:buSzPts val="1400"/>
                        <a:buFont typeface="Calibri"/>
                        <a:buNone/>
                      </a:pPr>
                      <a:r>
                        <a:rPr lang="es-ES">
                          <a:solidFill>
                            <a:srgbClr val="005083"/>
                          </a:solidFill>
                        </a:rPr>
                        <a:t>Penaliza poco los errores (</a:t>
                      </a:r>
                      <a:r>
                        <a:rPr b="1" lang="es-ES"/>
                        <a:t>tolera algunos errores</a:t>
                      </a:r>
                      <a:r>
                        <a:rPr lang="es-ES">
                          <a:solidFill>
                            <a:srgbClr val="005083"/>
                          </a:solidFill>
                        </a:rPr>
                        <a:t>) → </a:t>
                      </a:r>
                      <a:endParaRPr>
                        <a:solidFill>
                          <a:srgbClr val="005083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083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s-ES">
                          <a:solidFill>
                            <a:srgbClr val="005083"/>
                          </a:solidFill>
                        </a:rPr>
                        <a:t>Margen más amplio</a:t>
                      </a:r>
                      <a:r>
                        <a:rPr lang="es-ES">
                          <a:solidFill>
                            <a:srgbClr val="005083"/>
                          </a:solidFill>
                        </a:rPr>
                        <a:t>→ </a:t>
                      </a:r>
                      <a:endParaRPr sz="1400" u="none" cap="none" strike="noStrike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ES"/>
                        <a:t>Más errores en entrenamiento.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083"/>
                        </a:buClr>
                        <a:buSzPts val="1400"/>
                        <a:buFont typeface="Calibri"/>
                        <a:buNone/>
                      </a:pPr>
                      <a:r>
                        <a:rPr lang="es-ES"/>
                        <a:t>Modelo </a:t>
                      </a:r>
                      <a:r>
                        <a:rPr lang="es-ES"/>
                        <a:t>más</a:t>
                      </a:r>
                      <a:r>
                        <a:rPr lang="es-ES"/>
                        <a:t> simple.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ES" sz="1400" u="none" cap="none" strike="noStrike"/>
                        <a:t>Mayor generalización</a:t>
                      </a:r>
                      <a:r>
                        <a:rPr lang="es-ES"/>
                        <a:t>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ES"/>
                        <a:t>Riesgo de </a:t>
                      </a:r>
                      <a:r>
                        <a:rPr b="1" lang="es-ES"/>
                        <a:t>subajuste (underfitting).</a:t>
                      </a:r>
                      <a:endParaRPr b="1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44" name="Google Shape;644;p30"/>
          <p:cNvPicPr preferRelativeResize="0"/>
          <p:nvPr/>
        </p:nvPicPr>
        <p:blipFill rotWithShape="1">
          <a:blip r:embed="rId5">
            <a:alphaModFix/>
          </a:blip>
          <a:srcRect b="36542" l="68355" r="0" t="21427"/>
          <a:stretch/>
        </p:blipFill>
        <p:spPr>
          <a:xfrm>
            <a:off x="8232300" y="610850"/>
            <a:ext cx="2034799" cy="859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5" name="Google Shape;645;p30"/>
          <p:cNvPicPr preferRelativeResize="0"/>
          <p:nvPr/>
        </p:nvPicPr>
        <p:blipFill rotWithShape="1">
          <a:blip r:embed="rId4">
            <a:alphaModFix/>
          </a:blip>
          <a:srcRect b="0" l="0" r="50362" t="0"/>
          <a:stretch/>
        </p:blipFill>
        <p:spPr>
          <a:xfrm>
            <a:off x="3846651" y="2756325"/>
            <a:ext cx="3555900" cy="381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1"/>
          <p:cNvSpPr txBox="1"/>
          <p:nvPr/>
        </p:nvSpPr>
        <p:spPr>
          <a:xfrm>
            <a:off x="3392128" y="582251"/>
            <a:ext cx="609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¿Cómo tratar datos no linealmente separables?</a:t>
            </a:r>
            <a:endParaRPr/>
          </a:p>
        </p:txBody>
      </p:sp>
      <p:sp>
        <p:nvSpPr>
          <p:cNvPr id="652" name="Google Shape;652;p31"/>
          <p:cNvSpPr txBox="1"/>
          <p:nvPr/>
        </p:nvSpPr>
        <p:spPr>
          <a:xfrm>
            <a:off x="943897" y="2067088"/>
            <a:ext cx="4080387" cy="3277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Imaginemos un caso en el que no existe una línea recta (o hiperplano) que pueda separar dos clases.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imagen que se muestra a continuación, hay un círculo en 2D con puntos de datos rojos y azules distribuidos por toda su superficie.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SVM aborda este caso mediante el uso de una función kernel para manejar datos no linealmente separables.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3" name="Google Shape;65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793" y="1496200"/>
            <a:ext cx="5654530" cy="4419983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2"/>
          <p:cNvSpPr txBox="1"/>
          <p:nvPr/>
        </p:nvSpPr>
        <p:spPr>
          <a:xfrm>
            <a:off x="4100052" y="395438"/>
            <a:ext cx="34265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¿Que es un Kernel?</a:t>
            </a:r>
            <a:endParaRPr/>
          </a:p>
        </p:txBody>
      </p:sp>
      <p:sp>
        <p:nvSpPr>
          <p:cNvPr id="660" name="Google Shape;660;p32"/>
          <p:cNvSpPr txBox="1"/>
          <p:nvPr/>
        </p:nvSpPr>
        <p:spPr>
          <a:xfrm>
            <a:off x="462116" y="1619915"/>
            <a:ext cx="43851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es un método para que SVM funcione con datos no linealmente separables.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función kernel 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los datos a un espacio de características de 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mayor dimensión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permitir la separación lineal.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Algunos funciones kernel son: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-Linear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-Polynomial kernel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ES" sz="1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Radial basis function kernel (RBF kernel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-Sigmoid kernel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1" name="Google Shape;66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9587" y="1619915"/>
            <a:ext cx="6046805" cy="3618170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g3d99ce022d7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4150" y="283025"/>
            <a:ext cx="6743700" cy="5972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3"/>
          <p:cNvSpPr txBox="1"/>
          <p:nvPr/>
        </p:nvSpPr>
        <p:spPr>
          <a:xfrm>
            <a:off x="1907457" y="714473"/>
            <a:ext cx="8249266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Ventajas de SVM: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SVM funciona bien con datos no linealmente separables mediante el uso de técnicas de kernel.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eficaz en espacios de alta dimensionalidad (es decir, con un gran número de features).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presenta problemas de multicolinealidad.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Desventajas de SVM: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Requiere mucho tiempo de procesamiento con conjuntos de datos de gran tamaño.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proporciona estimaciones de probabilidad directamente.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kernel lineal es muy similar a la regresión logística en el caso de datos linealmente separables.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9" name="Google Shape;679;g3ca695f72d0_0_0"/>
          <p:cNvGraphicFramePr/>
          <p:nvPr/>
        </p:nvGraphicFramePr>
        <p:xfrm>
          <a:off x="453125" y="7577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{0ACAB9B7-7BD9-40E0-9C54-0859FF286D44}</a:tableStyleId>
              </a:tblPr>
              <a:tblGrid>
                <a:gridCol w="2905425"/>
                <a:gridCol w="2538325"/>
                <a:gridCol w="2800600"/>
                <a:gridCol w="3244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cap="none" strike="noStrike"/>
                        <a:t>Métrica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cap="none" strike="noStrike"/>
                        <a:t>Formula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cap="none" strike="noStrike"/>
                        <a:t>Interpretación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cap="none" strike="noStrike"/>
                        <a:t>python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800" u="none" cap="none" strike="noStrike"/>
                        <a:t>MAE</a:t>
                      </a:r>
                      <a:r>
                        <a:rPr lang="es-ES" sz="1800" u="none" cap="none" strike="noStrike"/>
                        <a:t> (Mean Absolute Error)-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Error absoluto medio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mae =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ourier New"/>
                        <a:buNone/>
                      </a:pPr>
                      <a:r>
                        <a:rPr lang="es-ES" sz="11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mean_absolute_error(y_test,y_pred)</a:t>
                      </a:r>
                      <a:endParaRPr sz="1150"/>
                    </a:p>
                  </a:txBody>
                  <a:tcPr marT="45725" marB="45725" marR="91450" marL="91450" anchor="ctr"/>
                </a:tc>
              </a:tr>
              <a:tr h="106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800"/>
                        <a:t>MSE</a:t>
                      </a:r>
                      <a:r>
                        <a:rPr lang="es-ES" sz="1800"/>
                        <a:t> (Mean Squared Error)-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Error </a:t>
                      </a:r>
                      <a:r>
                        <a:rPr lang="es-ES" sz="1800"/>
                        <a:t>cuadrático</a:t>
                      </a:r>
                      <a:r>
                        <a:rPr lang="es-ES" sz="1800"/>
                        <a:t> medio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Promedio del cuadrado de los errores.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Penaliza fuertemente los errores grandes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mse = mean_squared_error(y_test,y_pred)</a:t>
                      </a:r>
                      <a:endParaRPr sz="1200"/>
                    </a:p>
                  </a:txBody>
                  <a:tcPr marT="45725" marB="45725" marR="91450" marL="91450" anchor="ctr"/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800"/>
                        <a:t>RMSE</a:t>
                      </a:r>
                      <a:r>
                        <a:rPr lang="es-ES" sz="1800"/>
                        <a:t> (Raíz del MSE)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Raíz cuadrada del MSE. Mantiene la misma escala que la variable original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urier New"/>
                        <a:buNone/>
                      </a:pP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rmse = np.sqrt(mse)</a:t>
                      </a:r>
                      <a:endParaRPr sz="1300"/>
                    </a:p>
                  </a:txBody>
                  <a:tcPr marT="45725" marB="45725" marR="91450" marL="91450" anchor="ctr"/>
                </a:tc>
              </a:tr>
              <a:tr h="131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800"/>
                        <a:t>R²</a:t>
                      </a:r>
                      <a:r>
                        <a:rPr lang="es-ES" sz="1800"/>
                        <a:t> (Coeficiente de determinación)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urier New"/>
                        <a:buNone/>
                      </a:pP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r2 = r2_score(y_test, y_pred)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urier New"/>
                        <a:buNone/>
                      </a:pP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</a:t>
                      </a: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model.score(X_test, y_test)</a:t>
                      </a:r>
                      <a:endParaRPr sz="13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680" name="Google Shape;680;g3ca695f72d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2269" y="2605277"/>
            <a:ext cx="2279251" cy="449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g3ca695f72d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2269" y="3588390"/>
            <a:ext cx="2279251" cy="41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g3ca695f72d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2269" y="4591181"/>
            <a:ext cx="2279250" cy="515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g3ca695f72d0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2109" y="1587431"/>
            <a:ext cx="2279251" cy="636493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g3ca695f72d0_0_0"/>
          <p:cNvSpPr txBox="1"/>
          <p:nvPr/>
        </p:nvSpPr>
        <p:spPr>
          <a:xfrm>
            <a:off x="3525520" y="326983"/>
            <a:ext cx="5344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rgbClr val="34C0C7"/>
                </a:solidFill>
                <a:latin typeface="Calibri"/>
                <a:ea typeface="Calibri"/>
                <a:cs typeface="Calibri"/>
                <a:sym typeface="Calibri"/>
              </a:rPr>
              <a:t>Para Regresión (variable numérica continua)</a:t>
            </a:r>
            <a:endParaRPr b="1" sz="2200">
              <a:solidFill>
                <a:srgbClr val="34C0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g3ca695f72d0_0_0"/>
          <p:cNvSpPr txBox="1"/>
          <p:nvPr/>
        </p:nvSpPr>
        <p:spPr>
          <a:xfrm>
            <a:off x="3525520" y="5857396"/>
            <a:ext cx="65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MAE, MSE, RMSE 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Indicador de errores acumulados del modelo.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R²  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explicativa del modelo.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g3ca695f72d0_0_0"/>
          <p:cNvSpPr txBox="1"/>
          <p:nvPr/>
        </p:nvSpPr>
        <p:spPr>
          <a:xfrm>
            <a:off x="902550" y="5323463"/>
            <a:ext cx="108162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50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-ES" sz="17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sklearn.metrics </a:t>
            </a:r>
            <a:r>
              <a:rPr lang="es-ES" sz="1750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-ES" sz="17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r2_score, mean_squared_error, mean_absolute_error</a:t>
            </a:r>
            <a:endParaRPr sz="17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4"/>
          <p:cNvSpPr txBox="1"/>
          <p:nvPr/>
        </p:nvSpPr>
        <p:spPr>
          <a:xfrm>
            <a:off x="4414686" y="1832679"/>
            <a:ext cx="26153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Taller # 13</a:t>
            </a:r>
            <a:endParaRPr/>
          </a:p>
        </p:txBody>
      </p:sp>
      <p:sp>
        <p:nvSpPr>
          <p:cNvPr id="693" name="Google Shape;693;p34"/>
          <p:cNvSpPr txBox="1"/>
          <p:nvPr/>
        </p:nvSpPr>
        <p:spPr>
          <a:xfrm>
            <a:off x="2694038" y="3121223"/>
            <a:ext cx="73446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4"/>
          <p:cNvSpPr txBox="1"/>
          <p:nvPr/>
        </p:nvSpPr>
        <p:spPr>
          <a:xfrm>
            <a:off x="5246455" y="2400006"/>
            <a:ext cx="16990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SVM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2023-04-21T18:09:58Z</dcterms:created>
  <dc:creator>Jacov Mendoza</dc:creator>
</cp:coreProperties>
</file>