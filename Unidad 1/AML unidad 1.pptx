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</p:sldIdLst>
  <p:sldSz cy="6858000" cx="12192000"/>
  <p:notesSz cx="6858000" cy="9144000"/>
  <p:embeddedFontLst>
    <p:embeddedFont>
      <p:font typeface="Poppins"/>
      <p:regular r:id="rId97"/>
      <p:bold r:id="rId98"/>
      <p:italic r:id="rId99"/>
      <p:boldItalic r:id="rId100"/>
    </p:embeddedFont>
    <p:embeddedFont>
      <p:font typeface="Roboto Mono"/>
      <p:regular r:id="rId101"/>
      <p:bold r:id="rId102"/>
      <p:italic r:id="rId103"/>
      <p:boldItalic r:id="rId104"/>
    </p:embeddedFont>
    <p:embeddedFont>
      <p:font typeface="Merriweather"/>
      <p:regular r:id="rId105"/>
      <p:bold r:id="rId106"/>
      <p:italic r:id="rId107"/>
      <p:boldItalic r:id="rId108"/>
    </p:embeddedFont>
    <p:embeddedFont>
      <p:font typeface="Cambria Math"/>
      <p:regular r:id="rId10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0" roundtripDataSignature="AMtx7mjP1tCkYxsrF6R4K0dCaKXV/AGq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BA0052-F328-4321-A817-4CDF0A49F5EC}">
  <a:tblStyle styleId="{E0BA0052-F328-4321-A817-4CDF0A49F5E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4BBCF7D7-AE8C-4610-8E5E-FE50FF2AD8CB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font" Target="fonts/Merriweather-italic.fntdata"/><Relationship Id="rId106" Type="http://schemas.openxmlformats.org/officeDocument/2006/relationships/font" Target="fonts/Merriweather-bold.fntdata"/><Relationship Id="rId105" Type="http://schemas.openxmlformats.org/officeDocument/2006/relationships/font" Target="fonts/Merriweather-regular.fntdata"/><Relationship Id="rId104" Type="http://schemas.openxmlformats.org/officeDocument/2006/relationships/font" Target="fonts/RobotoMono-boldItalic.fntdata"/><Relationship Id="rId109" Type="http://schemas.openxmlformats.org/officeDocument/2006/relationships/font" Target="fonts/CambriaMath-regular.fntdata"/><Relationship Id="rId108" Type="http://schemas.openxmlformats.org/officeDocument/2006/relationships/font" Target="fonts/Merriweather-boldItalic.fntdata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font" Target="fonts/RobotoMono-italic.fntdata"/><Relationship Id="rId102" Type="http://schemas.openxmlformats.org/officeDocument/2006/relationships/font" Target="fonts/RobotoMono-bold.fntdata"/><Relationship Id="rId101" Type="http://schemas.openxmlformats.org/officeDocument/2006/relationships/font" Target="fonts/RobotoMono-regular.fntdata"/><Relationship Id="rId100" Type="http://schemas.openxmlformats.org/officeDocument/2006/relationships/font" Target="fonts/Poppins-bold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font" Target="fonts/Poppins-regular.fntdata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font" Target="fonts/Poppins-italic.fntdata"/><Relationship Id="rId10" Type="http://schemas.openxmlformats.org/officeDocument/2006/relationships/slide" Target="slides/slide5.xml"/><Relationship Id="rId98" Type="http://schemas.openxmlformats.org/officeDocument/2006/relationships/font" Target="fonts/Poppi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10" Type="http://customschemas.google.com/relationships/presentationmetadata" Target="metadata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57a5e7c76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57a5e7c76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57a5e7c76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57a5e7c7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57a5e7c7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f57a5e7c7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57a5e7c76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57a5e7c76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f57a5e7c76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57a5e7c76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57a5e7c76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f57a5e7c76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57a5e7c76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f57a5e7c76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5995f7397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5995f7397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f5995f7397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5995f7397_0_2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5995f7397_0_2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f5995f7397_0_2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5995f7397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5995f7397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5995f7397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5995f7397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5995f7397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f5995f7397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5995f7397_0_2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5995f7397_0_2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f5995f7397_0_2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5995f7397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5995f7397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f5995f7397_0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5995f7397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f5995f7397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f5995f7397_0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5995f7397_0_2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5995f7397_0_2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f5995f7397_0_2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5995f7397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f5995f7397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f5995f7397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5995f7397_0_1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f5995f7397_0_1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f5995f7397_0_1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9693ed6d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9693ed6d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f9693ed6d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5995f7397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f5995f7397_0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f5995f7397_0_1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9693ed6dd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f9693ed6dd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f9693ed6dd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9693ed6dd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9693ed6dd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f9693ed6dd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5995f7397_0_2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f5995f7397_0_2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f5995f7397_0_2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5995f7397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f5995f7397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f5995f7397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9693ed6dd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f9693ed6dd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f9693ed6dd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5995f7397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f5995f7397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f5995f7397_0_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9693ed6dd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f9693ed6dd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f9693ed6dd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9693ed6dd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f9693ed6dd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f9693ed6dd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9693ed6dd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f9693ed6dd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f9693ed6dd_0_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5995f7397_0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f5995f7397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f5995f7397_0_1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9693ed6dd_0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f9693ed6dd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f9693ed6dd_0_1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5995f7397_0_2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f5995f7397_0_2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f5995f7397_0_2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5995f739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f5995f739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9693ed6dd_0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3f9693ed6dd_0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f9693ed6dd_0_1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f9693ed6dd_0_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f9693ed6dd_0_1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f9693ed6dd_0_1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f9693ed6dd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f9693ed6dd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f9693ed6dd_0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9693ed6dd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g3f9693ed6dd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f9693ed6dd_0_1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9693ed6dd_0_1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f9693ed6dd_0_1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f9693ed6dd_0_1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9693ed6dd_0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f9693ed6dd_0_1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f9693ed6dd_0_1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9693ed6dd_0_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f9693ed6dd_0_1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f9693ed6dd_0_1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f9693ed6dd_0_2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g3f9693ed6dd_0_2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4" name="Google Shape;434;g3f9693ed6dd_0_2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f9693ed6dd_0_2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f9693ed6dd_0_2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f9693ed6dd_0_2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f9693ed6dd_0_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f9693ed6dd_0_2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3f9693ed6dd_0_2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f9693ed6dd_0_2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f9693ed6dd_0_2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f9693ed6dd_0_2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f9693ed6dd_0_3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g3f9693ed6dd_0_3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77" name="Google Shape;477;g3f9693ed6dd_0_3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f9693ed6dd_0_3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g3f9693ed6dd_0_3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90" name="Google Shape;490;g3f9693ed6dd_0_3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f9693ed6dd_0_4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g3f9693ed6dd_0_4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f9693ed6dd_0_4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f9693ed6dd_0_4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g3f9693ed6dd_0_4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f9693ed6dd_0_4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f9693ed6dd_0_4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g3f9693ed6dd_0_4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f9693ed6dd_0_4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f9693ed6dd_0_5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g3f9693ed6dd_0_5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3f9693ed6dd_0_5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f9693ed6dd_0_5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f9693ed6dd_0_5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g3f9693ed6dd_0_5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f9693ed6dd_0_5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f9693ed6dd_0_5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g3f9693ed6dd_0_5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f9693ed6dd_0_5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f9693ed6dd_0_5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g3f9693ed6dd_0_5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f9693ed6dd_0_5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f9693ed6dd_0_5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g3f9693ed6dd_0_5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f9693ed6dd_0_6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g3f9693ed6dd_0_6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g3f9693ed6dd_0_6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f9693ed6dd_0_7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g3f9693ed6dd_0_7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Boosting.- entrenamiento secuencial</a:t>
            </a:r>
            <a:endParaRPr/>
          </a:p>
        </p:txBody>
      </p:sp>
      <p:sp>
        <p:nvSpPr>
          <p:cNvPr id="601" name="Google Shape;601;g3f9693ed6dd_0_7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f9693ed6dd_0_7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g3f9693ed6dd_0_7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Tasa de aprendizaje</a:t>
            </a:r>
            <a:endParaRPr/>
          </a:p>
        </p:txBody>
      </p:sp>
      <p:sp>
        <p:nvSpPr>
          <p:cNvPr id="610" name="Google Shape;610;g3f9693ed6dd_0_7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f5d67b6a6c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f5d67b6a6c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3f5d67b6a6c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yi​=real; </a:t>
            </a:r>
            <a:r>
              <a:rPr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𝑦 ̂_𝑖</a:t>
            </a:r>
            <a:r>
              <a:rPr lang="en-US"/>
              <a:t>=prediccion; </a:t>
            </a:r>
            <a:r>
              <a:rPr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𝑦┴ˉ</a:t>
            </a:r>
            <a:r>
              <a:rPr lang="en-US"/>
              <a:t>=promedio </a:t>
            </a:r>
            <a:r>
              <a:rPr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𝑦</a:t>
            </a:r>
            <a:r>
              <a:rPr b="0" i="0" lang="en-US" sz="12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;</a:t>
            </a:r>
            <a:r>
              <a:rPr lang="en-US"/>
              <a:t> </a:t>
            </a:r>
            <a:r>
              <a:rPr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𝑛</a:t>
            </a:r>
            <a:r>
              <a:rPr lang="en-US"/>
              <a:t>=observaciones</a:t>
            </a:r>
            <a:endParaRPr/>
          </a:p>
        </p:txBody>
      </p:sp>
      <p:sp>
        <p:nvSpPr>
          <p:cNvPr id="624" name="Google Shape;62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f9693ed6dd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g3f9693ed6dd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f5d67b6a6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f5d67b6a6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g3f5d67b6a6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8b8a8be19d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8b8a8be19d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g38b8a8be19d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f5d67b6a6c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f5d67b6a6c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g3f5d67b6a6c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8b8a8be19d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38b8a8be19d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g38b8a8be19d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8b8a8be19d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8b8a8be19d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g38b8a8be19d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8b8a8be19d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8b8a8be19d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g38b8a8be19d_0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8b8a8be19d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8b8a8be19d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g38b8a8be19d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8b8a8be19d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38b8a8be19d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g38b8a8be19d_0_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8b8a8be19d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8b8a8be19d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g38b8a8be19d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8b8a8be19d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8b8a8be19d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g38b8a8be19d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8b8a8be19d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8b8a8be19d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g38b8a8be19d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8b8a8be19d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38b8a8be19d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g38b8a8be19d_0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8b8a8be19d_0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8b8a8be19d_0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g38b8a8be19d_0_1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8b8a8be19d_0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8b8a8be19d_0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g38b8a8be19d_0_1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8b8a8be19d_0_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8b8a8be19d_0_1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g38b8a8be19d_0_1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8b8a8be19d_0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8b8a8be19d_0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g38b8a8be19d_0_1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8b8a8be19d_0_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38b8a8be19d_0_1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g38b8a8be19d_0_1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8b8a8be19d_0_1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38b8a8be19d_0_1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g38b8a8be19d_0_1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8b8a8be19d_0_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g38b8a8be19d_0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8b8a8be19d_0_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38b8a8be19d_0_1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g38b8a8be19d_0_1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8b8a8be19d_0_2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38b8a8be19d_0_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g38b8a8be19d_0_2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8b8a8be19d_0_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38b8a8be19d_0_1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g38b8a8be19d_0_1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8b8a8be19d_0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38b8a8be19d_0_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g38b8a8be19d_0_1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f64ef6a7af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f64ef6a7af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g3f64ef6a7af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f753beb3c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3f753beb3c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g3f753beb3c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8b8a8be19d_0_2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38b8a8be19d_0_2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g38b8a8be19d_0_2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f753beb3ca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3f753beb3ca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g3f753beb3ca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f6f5e11020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3f6f5e11020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g3f6f5e11020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" name="Google Shape;87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73" name="Google Shape;87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3.jp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Relationship Id="rId4" Type="http://schemas.openxmlformats.org/officeDocument/2006/relationships/image" Target="../media/image13.jpg"/><Relationship Id="rId5" Type="http://schemas.openxmlformats.org/officeDocument/2006/relationships/image" Target="../media/image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4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2.png"/><Relationship Id="rId4" Type="http://schemas.openxmlformats.org/officeDocument/2006/relationships/image" Target="../media/image53.gif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3.gif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gif"/><Relationship Id="rId4" Type="http://schemas.openxmlformats.org/officeDocument/2006/relationships/image" Target="../media/image5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1.png"/><Relationship Id="rId4" Type="http://schemas.openxmlformats.org/officeDocument/2006/relationships/image" Target="../media/image5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.png"/><Relationship Id="rId4" Type="http://schemas.openxmlformats.org/officeDocument/2006/relationships/image" Target="../media/image13.jpg"/><Relationship Id="rId5" Type="http://schemas.openxmlformats.org/officeDocument/2006/relationships/image" Target="../media/image2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70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1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2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3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3.png"/><Relationship Id="rId4" Type="http://schemas.openxmlformats.org/officeDocument/2006/relationships/image" Target="../media/image75.png"/><Relationship Id="rId5" Type="http://schemas.openxmlformats.org/officeDocument/2006/relationships/image" Target="../media/image74.png"/><Relationship Id="rId6" Type="http://schemas.openxmlformats.org/officeDocument/2006/relationships/image" Target="../media/image76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77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77.png"/><Relationship Id="rId4" Type="http://schemas.openxmlformats.org/officeDocument/2006/relationships/image" Target="../media/image71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4.png"/><Relationship Id="rId4" Type="http://schemas.openxmlformats.org/officeDocument/2006/relationships/image" Target="../media/image13.jpg"/><Relationship Id="rId5" Type="http://schemas.openxmlformats.org/officeDocument/2006/relationships/image" Target="../media/image2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png"/><Relationship Id="rId4" Type="http://schemas.openxmlformats.org/officeDocument/2006/relationships/image" Target="../media/image81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2.png"/><Relationship Id="rId4" Type="http://schemas.openxmlformats.org/officeDocument/2006/relationships/image" Target="../media/image83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4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2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2930796" y="1883225"/>
            <a:ext cx="6330407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ASIGNATURA: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5083"/>
                </a:solidFill>
                <a:latin typeface="Poppins"/>
                <a:ea typeface="Poppins"/>
                <a:cs typeface="Poppins"/>
                <a:sym typeface="Poppins"/>
              </a:rPr>
              <a:t>APLICACIONES DE MACHINE LEARNING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4306957" y="4454332"/>
            <a:ext cx="376361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SISTEMAS INTELIGENTES</a:t>
            </a:r>
            <a:endParaRPr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 txBox="1"/>
          <p:nvPr/>
        </p:nvSpPr>
        <p:spPr>
          <a:xfrm>
            <a:off x="4180838" y="852186"/>
            <a:ext cx="585852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5083"/>
                </a:solidFill>
                <a:latin typeface="Poppins"/>
                <a:ea typeface="Poppins"/>
                <a:cs typeface="Poppins"/>
                <a:sym typeface="Poppins"/>
              </a:rPr>
              <a:t>Carlos Saavedra Arancibia</a:t>
            </a:r>
            <a:endParaRPr b="1" sz="2800">
              <a:solidFill>
                <a:srgbClr val="00508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4276940" y="1645065"/>
            <a:ext cx="7159883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Ing. en electrónica y telecomunicaciones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ESPOL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Master of Engineering</a:t>
            </a:r>
            <a:endParaRPr b="1" sz="20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Kyung Hee University</a:t>
            </a:r>
            <a:endParaRPr sz="20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Ph.D. in Global Digital Innovation</a:t>
            </a:r>
            <a:endParaRPr b="1" sz="20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Korea Advanced Institute of Science and Technology</a:t>
            </a:r>
            <a:endParaRPr sz="20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https://www.linkedin.com/in/saavedraarancibia/</a:t>
            </a:r>
            <a:endParaRPr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66697" y="5411192"/>
            <a:ext cx="1502667" cy="98145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/>
          <p:nvPr/>
        </p:nvSpPr>
        <p:spPr>
          <a:xfrm flipH="1">
            <a:off x="3858768" y="0"/>
            <a:ext cx="194733" cy="6858000"/>
          </a:xfrm>
          <a:prstGeom prst="rect">
            <a:avLst/>
          </a:prstGeom>
          <a:solidFill>
            <a:srgbClr val="34C0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630" y="1133721"/>
            <a:ext cx="3676278" cy="3836813"/>
          </a:xfrm>
          <a:prstGeom prst="rect">
            <a:avLst/>
          </a:prstGeom>
          <a:noFill/>
          <a:ln cap="flat" cmpd="sng" w="19050">
            <a:solidFill>
              <a:srgbClr val="34C0C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g3f57a5e7c76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8225" y="1595850"/>
            <a:ext cx="9055075" cy="1982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g3f57a5e7c7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700" y="301313"/>
            <a:ext cx="6831526" cy="62553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4" name="Google Shape;114;g3f57a5e7c76_0_0"/>
          <p:cNvSpPr txBox="1"/>
          <p:nvPr/>
        </p:nvSpPr>
        <p:spPr>
          <a:xfrm>
            <a:off x="7650325" y="2228400"/>
            <a:ext cx="4105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De 8 actividades se reduce a 6 actividades.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Se suprime la evaluación parcial.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La 1era actividad se realiza en la semana 3.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La evaluación final pasa a la semana 7</a:t>
            </a:r>
            <a:r>
              <a:rPr lang="en-US" sz="1600"/>
              <a:t>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Examen atrasado y de recuperación pasa a la semana 8.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g3f57a5e7c76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3575" y="1537677"/>
            <a:ext cx="7194175" cy="2769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192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 txBox="1"/>
          <p:nvPr/>
        </p:nvSpPr>
        <p:spPr>
          <a:xfrm>
            <a:off x="757766" y="567266"/>
            <a:ext cx="847020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5083"/>
                </a:solidFill>
                <a:latin typeface="Poppins"/>
                <a:ea typeface="Poppins"/>
                <a:cs typeface="Poppins"/>
                <a:sym typeface="Poppins"/>
              </a:rPr>
              <a:t>Información general del módulo</a:t>
            </a:r>
            <a:endParaRPr b="1" sz="4000">
              <a:solidFill>
                <a:srgbClr val="00508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757766" y="2435360"/>
            <a:ext cx="93753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Sistema de calificación :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34C0C7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Foro Academico (5 puntos)</a:t>
            </a:r>
            <a:endParaRPr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34C0C7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Cuestionario</a:t>
            </a:r>
            <a:r>
              <a:rPr b="0" i="0" lang="en-U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 ( </a:t>
            </a: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b="0" i="0" lang="en-U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 puntos )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34C0C7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Actividad Integradora 1</a:t>
            </a:r>
            <a:r>
              <a:rPr b="0" i="0" lang="en-U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b="0" i="0" lang="en-U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 puntos ) 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34C0C7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Actividad Integradora 2 (</a:t>
            </a: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r>
              <a:rPr b="0" i="0" lang="en-U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 puntos)</a:t>
            </a:r>
            <a:endParaRPr b="0" i="0" sz="2400" u="none" cap="none" strike="noStrike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34C0C7"/>
              </a:buClr>
              <a:buSzPts val="2400"/>
              <a:buFont typeface="Poppins"/>
              <a:buChar char="•"/>
            </a:pP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Actividad Integradora 3 (25 puntos)</a:t>
            </a:r>
            <a:endParaRPr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34C0C7"/>
              </a:buClr>
              <a:buSzPts val="2400"/>
              <a:buFont typeface="Poppins"/>
              <a:buChar char="•"/>
            </a:pP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Evaluación Final (35 puntos)</a:t>
            </a:r>
            <a:endParaRPr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g3f57a5e7c76_0_6"/>
          <p:cNvPicPr preferRelativeResize="0"/>
          <p:nvPr/>
        </p:nvPicPr>
        <p:blipFill rotWithShape="1">
          <a:blip r:embed="rId3">
            <a:alphaModFix/>
          </a:blip>
          <a:srcRect b="7877" l="0" r="0" t="0"/>
          <a:stretch/>
        </p:blipFill>
        <p:spPr>
          <a:xfrm>
            <a:off x="3341700" y="410425"/>
            <a:ext cx="5508601" cy="60371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g3f57a5e7c76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f57a5e7c76_0_18"/>
          <p:cNvSpPr txBox="1"/>
          <p:nvPr/>
        </p:nvSpPr>
        <p:spPr>
          <a:xfrm>
            <a:off x="757766" y="567266"/>
            <a:ext cx="8470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5083"/>
                </a:solidFill>
                <a:latin typeface="Poppins"/>
                <a:ea typeface="Poppins"/>
                <a:cs typeface="Poppins"/>
                <a:sym typeface="Poppins"/>
              </a:rPr>
              <a:t>Entrega de actividades tardías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1" sz="4000">
              <a:solidFill>
                <a:srgbClr val="00508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g3f57a5e7c76_0_18"/>
          <p:cNvSpPr txBox="1"/>
          <p:nvPr/>
        </p:nvSpPr>
        <p:spPr>
          <a:xfrm>
            <a:off x="876450" y="2081182"/>
            <a:ext cx="104391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2"/>
                </a:solidFill>
                <a:highlight>
                  <a:srgbClr val="FFFFFF"/>
                </a:highlight>
              </a:rPr>
              <a:t>En caso de no poder cumplir con los plazos establecidos para la entrega</a:t>
            </a: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</a:rPr>
              <a:t> de foros, actividades integradoras, cuestionarios u otras tareas, ya sea por calamidad doméstica, caso fortuito, o fuerza mayor debidamente justificados, </a:t>
            </a:r>
            <a:r>
              <a:rPr b="1" lang="en-US" sz="1600">
                <a:solidFill>
                  <a:schemeClr val="accent2"/>
                </a:solidFill>
                <a:highlight>
                  <a:srgbClr val="FFFFFF"/>
                </a:highlight>
              </a:rPr>
              <a:t>deberán comunicarse directamente con su asesor/a académico</a:t>
            </a: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  <a:endParaRPr sz="16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</a:rPr>
              <a:t>La gestión de estas novedades debe realizarse a través de:</a:t>
            </a:r>
            <a:endParaRPr sz="16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</a:rPr>
              <a:t>·         Correo institucional</a:t>
            </a:r>
            <a:endParaRPr sz="16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</a:rPr>
              <a:t>·         WhatsApp (canal oficial de su asesoría)</a:t>
            </a:r>
            <a:endParaRPr sz="16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2"/>
                </a:solidFill>
                <a:highlight>
                  <a:srgbClr val="FFFFFF"/>
                </a:highlight>
              </a:rPr>
              <a:t>El asesor/a académico será el encargado de</a:t>
            </a: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</a:rPr>
              <a:t> poner en conocimiento a la coordinación académica y ellos serán los responsables de analizar su situación, recibir la justificación correspondiente y, de ser procedente, </a:t>
            </a:r>
            <a:r>
              <a:rPr b="1" lang="en-US" sz="1600">
                <a:solidFill>
                  <a:schemeClr val="accent2"/>
                </a:solidFill>
                <a:highlight>
                  <a:srgbClr val="FFFFFF"/>
                </a:highlight>
              </a:rPr>
              <a:t>canalizar la entrega extemporánea de sus actividades</a:t>
            </a: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</a:rPr>
              <a:t> según los lineamientos institucionales.</a:t>
            </a:r>
            <a:r>
              <a:rPr lang="en-US" sz="1600">
                <a:solidFill>
                  <a:schemeClr val="dk1"/>
                </a:solidFill>
              </a:rPr>
              <a:t> </a:t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330"/>
            <a:ext cx="12192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4"/>
          <p:cNvSpPr txBox="1"/>
          <p:nvPr/>
        </p:nvSpPr>
        <p:spPr>
          <a:xfrm>
            <a:off x="757766" y="567266"/>
            <a:ext cx="847020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5083"/>
                </a:solidFill>
                <a:latin typeface="Poppins"/>
                <a:ea typeface="Poppins"/>
                <a:cs typeface="Poppins"/>
                <a:sym typeface="Poppins"/>
              </a:rPr>
              <a:t>Contenido del módulo</a:t>
            </a:r>
            <a:endParaRPr b="1" sz="4000">
              <a:solidFill>
                <a:srgbClr val="00508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47" name="Google Shape;147;p4"/>
          <p:cNvGraphicFramePr/>
          <p:nvPr/>
        </p:nvGraphicFramePr>
        <p:xfrm>
          <a:off x="3575206" y="15675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{E0BA0052-F328-4321-A817-4CDF0A49F5EC}</a:tableStyleId>
              </a:tblPr>
              <a:tblGrid>
                <a:gridCol w="1097775"/>
                <a:gridCol w="3982475"/>
              </a:tblGrid>
              <a:tr h="243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/>
                        <a:t>Unidad</a:t>
                      </a:r>
                      <a:endParaRPr b="1" i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/>
                        <a:t>Nombre Unidad y Subunidades</a:t>
                      </a:r>
                      <a:endParaRPr b="1" i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</a:tr>
              <a:tr h="1401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/>
                        <a:t>1</a:t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Aplicaciones de ML en </a:t>
                      </a:r>
                      <a:r>
                        <a:rPr b="1"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Regresión</a:t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</a:tr>
              <a:tr h="2336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1.1</a:t>
                      </a:r>
                      <a:endParaRPr sz="1600" u="none" cap="none" strike="noStrike"/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Análisis Exploratorio de Datos (EDA)</a:t>
                      </a:r>
                      <a:endParaRPr sz="16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</a:tr>
              <a:tr h="2336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1.</a:t>
                      </a:r>
                      <a:r>
                        <a:rPr lang="en-US" sz="1600"/>
                        <a:t>2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Revisión de modelos y métricas</a:t>
                      </a: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endParaRPr sz="1900"/>
                    </a:p>
                  </a:txBody>
                  <a:tcPr marT="7625" marB="0" marR="7625" marL="7625" anchor="b"/>
                </a:tc>
              </a:tr>
              <a:tr h="233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600"/>
                        <a:t>1.3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Interpretabilidad de features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</a:tr>
              <a:tr h="233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600"/>
                        <a:t>1.4</a:t>
                      </a:r>
                      <a:endParaRPr sz="1900"/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Series de Tiempo</a:t>
                      </a:r>
                      <a:endParaRPr sz="1900"/>
                    </a:p>
                  </a:txBody>
                  <a:tcPr marT="7625" marB="0" marR="7625" marL="7625" anchor="b"/>
                </a:tc>
              </a:tr>
              <a:tr h="2336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600" u="none" cap="none" strike="noStrike"/>
                        <a:t>2</a:t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Aplicaciones de ML en Clasificación</a:t>
                      </a:r>
                      <a:endParaRPr sz="1600"/>
                    </a:p>
                  </a:txBody>
                  <a:tcPr marT="7625" marB="0" marR="7625" marL="7625" anchor="b"/>
                </a:tc>
              </a:tr>
              <a:tr h="2336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2.1</a:t>
                      </a:r>
                      <a:endParaRPr sz="1600" u="none" cap="none" strike="noStrike"/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Revisión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 modelos y 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métricas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</a:tr>
              <a:tr h="2336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2.</a:t>
                      </a:r>
                      <a:r>
                        <a:rPr lang="en-US" sz="1600"/>
                        <a:t>2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andomized 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Search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</a:tr>
              <a:tr h="2433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2.2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Optimización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Bayesiana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</a:tr>
              <a:tr h="2336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/>
                        <a:t>3</a:t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Aplicaciones de</a:t>
                      </a:r>
                      <a:r>
                        <a:rPr b="1"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 ML</a:t>
                      </a:r>
                      <a:r>
                        <a:rPr b="1"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 en Agrupa</a:t>
                      </a:r>
                      <a:r>
                        <a:rPr b="1"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ción</a:t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</a:tr>
              <a:tr h="2336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3.1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Revisión de modelos y métricas</a:t>
                      </a:r>
                      <a:endParaRPr sz="16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</a:tr>
              <a:tr h="2433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3.2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Modelos 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Gaussianos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Mixtos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</a:tr>
              <a:tr h="2336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/>
                        <a:t>4</a:t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Redes Neuronales</a:t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</a:tr>
              <a:tr h="2336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4.1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Fundamentos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</a:tr>
              <a:tr h="2336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4.2</a:t>
                      </a:r>
                      <a:endParaRPr sz="1900"/>
                    </a:p>
                  </a:txBody>
                  <a:tcPr marT="7625" marB="0" marR="7625" marL="76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Implementación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y Aplicaciones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866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5"/>
          <p:cNvPicPr preferRelativeResize="0"/>
          <p:nvPr/>
        </p:nvPicPr>
        <p:blipFill rotWithShape="1">
          <a:blip r:embed="rId4">
            <a:alphaModFix/>
          </a:blip>
          <a:srcRect b="185" l="16381" r="45105" t="1116"/>
          <a:stretch/>
        </p:blipFill>
        <p:spPr>
          <a:xfrm>
            <a:off x="-76200" y="-50801"/>
            <a:ext cx="4038600" cy="696976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/>
          <p:cNvSpPr txBox="1"/>
          <p:nvPr/>
        </p:nvSpPr>
        <p:spPr>
          <a:xfrm>
            <a:off x="4411089" y="1595151"/>
            <a:ext cx="713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5083"/>
                </a:solidFill>
                <a:latin typeface="Poppins"/>
                <a:ea typeface="Poppins"/>
                <a:cs typeface="Poppins"/>
                <a:sym typeface="Poppins"/>
              </a:rPr>
              <a:t>1. </a:t>
            </a:r>
            <a:r>
              <a:rPr b="1" lang="en-US" sz="3000">
                <a:solidFill>
                  <a:srgbClr val="005083"/>
                </a:solidFill>
                <a:latin typeface="Poppins"/>
                <a:ea typeface="Poppins"/>
                <a:cs typeface="Poppins"/>
                <a:sym typeface="Poppins"/>
              </a:rPr>
              <a:t>Aplicaciones de ML en Regresión</a:t>
            </a:r>
            <a:endParaRPr b="1" sz="3000">
              <a:solidFill>
                <a:srgbClr val="00508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4411087" y="2498147"/>
            <a:ext cx="7443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1.1 </a:t>
            </a:r>
            <a:r>
              <a:rPr b="1"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Análisis Exploratorio de Datos (EDA)</a:t>
            </a:r>
            <a:r>
              <a:rPr b="1"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1.2 </a:t>
            </a: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Revisión de modelos y métricas</a:t>
            </a:r>
            <a:r>
              <a:rPr lang="en-US" sz="1600">
                <a:solidFill>
                  <a:schemeClr val="dk1"/>
                </a:solidFill>
              </a:rPr>
              <a:t>  </a:t>
            </a:r>
            <a:endParaRPr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1.3 </a:t>
            </a: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Interpretabilidad de features</a:t>
            </a:r>
            <a:endParaRPr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1.4 Series de Tiempo</a:t>
            </a:r>
            <a:endParaRPr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6" name="Google Shape;15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66697" y="5411192"/>
            <a:ext cx="1502667" cy="98145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/>
          <p:nvPr/>
        </p:nvSpPr>
        <p:spPr>
          <a:xfrm flipH="1">
            <a:off x="3858768" y="0"/>
            <a:ext cx="194733" cy="6858000"/>
          </a:xfrm>
          <a:prstGeom prst="rect">
            <a:avLst/>
          </a:prstGeom>
          <a:solidFill>
            <a:srgbClr val="34C0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5995f7397_0_9"/>
          <p:cNvSpPr txBox="1"/>
          <p:nvPr/>
        </p:nvSpPr>
        <p:spPr>
          <a:xfrm>
            <a:off x="1094625" y="822725"/>
            <a:ext cx="9303300" cy="1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Exploratory Data Analysis (EDA)</a:t>
            </a:r>
            <a:r>
              <a:rPr lang="en-US" sz="1900">
                <a:solidFill>
                  <a:schemeClr val="dk1"/>
                </a:solidFill>
              </a:rPr>
              <a:t> es el proceso de examinar un conjunto de datos para comprender su estructura, calidad, patrones y relaciones antes de construir modelos de Machine Learning. 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f5995f7397_0_9"/>
          <p:cNvSpPr txBox="1"/>
          <p:nvPr/>
        </p:nvSpPr>
        <p:spPr>
          <a:xfrm>
            <a:off x="1094625" y="2399550"/>
            <a:ext cx="5385900" cy="20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Nos sirve para: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Saber </a:t>
            </a:r>
            <a:r>
              <a:rPr lang="en-US" sz="1900">
                <a:solidFill>
                  <a:schemeClr val="dk1"/>
                </a:solidFill>
              </a:rPr>
              <a:t>qué</a:t>
            </a:r>
            <a:r>
              <a:rPr lang="en-US" sz="1900">
                <a:solidFill>
                  <a:schemeClr val="dk1"/>
                </a:solidFill>
              </a:rPr>
              <a:t> </a:t>
            </a:r>
            <a:r>
              <a:rPr lang="en-US" sz="1900">
                <a:solidFill>
                  <a:schemeClr val="dk1"/>
                </a:solidFill>
              </a:rPr>
              <a:t>información</a:t>
            </a:r>
            <a:r>
              <a:rPr lang="en-US" sz="1900">
                <a:solidFill>
                  <a:schemeClr val="dk1"/>
                </a:solidFill>
              </a:rPr>
              <a:t> contiene el dataset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Tipos de variables y transformaciones a usar.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Datos Outliers, Rangos, Distribuciones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Analisis bivariado, correlaciones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Desbalances de </a:t>
            </a:r>
            <a:r>
              <a:rPr lang="en-US" sz="1900">
                <a:solidFill>
                  <a:schemeClr val="dk1"/>
                </a:solidFill>
              </a:rPr>
              <a:t>Clases</a:t>
            </a:r>
            <a:r>
              <a:rPr lang="en-US" sz="1900">
                <a:solidFill>
                  <a:schemeClr val="dk1"/>
                </a:solidFill>
              </a:rPr>
              <a:t> 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g3f5995f7397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4100" y="1898525"/>
            <a:ext cx="4063824" cy="370849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5995f7397_0_200"/>
          <p:cNvSpPr txBox="1"/>
          <p:nvPr/>
        </p:nvSpPr>
        <p:spPr>
          <a:xfrm>
            <a:off x="3461775" y="523425"/>
            <a:ext cx="44526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Conocer el dataset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f5995f7397_0_200"/>
          <p:cNvSpPr txBox="1"/>
          <p:nvPr/>
        </p:nvSpPr>
        <p:spPr>
          <a:xfrm>
            <a:off x="1143625" y="1771975"/>
            <a:ext cx="4452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df.head()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Muestra las primeras cinco filas. </a:t>
            </a:r>
            <a:endParaRPr sz="2000"/>
          </a:p>
        </p:txBody>
      </p:sp>
      <p:sp>
        <p:nvSpPr>
          <p:cNvPr id="173" name="Google Shape;173;g3f5995f7397_0_200"/>
          <p:cNvSpPr txBox="1"/>
          <p:nvPr/>
        </p:nvSpPr>
        <p:spPr>
          <a:xfrm>
            <a:off x="6754550" y="1771963"/>
            <a:ext cx="46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df.tail()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Muestra las últimas cinco filas.</a:t>
            </a:r>
            <a:endParaRPr sz="2000"/>
          </a:p>
        </p:txBody>
      </p:sp>
      <p:sp>
        <p:nvSpPr>
          <p:cNvPr id="174" name="Google Shape;174;g3f5995f7397_0_200"/>
          <p:cNvSpPr txBox="1"/>
          <p:nvPr/>
        </p:nvSpPr>
        <p:spPr>
          <a:xfrm>
            <a:off x="6460300" y="3342813"/>
            <a:ext cx="46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df.sample(5)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Muestra cinco registros aleatorios. </a:t>
            </a:r>
            <a:endParaRPr sz="2000"/>
          </a:p>
        </p:txBody>
      </p:sp>
      <p:sp>
        <p:nvSpPr>
          <p:cNvPr id="175" name="Google Shape;175;g3f5995f7397_0_200"/>
          <p:cNvSpPr txBox="1"/>
          <p:nvPr/>
        </p:nvSpPr>
        <p:spPr>
          <a:xfrm>
            <a:off x="1143625" y="3035025"/>
            <a:ext cx="4452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df.shape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Devuelve el número de filas y columnas del dataset. </a:t>
            </a:r>
            <a:endParaRPr sz="2000"/>
          </a:p>
        </p:txBody>
      </p:sp>
      <p:sp>
        <p:nvSpPr>
          <p:cNvPr id="176" name="Google Shape;176;g3f5995f7397_0_200"/>
          <p:cNvSpPr txBox="1"/>
          <p:nvPr/>
        </p:nvSpPr>
        <p:spPr>
          <a:xfrm>
            <a:off x="4014975" y="5227038"/>
            <a:ext cx="46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df.columns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Muestra los nombres de las columnas. 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5995f7397_0_19"/>
          <p:cNvSpPr txBox="1"/>
          <p:nvPr/>
        </p:nvSpPr>
        <p:spPr>
          <a:xfrm>
            <a:off x="3774075" y="523425"/>
            <a:ext cx="36657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Variable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f5995f7397_0_19"/>
          <p:cNvSpPr txBox="1"/>
          <p:nvPr/>
        </p:nvSpPr>
        <p:spPr>
          <a:xfrm>
            <a:off x="1084675" y="1912475"/>
            <a:ext cx="4452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df.info()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# de filas, # de columnas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tipo de dato de cada variable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cantidad de valores no nulos </a:t>
            </a:r>
            <a:endParaRPr sz="2000"/>
          </a:p>
        </p:txBody>
      </p:sp>
      <p:sp>
        <p:nvSpPr>
          <p:cNvPr id="184" name="Google Shape;184;g3f5995f7397_0_19"/>
          <p:cNvSpPr txBox="1"/>
          <p:nvPr/>
        </p:nvSpPr>
        <p:spPr>
          <a:xfrm>
            <a:off x="6200525" y="2066375"/>
            <a:ext cx="4452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df.dtypes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Muestra el tipo de dato de cada columna</a:t>
            </a:r>
            <a:r>
              <a:rPr lang="en-US" sz="2000"/>
              <a:t> </a:t>
            </a:r>
            <a:endParaRPr sz="2000"/>
          </a:p>
        </p:txBody>
      </p:sp>
      <p:sp>
        <p:nvSpPr>
          <p:cNvPr id="185" name="Google Shape;185;g3f5995f7397_0_19"/>
          <p:cNvSpPr txBox="1"/>
          <p:nvPr/>
        </p:nvSpPr>
        <p:spPr>
          <a:xfrm>
            <a:off x="6200525" y="4000225"/>
            <a:ext cx="4645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df.select_dtypes(include="number")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Selecciona únicamente las columnas numéricas </a:t>
            </a:r>
            <a:endParaRPr sz="2000"/>
          </a:p>
        </p:txBody>
      </p:sp>
      <p:sp>
        <p:nvSpPr>
          <p:cNvPr id="186" name="Google Shape;186;g3f5995f7397_0_19"/>
          <p:cNvSpPr txBox="1"/>
          <p:nvPr/>
        </p:nvSpPr>
        <p:spPr>
          <a:xfrm>
            <a:off x="1143450" y="4000225"/>
            <a:ext cx="4645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df.select_dtypes(include="</a:t>
            </a:r>
            <a:r>
              <a:rPr b="1" lang="en-US" sz="2000">
                <a:solidFill>
                  <a:schemeClr val="accent5"/>
                </a:solidFill>
              </a:rPr>
              <a:t>object </a:t>
            </a:r>
            <a:r>
              <a:rPr b="1" lang="en-US" sz="2000">
                <a:solidFill>
                  <a:schemeClr val="accent5"/>
                </a:solidFill>
              </a:rPr>
              <a:t>")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Selecciona únicamente las columnas </a:t>
            </a:r>
            <a:r>
              <a:rPr lang="en-US" sz="2000"/>
              <a:t>categóricas</a:t>
            </a:r>
            <a:r>
              <a:rPr lang="en-US" sz="2000"/>
              <a:t> (texto)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5995f7397_0_38"/>
          <p:cNvSpPr txBox="1"/>
          <p:nvPr/>
        </p:nvSpPr>
        <p:spPr>
          <a:xfrm>
            <a:off x="3774075" y="523425"/>
            <a:ext cx="36657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Calidad de Datos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5995f7397_0_38"/>
          <p:cNvSpPr txBox="1"/>
          <p:nvPr/>
        </p:nvSpPr>
        <p:spPr>
          <a:xfrm>
            <a:off x="3372025" y="1754250"/>
            <a:ext cx="4746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</a:t>
            </a:r>
            <a:r>
              <a:rPr b="1" lang="en-US" sz="2000">
                <a:solidFill>
                  <a:schemeClr val="accent5"/>
                </a:solidFill>
              </a:rPr>
              <a:t>.duplicated().sum()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Cuenta cuántas filas duplicadas existen. </a:t>
            </a:r>
            <a:endParaRPr sz="2000"/>
          </a:p>
        </p:txBody>
      </p:sp>
      <p:sp>
        <p:nvSpPr>
          <p:cNvPr id="194" name="Google Shape;194;g3f5995f7397_0_38"/>
          <p:cNvSpPr txBox="1"/>
          <p:nvPr/>
        </p:nvSpPr>
        <p:spPr>
          <a:xfrm>
            <a:off x="1627900" y="3690416"/>
            <a:ext cx="8763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df.drop_duplicates(inplace=True)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Elimina las filas duplicadas que sean exactamente iguales en todo el DF</a:t>
            </a:r>
            <a:r>
              <a:rPr lang="en-US" sz="1100">
                <a:solidFill>
                  <a:schemeClr val="dk1"/>
                </a:solidFill>
              </a:rPr>
              <a:t>. </a:t>
            </a:r>
            <a:endParaRPr sz="2000"/>
          </a:p>
        </p:txBody>
      </p:sp>
      <p:sp>
        <p:nvSpPr>
          <p:cNvPr id="195" name="Google Shape;195;g3f5995f7397_0_38"/>
          <p:cNvSpPr txBox="1"/>
          <p:nvPr/>
        </p:nvSpPr>
        <p:spPr>
          <a:xfrm>
            <a:off x="3635950" y="2722338"/>
            <a:ext cx="4746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df[df.duplicated(keep=False)]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Muestra las filas duplicadas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5995f7397_0_225"/>
          <p:cNvSpPr txBox="1"/>
          <p:nvPr/>
        </p:nvSpPr>
        <p:spPr>
          <a:xfrm>
            <a:off x="3578438" y="5010033"/>
            <a:ext cx="46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df.replace("?", np.nan, inplace=True)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Reemplazar los ? por nan</a:t>
            </a:r>
            <a:endParaRPr sz="2000"/>
          </a:p>
        </p:txBody>
      </p:sp>
      <p:sp>
        <p:nvSpPr>
          <p:cNvPr id="202" name="Google Shape;202;g3f5995f7397_0_225"/>
          <p:cNvSpPr txBox="1"/>
          <p:nvPr/>
        </p:nvSpPr>
        <p:spPr>
          <a:xfrm>
            <a:off x="3716988" y="1085754"/>
            <a:ext cx="46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(df == "?").sum()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Buscar Valores </a:t>
            </a:r>
            <a:r>
              <a:rPr b="1" lang="en-US" sz="2000"/>
              <a:t>?</a:t>
            </a:r>
            <a:r>
              <a:rPr lang="en-US" sz="2000"/>
              <a:t> </a:t>
            </a:r>
            <a:endParaRPr sz="2000"/>
          </a:p>
        </p:txBody>
      </p:sp>
      <p:sp>
        <p:nvSpPr>
          <p:cNvPr id="203" name="Google Shape;203;g3f5995f7397_0_225"/>
          <p:cNvSpPr txBox="1"/>
          <p:nvPr/>
        </p:nvSpPr>
        <p:spPr>
          <a:xfrm>
            <a:off x="3773088" y="2389798"/>
            <a:ext cx="46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df[(df == "?").any(axis=1)]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Muestra las filas/</a:t>
            </a:r>
            <a:r>
              <a:rPr lang="en-US" sz="2000"/>
              <a:t>ubicación</a:t>
            </a:r>
            <a:r>
              <a:rPr lang="en-US" sz="2000"/>
              <a:t> </a:t>
            </a:r>
            <a:r>
              <a:rPr b="1" lang="en-US" sz="2000"/>
              <a:t>?</a:t>
            </a:r>
            <a:r>
              <a:rPr lang="en-US" sz="2000"/>
              <a:t> </a:t>
            </a:r>
            <a:endParaRPr sz="2000"/>
          </a:p>
        </p:txBody>
      </p:sp>
      <p:sp>
        <p:nvSpPr>
          <p:cNvPr id="204" name="Google Shape;204;g3f5995f7397_0_225"/>
          <p:cNvSpPr txBox="1"/>
          <p:nvPr/>
        </p:nvSpPr>
        <p:spPr>
          <a:xfrm>
            <a:off x="3773088" y="3647964"/>
            <a:ext cx="46458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df["native-country"].unique()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Valores Unicos</a:t>
            </a:r>
            <a:r>
              <a:rPr lang="en-US" sz="2000"/>
              <a:t> 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5995f7397_0_118"/>
          <p:cNvSpPr txBox="1"/>
          <p:nvPr/>
        </p:nvSpPr>
        <p:spPr>
          <a:xfrm>
            <a:off x="3774075" y="523425"/>
            <a:ext cx="41736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 Faltantes 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f5995f7397_0_118"/>
          <p:cNvSpPr txBox="1"/>
          <p:nvPr/>
        </p:nvSpPr>
        <p:spPr>
          <a:xfrm>
            <a:off x="1084675" y="3336867"/>
            <a:ext cx="8556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df.isnull().sum()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Cuenta los valores </a:t>
            </a:r>
            <a:r>
              <a:rPr b="1" lang="en-US" sz="2000"/>
              <a:t>nan/faltantes</a:t>
            </a:r>
            <a:r>
              <a:rPr lang="en-US" sz="2000"/>
              <a:t> por columna. </a:t>
            </a:r>
            <a:endParaRPr sz="2000"/>
          </a:p>
        </p:txBody>
      </p:sp>
      <p:sp>
        <p:nvSpPr>
          <p:cNvPr id="212" name="Google Shape;212;g3f5995f7397_0_118"/>
          <p:cNvSpPr txBox="1"/>
          <p:nvPr/>
        </p:nvSpPr>
        <p:spPr>
          <a:xfrm>
            <a:off x="1860625" y="5557956"/>
            <a:ext cx="7620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df.dropna(inplace=True)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Elimina filas con valores faltantes.</a:t>
            </a:r>
            <a:endParaRPr sz="2000"/>
          </a:p>
        </p:txBody>
      </p:sp>
      <p:sp>
        <p:nvSpPr>
          <p:cNvPr id="213" name="Google Shape;213;g3f5995f7397_0_118"/>
          <p:cNvSpPr txBox="1"/>
          <p:nvPr/>
        </p:nvSpPr>
        <p:spPr>
          <a:xfrm>
            <a:off x="2758075" y="1160250"/>
            <a:ext cx="64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valores faltantes pueden afectar el análisis y el entrenamiento de modelos. </a:t>
            </a:r>
            <a:endParaRPr/>
          </a:p>
        </p:txBody>
      </p:sp>
      <p:sp>
        <p:nvSpPr>
          <p:cNvPr id="214" name="Google Shape;214;g3f5995f7397_0_118"/>
          <p:cNvSpPr txBox="1"/>
          <p:nvPr/>
        </p:nvSpPr>
        <p:spPr>
          <a:xfrm>
            <a:off x="1346650" y="1958811"/>
            <a:ext cx="8556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df.isnull()</a:t>
            </a:r>
            <a:r>
              <a:rPr b="1" lang="en-US" sz="2000">
                <a:solidFill>
                  <a:schemeClr val="accent5"/>
                </a:solidFill>
              </a:rPr>
              <a:t>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Evalúa cada celda del DF y devuelve una matriz booleana del mismo tamaño, donde True indica valor </a:t>
            </a:r>
            <a:r>
              <a:rPr b="1" lang="en-US" sz="2000"/>
              <a:t>nan/faltante.</a:t>
            </a:r>
            <a:endParaRPr b="1" sz="2000"/>
          </a:p>
        </p:txBody>
      </p:sp>
      <p:sp>
        <p:nvSpPr>
          <p:cNvPr id="215" name="Google Shape;215;g3f5995f7397_0_118"/>
          <p:cNvSpPr txBox="1"/>
          <p:nvPr/>
        </p:nvSpPr>
        <p:spPr>
          <a:xfrm>
            <a:off x="1346650" y="4562992"/>
            <a:ext cx="8556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df.isnull().mean()*100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Porcentaje de valores nulos o faltantes 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5995f7397_0_139"/>
          <p:cNvSpPr txBox="1"/>
          <p:nvPr/>
        </p:nvSpPr>
        <p:spPr>
          <a:xfrm>
            <a:off x="3774075" y="523425"/>
            <a:ext cx="41736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Outliers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f5995f7397_0_139"/>
          <p:cNvSpPr txBox="1"/>
          <p:nvPr/>
        </p:nvSpPr>
        <p:spPr>
          <a:xfrm>
            <a:off x="1084675" y="3336867"/>
            <a:ext cx="8556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Q1 = df["age"].quantile(0.25)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Q3 = df["age"].quantile(0.75)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Calcula el primer y tercer cuartil. </a:t>
            </a:r>
            <a:r>
              <a:rPr lang="en-US" sz="2000"/>
              <a:t>. </a:t>
            </a:r>
            <a:endParaRPr sz="2000"/>
          </a:p>
        </p:txBody>
      </p:sp>
      <p:sp>
        <p:nvSpPr>
          <p:cNvPr id="223" name="Google Shape;223;g3f5995f7397_0_139"/>
          <p:cNvSpPr txBox="1"/>
          <p:nvPr/>
        </p:nvSpPr>
        <p:spPr>
          <a:xfrm>
            <a:off x="2758075" y="1160250"/>
            <a:ext cx="64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</a:t>
            </a:r>
            <a:r>
              <a:rPr lang="en-US"/>
              <a:t>bservaciones muy alejadas del comportamiento general de los datos </a:t>
            </a:r>
            <a:endParaRPr/>
          </a:p>
        </p:txBody>
      </p:sp>
      <p:sp>
        <p:nvSpPr>
          <p:cNvPr id="224" name="Google Shape;224;g3f5995f7397_0_139"/>
          <p:cNvSpPr txBox="1"/>
          <p:nvPr/>
        </p:nvSpPr>
        <p:spPr>
          <a:xfrm>
            <a:off x="1346650" y="1958811"/>
            <a:ext cx="85563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accent5"/>
                </a:solidFill>
              </a:rPr>
              <a:t>df.select_dtypes(include="number").columns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sns.boxplot(x=df["age"])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Permite visualizar posibles valores atípicos. 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g3f5995f7397_0_2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2738" y="775850"/>
            <a:ext cx="6486525" cy="16097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1" name="Google Shape;231;g3f5995f7397_0_241"/>
          <p:cNvSpPr txBox="1"/>
          <p:nvPr/>
        </p:nvSpPr>
        <p:spPr>
          <a:xfrm>
            <a:off x="1983675" y="3030675"/>
            <a:ext cx="82731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Borde izquierdo (Q1):</a:t>
            </a:r>
            <a:r>
              <a:rPr lang="en-US" sz="1600">
                <a:solidFill>
                  <a:schemeClr val="dk1"/>
                </a:solidFill>
              </a:rPr>
              <a:t> El </a:t>
            </a:r>
            <a:r>
              <a:rPr b="1" lang="en-US" sz="1600">
                <a:solidFill>
                  <a:schemeClr val="dk1"/>
                </a:solidFill>
              </a:rPr>
              <a:t>25%</a:t>
            </a:r>
            <a:r>
              <a:rPr lang="en-US" sz="1600">
                <a:solidFill>
                  <a:schemeClr val="dk1"/>
                </a:solidFill>
              </a:rPr>
              <a:t> de los </a:t>
            </a:r>
            <a:r>
              <a:rPr lang="en-US" sz="1600">
                <a:solidFill>
                  <a:schemeClr val="dk1"/>
                </a:solidFill>
              </a:rPr>
              <a:t>salarios </a:t>
            </a:r>
            <a:r>
              <a:rPr lang="en-US" sz="1600">
                <a:solidFill>
                  <a:schemeClr val="dk1"/>
                </a:solidFill>
              </a:rPr>
              <a:t>está por debajo de este valor.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Línea en el medio (Mediana / Q2):</a:t>
            </a:r>
            <a:r>
              <a:rPr lang="en-US" sz="1600">
                <a:solidFill>
                  <a:schemeClr val="dk1"/>
                </a:solidFill>
              </a:rPr>
              <a:t> El punto medio (50%). La mitad gana más y la otra mitad gana menos.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Borde derecho (Q3):</a:t>
            </a:r>
            <a:r>
              <a:rPr lang="en-US" sz="1600">
                <a:solidFill>
                  <a:schemeClr val="dk1"/>
                </a:solidFill>
              </a:rPr>
              <a:t> El </a:t>
            </a:r>
            <a:r>
              <a:rPr b="1" lang="en-US" sz="1600">
                <a:solidFill>
                  <a:schemeClr val="dk1"/>
                </a:solidFill>
              </a:rPr>
              <a:t>75%</a:t>
            </a:r>
            <a:r>
              <a:rPr lang="en-US" sz="1600">
                <a:solidFill>
                  <a:schemeClr val="dk1"/>
                </a:solidFill>
              </a:rPr>
              <a:t> de los salarios está por debajo de este valor.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</a:rPr>
              <a:t>La anchura de la caja representa el 50% central de todos los datos.</a:t>
            </a:r>
            <a:endParaRPr i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Los Bigotes (Líneas a los lados): </a:t>
            </a:r>
            <a:r>
              <a:rPr lang="en-US" sz="1600">
                <a:solidFill>
                  <a:schemeClr val="dk1"/>
                </a:solidFill>
              </a:rPr>
              <a:t>Se extienden hasta los valores mínimo y máximo que </a:t>
            </a:r>
            <a:r>
              <a:rPr b="1" lang="en-US" sz="1600">
                <a:solidFill>
                  <a:schemeClr val="dk1"/>
                </a:solidFill>
              </a:rPr>
              <a:t>no</a:t>
            </a:r>
            <a:r>
              <a:rPr lang="en-US" sz="1600">
                <a:solidFill>
                  <a:schemeClr val="dk1"/>
                </a:solidFill>
              </a:rPr>
              <a:t> se consideran extremos.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-US" sz="1600">
                <a:solidFill>
                  <a:schemeClr val="dk1"/>
                </a:solidFill>
              </a:rPr>
              <a:t>Outliers</a:t>
            </a:r>
            <a:r>
              <a:rPr b="1" lang="en-US" sz="1600">
                <a:solidFill>
                  <a:schemeClr val="dk1"/>
                </a:solidFill>
              </a:rPr>
              <a:t> / Valores atípicos): </a:t>
            </a:r>
            <a:r>
              <a:rPr lang="en-US" sz="1600">
                <a:solidFill>
                  <a:schemeClr val="dk1"/>
                </a:solidFill>
              </a:rPr>
              <a:t>Son puntos aislados fuera de los bigotes que representan salarios inusualmente altos o bajos en comparación con el resto.</a:t>
            </a:r>
            <a:endParaRPr i="1" sz="1600">
              <a:solidFill>
                <a:schemeClr val="dk1"/>
              </a:solidFill>
            </a:endParaRPr>
          </a:p>
        </p:txBody>
      </p:sp>
      <p:sp>
        <p:nvSpPr>
          <p:cNvPr id="232" name="Google Shape;232;g3f5995f7397_0_241"/>
          <p:cNvSpPr txBox="1"/>
          <p:nvPr/>
        </p:nvSpPr>
        <p:spPr>
          <a:xfrm>
            <a:off x="5505525" y="242025"/>
            <a:ext cx="122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salarios 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5995f7397_0_68"/>
          <p:cNvSpPr txBox="1"/>
          <p:nvPr/>
        </p:nvSpPr>
        <p:spPr>
          <a:xfrm>
            <a:off x="3774075" y="523425"/>
            <a:ext cx="41736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Estadistica Descriptiva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f5995f7397_0_68"/>
          <p:cNvSpPr txBox="1"/>
          <p:nvPr/>
        </p:nvSpPr>
        <p:spPr>
          <a:xfrm>
            <a:off x="1084675" y="1912475"/>
            <a:ext cx="4452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df.describe()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Calcula media, </a:t>
            </a:r>
            <a:r>
              <a:rPr lang="en-US" sz="2000"/>
              <a:t>desviación</a:t>
            </a:r>
            <a:r>
              <a:rPr lang="en-US" sz="2000"/>
              <a:t> </a:t>
            </a:r>
            <a:r>
              <a:rPr lang="en-US" sz="2000"/>
              <a:t>estándar</a:t>
            </a:r>
            <a:r>
              <a:rPr lang="en-US" sz="2000"/>
              <a:t>, minimo, maximo, cuartiles.</a:t>
            </a:r>
            <a:endParaRPr sz="2000"/>
          </a:p>
        </p:txBody>
      </p:sp>
      <p:sp>
        <p:nvSpPr>
          <p:cNvPr id="240" name="Google Shape;240;g3f5995f7397_0_68"/>
          <p:cNvSpPr txBox="1"/>
          <p:nvPr/>
        </p:nvSpPr>
        <p:spPr>
          <a:xfrm>
            <a:off x="5995325" y="2066375"/>
            <a:ext cx="5089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df.describe(include="all")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Incluye variables numéricas y categóricas. </a:t>
            </a:r>
            <a:endParaRPr sz="2000"/>
          </a:p>
        </p:txBody>
      </p:sp>
      <p:sp>
        <p:nvSpPr>
          <p:cNvPr id="241" name="Google Shape;241;g3f5995f7397_0_68"/>
          <p:cNvSpPr txBox="1"/>
          <p:nvPr/>
        </p:nvSpPr>
        <p:spPr>
          <a:xfrm>
            <a:off x="3537975" y="3788663"/>
            <a:ext cx="464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df["age"] .mean()</a:t>
            </a:r>
            <a:endParaRPr sz="2000"/>
          </a:p>
        </p:txBody>
      </p:sp>
      <p:sp>
        <p:nvSpPr>
          <p:cNvPr id="242" name="Google Shape;242;g3f5995f7397_0_68"/>
          <p:cNvSpPr txBox="1"/>
          <p:nvPr/>
        </p:nvSpPr>
        <p:spPr>
          <a:xfrm>
            <a:off x="3022575" y="1160243"/>
            <a:ext cx="567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Resume las principales características estadísticas de las variables.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5995f7397_0_183"/>
          <p:cNvSpPr txBox="1"/>
          <p:nvPr/>
        </p:nvSpPr>
        <p:spPr>
          <a:xfrm>
            <a:off x="2758075" y="483575"/>
            <a:ext cx="61857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Desbalance de Clases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f5995f7397_0_183"/>
          <p:cNvSpPr txBox="1"/>
          <p:nvPr/>
        </p:nvSpPr>
        <p:spPr>
          <a:xfrm>
            <a:off x="1127500" y="3554046"/>
            <a:ext cx="8556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df["</a:t>
            </a:r>
            <a:r>
              <a:rPr b="1" lang="en-US" sz="2000">
                <a:solidFill>
                  <a:schemeClr val="accent5"/>
                </a:solidFill>
              </a:rPr>
              <a:t>income</a:t>
            </a:r>
            <a:r>
              <a:rPr b="1" lang="en-US" sz="2000">
                <a:solidFill>
                  <a:schemeClr val="accent5"/>
                </a:solidFill>
              </a:rPr>
              <a:t>"].value_counts(normalize=True)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Calcula el porcentaje de cada clase</a:t>
            </a:r>
            <a:endParaRPr sz="2000"/>
          </a:p>
        </p:txBody>
      </p:sp>
      <p:sp>
        <p:nvSpPr>
          <p:cNvPr id="250" name="Google Shape;250;g3f5995f7397_0_183"/>
          <p:cNvSpPr txBox="1"/>
          <p:nvPr/>
        </p:nvSpPr>
        <p:spPr>
          <a:xfrm>
            <a:off x="2758075" y="1160250"/>
            <a:ext cx="64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</a:t>
            </a:r>
            <a:r>
              <a:rPr lang="en-US"/>
              <a:t>uando una clase tiene muchas más observaciones que otra. </a:t>
            </a:r>
            <a:endParaRPr/>
          </a:p>
        </p:txBody>
      </p:sp>
      <p:sp>
        <p:nvSpPr>
          <p:cNvPr id="251" name="Google Shape;251;g3f5995f7397_0_183"/>
          <p:cNvSpPr txBox="1"/>
          <p:nvPr/>
        </p:nvSpPr>
        <p:spPr>
          <a:xfrm>
            <a:off x="1346650" y="2180269"/>
            <a:ext cx="8556300" cy="11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accent5"/>
                </a:solidFill>
              </a:rPr>
              <a:t>df["income"].unique()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df["</a:t>
            </a:r>
            <a:r>
              <a:rPr b="1" lang="en-US" sz="2000">
                <a:solidFill>
                  <a:schemeClr val="accent5"/>
                </a:solidFill>
              </a:rPr>
              <a:t>income</a:t>
            </a:r>
            <a:r>
              <a:rPr b="1" lang="en-US" sz="2000">
                <a:solidFill>
                  <a:schemeClr val="accent5"/>
                </a:solidFill>
              </a:rPr>
              <a:t>"].value_counts()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Cuenta cuántas observaciones existen en cada categoría de la variable objetivo. 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9693ed6dd_0_0"/>
          <p:cNvSpPr txBox="1"/>
          <p:nvPr/>
        </p:nvSpPr>
        <p:spPr>
          <a:xfrm>
            <a:off x="1817850" y="730336"/>
            <a:ext cx="8556300" cy="132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sns.countplot(data=df, x="income")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(df["income"].value_counts(normalize=True) * 100).plot(kind="bar")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Genera un gráfico de barras mostrando cuántos registros pertenecen a cada clase. </a:t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Muestra el porcentaje de cada clase mediante un gráfico de barras. </a:t>
            </a:r>
            <a:endParaRPr sz="1700"/>
          </a:p>
        </p:txBody>
      </p:sp>
      <p:sp>
        <p:nvSpPr>
          <p:cNvPr id="258" name="Google Shape;258;g3f9693ed6dd_0_0"/>
          <p:cNvSpPr txBox="1"/>
          <p:nvPr/>
        </p:nvSpPr>
        <p:spPr>
          <a:xfrm>
            <a:off x="626400" y="2454500"/>
            <a:ext cx="109392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sns.</a:t>
            </a:r>
            <a:r>
              <a:rPr lang="en-US" sz="1900">
                <a:solidFill>
                  <a:schemeClr val="dk1"/>
                </a:solidFill>
              </a:rPr>
              <a:t>: Es el alias estándar para llamar a la librería de visualización </a:t>
            </a:r>
            <a:r>
              <a:rPr b="1" lang="en-US" sz="1900">
                <a:solidFill>
                  <a:schemeClr val="dk1"/>
                </a:solidFill>
              </a:rPr>
              <a:t>Seaborn</a:t>
            </a:r>
            <a:r>
              <a:rPr lang="en-US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countplot(...)</a:t>
            </a:r>
            <a:r>
              <a:rPr lang="en-US" sz="1900">
                <a:solidFill>
                  <a:schemeClr val="dk1"/>
                </a:solidFill>
              </a:rPr>
              <a:t>: Es la función que cuenta automáticamente la cantidad de apariciones de cada elemento en una columna categórica y dibuja una barra para cada uno.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data=df</a:t>
            </a:r>
            <a:r>
              <a:rPr lang="en-US" sz="1900">
                <a:solidFill>
                  <a:schemeClr val="dk1"/>
                </a:solidFill>
              </a:rPr>
              <a:t>: Especifica la fuente de datos, en nuestro ejemplo </a:t>
            </a:r>
            <a:r>
              <a:rPr b="1"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</a:t>
            </a:r>
            <a:r>
              <a:rPr lang="en-US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x="income"</a:t>
            </a:r>
            <a:r>
              <a:rPr lang="en-US" sz="1900">
                <a:solidFill>
                  <a:schemeClr val="dk1"/>
                </a:solidFill>
              </a:rPr>
              <a:t>: Establece que los valores únicos de la columna 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"income"</a:t>
            </a:r>
            <a:r>
              <a:rPr lang="en-US" sz="1900">
                <a:solidFill>
                  <a:schemeClr val="dk1"/>
                </a:solidFill>
              </a:rPr>
              <a:t> se colocarán en el </a:t>
            </a:r>
            <a:r>
              <a:rPr b="1" lang="en-US" sz="1900">
                <a:solidFill>
                  <a:schemeClr val="dk1"/>
                </a:solidFill>
              </a:rPr>
              <a:t>eje X</a:t>
            </a:r>
            <a:r>
              <a:rPr lang="en-US" sz="1900">
                <a:solidFill>
                  <a:schemeClr val="dk1"/>
                </a:solidFill>
              </a:rPr>
              <a:t> (eje horizontal). El </a:t>
            </a:r>
            <a:r>
              <a:rPr b="1" lang="en-US" sz="1900">
                <a:solidFill>
                  <a:schemeClr val="dk1"/>
                </a:solidFill>
              </a:rPr>
              <a:t>eje Y</a:t>
            </a:r>
            <a:r>
              <a:rPr lang="en-US" sz="1900">
                <a:solidFill>
                  <a:schemeClr val="dk1"/>
                </a:solidFill>
              </a:rPr>
              <a:t> (eje vertical) mostrará automáticamente la cantidad o conteo de registros.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normalize=True</a:t>
            </a:r>
            <a:r>
              <a:rPr lang="en-US" sz="1900">
                <a:solidFill>
                  <a:schemeClr val="dk1"/>
                </a:solidFill>
              </a:rPr>
              <a:t>, devuelve la </a:t>
            </a:r>
            <a:r>
              <a:rPr b="1" lang="en-US" sz="1900">
                <a:solidFill>
                  <a:schemeClr val="dk1"/>
                </a:solidFill>
              </a:rPr>
              <a:t>proporción</a:t>
            </a:r>
            <a:r>
              <a:rPr lang="en-US" sz="1900">
                <a:solidFill>
                  <a:schemeClr val="dk1"/>
                </a:solidFill>
              </a:rPr>
              <a:t> de cada categoría en lugar del conteo bruto (valores entre 0 y 1.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.plot(kind="bar")</a:t>
            </a:r>
            <a:r>
              <a:rPr lang="en-US" sz="1900">
                <a:solidFill>
                  <a:schemeClr val="dk1"/>
                </a:solidFill>
              </a:rPr>
              <a:t>: Llama a la función de graficado integrada de </a:t>
            </a:r>
            <a:r>
              <a:rPr b="1" lang="en-US" sz="1900">
                <a:solidFill>
                  <a:schemeClr val="dk1"/>
                </a:solidFill>
              </a:rPr>
              <a:t>Pandas</a:t>
            </a:r>
            <a:r>
              <a:rPr lang="en-US" sz="1900">
                <a:solidFill>
                  <a:schemeClr val="dk1"/>
                </a:solidFill>
              </a:rPr>
              <a:t> para generar un gráfico de barras a partir de estos porcentajes. 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5995f7397_0_153"/>
          <p:cNvSpPr txBox="1"/>
          <p:nvPr/>
        </p:nvSpPr>
        <p:spPr>
          <a:xfrm>
            <a:off x="2855275" y="523425"/>
            <a:ext cx="65943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Univariado/Distribuciones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f5995f7397_0_153"/>
          <p:cNvSpPr txBox="1"/>
          <p:nvPr/>
        </p:nvSpPr>
        <p:spPr>
          <a:xfrm>
            <a:off x="1781898" y="1160250"/>
            <a:ext cx="828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Analizar la distribución ayuda a decidir si una variable requiere transformaciones antes del modelado. </a:t>
            </a:r>
            <a:endParaRPr/>
          </a:p>
        </p:txBody>
      </p:sp>
      <p:sp>
        <p:nvSpPr>
          <p:cNvPr id="266" name="Google Shape;266;g3f5995f7397_0_153"/>
          <p:cNvSpPr txBox="1"/>
          <p:nvPr/>
        </p:nvSpPr>
        <p:spPr>
          <a:xfrm>
            <a:off x="4183200" y="1742525"/>
            <a:ext cx="382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sns.histplot(df[</a:t>
            </a:r>
            <a:r>
              <a:rPr lang="en-US" sz="18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"age"</a:t>
            </a:r>
            <a:r>
              <a:rPr lang="en-US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67" name="Google Shape;267;g3f5995f7397_0_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7050" y="2323050"/>
            <a:ext cx="5310075" cy="3847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9693ed6dd_0_30"/>
          <p:cNvSpPr txBox="1"/>
          <p:nvPr/>
        </p:nvSpPr>
        <p:spPr>
          <a:xfrm>
            <a:off x="1456550" y="531182"/>
            <a:ext cx="8556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df["age"].skew()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Calcula la asimetría (skewness) -infinito negativo a infinito positivo- </a:t>
            </a:r>
            <a:endParaRPr sz="2000"/>
          </a:p>
        </p:txBody>
      </p:sp>
      <p:sp>
        <p:nvSpPr>
          <p:cNvPr id="274" name="Google Shape;274;g3f9693ed6dd_0_30"/>
          <p:cNvSpPr txBox="1"/>
          <p:nvPr/>
        </p:nvSpPr>
        <p:spPr>
          <a:xfrm>
            <a:off x="984575" y="2101698"/>
            <a:ext cx="9744600" cy="29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Asimetría igual a 0 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Distribución simétrica.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La mayoría de las edades se concentran en el centro. La media, la mediana y la moda coinciden o son muy similares.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Asimetría positiva (Skewness &gt; 0):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I</a:t>
            </a:r>
            <a:r>
              <a:rPr lang="en-US">
                <a:solidFill>
                  <a:schemeClr val="dk1"/>
                </a:solidFill>
              </a:rPr>
              <a:t>nclinada hacia la izquierda / Cola a la derecha.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Significa que la mayoría de las personas son jóvenes.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Asimetría negativa (Skewness &lt; 0):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Inclinada hacia la derecha / Cola a la izquierda.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Significa que la mayoría de las personas son mayores.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75" name="Google Shape;275;g3f9693ed6dd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5550" y="3165039"/>
            <a:ext cx="1434250" cy="987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6" name="Google Shape;276;g3f9693ed6dd_0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5550" y="4263463"/>
            <a:ext cx="1422690" cy="987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9693ed6dd_0_14"/>
          <p:cNvSpPr txBox="1"/>
          <p:nvPr/>
        </p:nvSpPr>
        <p:spPr>
          <a:xfrm>
            <a:off x="449625" y="280875"/>
            <a:ext cx="9085500" cy="28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Grafica el histograma + curva de densidad (KDE)</a:t>
            </a:r>
            <a:endParaRPr sz="16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sns.histplot(df[</a:t>
            </a:r>
            <a:r>
              <a:rPr lang="en-US" sz="16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"age"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], kde=</a:t>
            </a:r>
            <a:r>
              <a:rPr lang="en-US" sz="16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Leyendas Opcional</a:t>
            </a:r>
            <a:endParaRPr sz="16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plt.title(</a:t>
            </a:r>
            <a:r>
              <a:rPr lang="en-US" sz="16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US" sz="16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"Distribución de Edad (Skewness: 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{df[</a:t>
            </a:r>
            <a:r>
              <a:rPr lang="en-US" sz="16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'age'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].skew()</a:t>
            </a:r>
            <a:r>
              <a:rPr lang="en-US" sz="165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:.2f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16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)"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plt.xlabel(</a:t>
            </a:r>
            <a:r>
              <a:rPr lang="en-US" sz="16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"Edad"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plt.ylabel(</a:t>
            </a:r>
            <a:r>
              <a:rPr lang="en-US" sz="16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"Frecuencia"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plt.show()</a:t>
            </a:r>
            <a:endParaRPr sz="16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83" name="Google Shape;283;g3f9693ed6dd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4325" y="2286225"/>
            <a:ext cx="5230675" cy="40921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4" name="Google Shape;284;g3f9693ed6dd_0_14"/>
          <p:cNvSpPr txBox="1"/>
          <p:nvPr/>
        </p:nvSpPr>
        <p:spPr>
          <a:xfrm>
            <a:off x="512875" y="3565775"/>
            <a:ext cx="33804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*</a:t>
            </a:r>
            <a:r>
              <a:rPr b="1" lang="en-US" sz="1500">
                <a:solidFill>
                  <a:schemeClr val="dk1"/>
                </a:solidFill>
              </a:rPr>
              <a:t>KDE</a:t>
            </a:r>
            <a:r>
              <a:rPr lang="en-US" sz="1500">
                <a:solidFill>
                  <a:schemeClr val="dk1"/>
                </a:solidFill>
              </a:rPr>
              <a:t> significa </a:t>
            </a:r>
            <a:r>
              <a:rPr b="1" lang="en-US" sz="1500">
                <a:solidFill>
                  <a:schemeClr val="dk1"/>
                </a:solidFill>
              </a:rPr>
              <a:t>Kernel Density Estimation</a:t>
            </a:r>
            <a:r>
              <a:rPr lang="en-US" sz="1500">
                <a:solidFill>
                  <a:schemeClr val="dk1"/>
                </a:solidFill>
              </a:rPr>
              <a:t> (en español, </a:t>
            </a:r>
            <a:r>
              <a:rPr i="1" lang="en-US" sz="1500">
                <a:solidFill>
                  <a:schemeClr val="dk1"/>
                </a:solidFill>
              </a:rPr>
              <a:t>Estimación de Densidad por Kernel</a:t>
            </a:r>
            <a:r>
              <a:rPr lang="en-US" sz="1500">
                <a:solidFill>
                  <a:schemeClr val="dk1"/>
                </a:solidFill>
              </a:rPr>
              <a:t>).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*Es la </a:t>
            </a:r>
            <a:r>
              <a:rPr lang="en-US" sz="1500">
                <a:solidFill>
                  <a:schemeClr val="dk1"/>
                </a:solidFill>
              </a:rPr>
              <a:t>línea</a:t>
            </a:r>
            <a:r>
              <a:rPr lang="en-US" sz="1500">
                <a:solidFill>
                  <a:schemeClr val="dk1"/>
                </a:solidFill>
              </a:rPr>
              <a:t> suave y continua que pasa por encima de las barras.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*Sirve para mostrar la </a:t>
            </a:r>
            <a:r>
              <a:rPr lang="en-US" sz="1500">
                <a:solidFill>
                  <a:schemeClr val="dk1"/>
                </a:solidFill>
              </a:rPr>
              <a:t>asimetría (skewness)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5995f7397_0_260"/>
          <p:cNvSpPr txBox="1"/>
          <p:nvPr/>
        </p:nvSpPr>
        <p:spPr>
          <a:xfrm>
            <a:off x="3356850" y="547839"/>
            <a:ext cx="5478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df["age"].kurt()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Calcula la curtosis (kurtosis). (-2 y mas infinito)</a:t>
            </a:r>
            <a:endParaRPr sz="2000"/>
          </a:p>
        </p:txBody>
      </p:sp>
      <p:pic>
        <p:nvPicPr>
          <p:cNvPr id="291" name="Google Shape;291;g3f5995f7397_0_2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9800" y="2350473"/>
            <a:ext cx="4593649" cy="243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2" name="Google Shape;292;g3f5995f7397_0_260"/>
          <p:cNvSpPr txBox="1"/>
          <p:nvPr/>
        </p:nvSpPr>
        <p:spPr>
          <a:xfrm>
            <a:off x="555225" y="2151450"/>
            <a:ext cx="63213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Valores cercanos a 0:</a:t>
            </a:r>
            <a:r>
              <a:rPr lang="en-US" sz="1600">
                <a:solidFill>
                  <a:schemeClr val="dk1"/>
                </a:solidFill>
              </a:rPr>
              <a:t> Forma de campana normal. Las edades tienen un nivel de dispersión y concentración estándar.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Valores altos / positivos:</a:t>
            </a:r>
            <a:r>
              <a:rPr lang="en-US" sz="1600">
                <a:solidFill>
                  <a:schemeClr val="dk1"/>
                </a:solidFill>
              </a:rPr>
              <a:t> Distribución muy </a:t>
            </a:r>
            <a:r>
              <a:rPr b="1" lang="en-US" sz="1600">
                <a:solidFill>
                  <a:schemeClr val="dk1"/>
                </a:solidFill>
              </a:rPr>
              <a:t>puntiaguda y colas pesadas</a:t>
            </a:r>
            <a:r>
              <a:rPr lang="en-US" sz="1600">
                <a:solidFill>
                  <a:schemeClr val="dk1"/>
                </a:solidFill>
              </a:rPr>
              <a:t>. Indica que las edades están muy concentradas cerca de la media, pero existen </a:t>
            </a:r>
            <a:r>
              <a:rPr i="1" lang="en-US" sz="1600">
                <a:solidFill>
                  <a:schemeClr val="dk1"/>
                </a:solidFill>
              </a:rPr>
              <a:t>outliers</a:t>
            </a:r>
            <a:r>
              <a:rPr lang="en-US" sz="1600">
                <a:solidFill>
                  <a:schemeClr val="dk1"/>
                </a:solidFill>
              </a:rPr>
              <a:t> alejados y poco comunes.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Valores bajos / negativos:</a:t>
            </a:r>
            <a:r>
              <a:rPr lang="en-US" sz="1600">
                <a:solidFill>
                  <a:schemeClr val="dk1"/>
                </a:solidFill>
              </a:rPr>
              <a:t> Distribución </a:t>
            </a:r>
            <a:r>
              <a:rPr b="1" lang="en-US" sz="1600">
                <a:solidFill>
                  <a:schemeClr val="dk1"/>
                </a:solidFill>
              </a:rPr>
              <a:t>plana y colas ligeras</a:t>
            </a:r>
            <a:r>
              <a:rPr lang="en-US" sz="1600">
                <a:solidFill>
                  <a:schemeClr val="dk1"/>
                </a:solidFill>
              </a:rPr>
              <a:t>. Las edades están más uniformemente repartidas, con pocos o ningún valor atípico.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93" name="Google Shape;293;g3f5995f7397_0_260"/>
          <p:cNvSpPr txBox="1"/>
          <p:nvPr/>
        </p:nvSpPr>
        <p:spPr>
          <a:xfrm>
            <a:off x="3284900" y="5458575"/>
            <a:ext cx="68241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Grafica el histograma + curva de densidad (KDE)</a:t>
            </a:r>
            <a:endParaRPr sz="16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sns.histplot(df[</a:t>
            </a:r>
            <a:r>
              <a:rPr lang="en-US" sz="16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"age"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], kde=</a:t>
            </a:r>
            <a:r>
              <a:rPr lang="en-US" sz="16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5995f7397_0_57"/>
          <p:cNvSpPr txBox="1"/>
          <p:nvPr/>
        </p:nvSpPr>
        <p:spPr>
          <a:xfrm>
            <a:off x="2520013" y="1163073"/>
            <a:ext cx="7052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sns.histplot(df["age"], kde=True)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Construye un histograma y agrega la curva de densidad. </a:t>
            </a:r>
            <a:endParaRPr sz="2000"/>
          </a:p>
        </p:txBody>
      </p:sp>
      <p:sp>
        <p:nvSpPr>
          <p:cNvPr id="300" name="Google Shape;300;g3f5995f7397_0_57"/>
          <p:cNvSpPr txBox="1"/>
          <p:nvPr/>
        </p:nvSpPr>
        <p:spPr>
          <a:xfrm>
            <a:off x="2578788" y="2593423"/>
            <a:ext cx="7093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sns.boxplot(x=df["age"])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Muestra la distribución e identifica posibles outliers. </a:t>
            </a:r>
            <a:endParaRPr sz="2000"/>
          </a:p>
        </p:txBody>
      </p:sp>
      <p:sp>
        <p:nvSpPr>
          <p:cNvPr id="301" name="Google Shape;301;g3f5995f7397_0_57"/>
          <p:cNvSpPr txBox="1"/>
          <p:nvPr/>
        </p:nvSpPr>
        <p:spPr>
          <a:xfrm>
            <a:off x="2578788" y="4000873"/>
            <a:ext cx="7093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sns.countplot(data=df, x="age")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Cuenta la frecuencia de cada categoría. </a:t>
            </a:r>
            <a:endParaRPr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g3f9693ed6dd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4900" y="176225"/>
            <a:ext cx="4638675" cy="3286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8" name="Google Shape;308;g3f9693ed6dd_0_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7800" y="128588"/>
            <a:ext cx="4495800" cy="33337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9" name="Google Shape;309;g3f9693ed6dd_0_46"/>
          <p:cNvSpPr txBox="1"/>
          <p:nvPr/>
        </p:nvSpPr>
        <p:spPr>
          <a:xfrm>
            <a:off x="1713150" y="4359550"/>
            <a:ext cx="87657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sns.histplot</a:t>
            </a:r>
            <a:r>
              <a:rPr lang="en-US" sz="1500">
                <a:solidFill>
                  <a:schemeClr val="dk1"/>
                </a:solidFill>
              </a:rPr>
              <a:t> está pensado para </a:t>
            </a:r>
            <a:r>
              <a:rPr b="1" lang="en-US" sz="1500">
                <a:solidFill>
                  <a:schemeClr val="dk1"/>
                </a:solidFill>
              </a:rPr>
              <a:t>variables continua/discreta / numéricas</a:t>
            </a:r>
            <a:r>
              <a:rPr lang="en-US" sz="1500">
                <a:solidFill>
                  <a:schemeClr val="dk1"/>
                </a:solidFill>
              </a:rPr>
              <a:t> (como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en-US" sz="1500">
                <a:solidFill>
                  <a:schemeClr val="dk1"/>
                </a:solidFill>
              </a:rPr>
              <a:t>,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capital-gain</a:t>
            </a:r>
            <a:r>
              <a:rPr lang="en-US" sz="1500">
                <a:solidFill>
                  <a:schemeClr val="dk1"/>
                </a:solidFill>
              </a:rPr>
              <a:t> o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hours-per-week</a:t>
            </a:r>
            <a:r>
              <a:rPr lang="en-US" sz="1500">
                <a:solidFill>
                  <a:schemeClr val="dk1"/>
                </a:solidFill>
              </a:rPr>
              <a:t>). Agrupa los valores continuos en rangos (intervalos o </a:t>
            </a:r>
            <a:r>
              <a:rPr i="1" lang="en-US" sz="1500">
                <a:solidFill>
                  <a:schemeClr val="dk1"/>
                </a:solidFill>
              </a:rPr>
              <a:t>bins</a:t>
            </a:r>
            <a:r>
              <a:rPr lang="en-US" sz="1500">
                <a:solidFill>
                  <a:schemeClr val="dk1"/>
                </a:solidFill>
              </a:rPr>
              <a:t>) para mostrar la distribución cuantitativa. Además, permite superponer estimaciones de densidad (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kde=True</a:t>
            </a:r>
            <a:r>
              <a:rPr lang="en-US" sz="1500">
                <a:solidFill>
                  <a:schemeClr val="dk1"/>
                </a:solidFill>
              </a:rPr>
              <a:t>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sns.countplot</a:t>
            </a:r>
            <a:r>
              <a:rPr lang="en-US" sz="1500">
                <a:solidFill>
                  <a:schemeClr val="dk1"/>
                </a:solidFill>
              </a:rPr>
              <a:t> está pensado para </a:t>
            </a:r>
            <a:r>
              <a:rPr b="1" lang="en-US" sz="1500">
                <a:solidFill>
                  <a:schemeClr val="dk1"/>
                </a:solidFill>
              </a:rPr>
              <a:t>variables categóricas o discretas</a:t>
            </a:r>
            <a:r>
              <a:rPr lang="en-US" sz="1500">
                <a:solidFill>
                  <a:schemeClr val="dk1"/>
                </a:solidFill>
              </a:rPr>
              <a:t> (como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education</a:t>
            </a:r>
            <a:r>
              <a:rPr lang="en-US" sz="1500">
                <a:solidFill>
                  <a:schemeClr val="dk1"/>
                </a:solidFill>
              </a:rPr>
              <a:t>,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workclass</a:t>
            </a:r>
            <a:r>
              <a:rPr lang="en-US" sz="1500">
                <a:solidFill>
                  <a:schemeClr val="dk1"/>
                </a:solidFill>
              </a:rPr>
              <a:t> o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income</a:t>
            </a:r>
            <a:r>
              <a:rPr lang="en-US" sz="1500">
                <a:solidFill>
                  <a:schemeClr val="dk1"/>
                </a:solidFill>
              </a:rPr>
              <a:t>). Cuenta la frecuencia exacta de cada categoría individual y dibuja una barra por cada una.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10" name="Google Shape;310;g3f9693ed6dd_0_46"/>
          <p:cNvSpPr txBox="1"/>
          <p:nvPr/>
        </p:nvSpPr>
        <p:spPr>
          <a:xfrm>
            <a:off x="1255575" y="3541350"/>
            <a:ext cx="40665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sns.histplot(df[</a:t>
            </a:r>
            <a:r>
              <a:rPr lang="en-US" sz="14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"age"</a:t>
            </a:r>
            <a:r>
              <a:rPr lang="en-US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], kde=</a:t>
            </a:r>
            <a:r>
              <a:rPr lang="en-US" sz="14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1" name="Google Shape;311;g3f9693ed6dd_0_46"/>
          <p:cNvSpPr txBox="1"/>
          <p:nvPr/>
        </p:nvSpPr>
        <p:spPr>
          <a:xfrm>
            <a:off x="6862906" y="3572250"/>
            <a:ext cx="36123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sns.countplot(data=df, x=</a:t>
            </a:r>
            <a:r>
              <a:rPr lang="en-US" sz="14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"age"</a:t>
            </a:r>
            <a:r>
              <a:rPr lang="en-US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5995f7397_0_93"/>
          <p:cNvSpPr txBox="1"/>
          <p:nvPr/>
        </p:nvSpPr>
        <p:spPr>
          <a:xfrm>
            <a:off x="3934375" y="503500"/>
            <a:ext cx="42234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An</a:t>
            </a: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</a:t>
            </a: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lisis Bivariado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f5995f7397_0_93"/>
          <p:cNvSpPr txBox="1"/>
          <p:nvPr/>
        </p:nvSpPr>
        <p:spPr>
          <a:xfrm>
            <a:off x="2569938" y="2726150"/>
            <a:ext cx="7052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sns.scatterplot(data=df, x="age", y="income")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Grafica la relación entre dos variables numéricas. 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funciona mejor con variable objetivo </a:t>
            </a:r>
            <a:r>
              <a:rPr lang="en-US" sz="2000"/>
              <a:t>categórica</a:t>
            </a:r>
            <a:endParaRPr sz="2000"/>
          </a:p>
        </p:txBody>
      </p:sp>
      <p:sp>
        <p:nvSpPr>
          <p:cNvPr id="319" name="Google Shape;319;g3f5995f7397_0_93"/>
          <p:cNvSpPr txBox="1"/>
          <p:nvPr/>
        </p:nvSpPr>
        <p:spPr>
          <a:xfrm>
            <a:off x="4423950" y="1065856"/>
            <a:ext cx="334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Analiza la relación entre dos variables. </a:t>
            </a:r>
            <a:endParaRPr/>
          </a:p>
        </p:txBody>
      </p:sp>
      <p:sp>
        <p:nvSpPr>
          <p:cNvPr id="320" name="Google Shape;320;g3f5995f7397_0_9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9693ed6dd_0_7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f9693ed6dd_0_76"/>
          <p:cNvSpPr txBox="1"/>
          <p:nvPr/>
        </p:nvSpPr>
        <p:spPr>
          <a:xfrm>
            <a:off x="1431150" y="656058"/>
            <a:ext cx="9329700" cy="1108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 sns.histplot(data=df, x="age", hue="income", kde=True, element="step")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Histograma comparativo Hue 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funciona mejor con variable objetivo categórica</a:t>
            </a:r>
            <a:endParaRPr sz="2000"/>
          </a:p>
        </p:txBody>
      </p:sp>
      <p:sp>
        <p:nvSpPr>
          <p:cNvPr id="328" name="Google Shape;328;g3f9693ed6dd_0_76"/>
          <p:cNvSpPr txBox="1"/>
          <p:nvPr/>
        </p:nvSpPr>
        <p:spPr>
          <a:xfrm>
            <a:off x="1231150" y="2369050"/>
            <a:ext cx="9756900" cy="28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88038"/>
                </a:solidFill>
              </a:rPr>
              <a:t>data=df, x="age"</a:t>
            </a:r>
            <a:r>
              <a:rPr lang="en-US" sz="1700">
                <a:solidFill>
                  <a:schemeClr val="dk1"/>
                </a:solidFill>
              </a:rPr>
              <a:t>: Define que la variable principal a analizar en el eje horizontal (X) es la </a:t>
            </a:r>
            <a:r>
              <a:rPr b="1" lang="en-US" sz="1700">
                <a:solidFill>
                  <a:schemeClr val="dk1"/>
                </a:solidFill>
              </a:rPr>
              <a:t>edad</a:t>
            </a:r>
            <a:r>
              <a:rPr lang="en-US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88038"/>
                </a:solidFill>
              </a:rPr>
              <a:t>hue="income"</a:t>
            </a:r>
            <a:r>
              <a:rPr lang="en-US" sz="1700">
                <a:solidFill>
                  <a:schemeClr val="dk1"/>
                </a:solidFill>
              </a:rPr>
              <a:t>: Divide los datos en dos grupos según el nivel de ingresos (</a:t>
            </a:r>
            <a:r>
              <a:rPr lang="en-US" sz="1700">
                <a:solidFill>
                  <a:srgbClr val="188038"/>
                </a:solidFill>
              </a:rPr>
              <a:t>&lt;=50K</a:t>
            </a:r>
            <a:r>
              <a:rPr lang="en-US" sz="1700">
                <a:solidFill>
                  <a:schemeClr val="dk1"/>
                </a:solidFill>
              </a:rPr>
              <a:t> y </a:t>
            </a:r>
            <a:r>
              <a:rPr lang="en-US" sz="1700">
                <a:solidFill>
                  <a:srgbClr val="188038"/>
                </a:solidFill>
              </a:rPr>
              <a:t>&gt;50K</a:t>
            </a:r>
            <a:r>
              <a:rPr lang="en-US" sz="1700">
                <a:solidFill>
                  <a:schemeClr val="dk1"/>
                </a:solidFill>
              </a:rPr>
              <a:t>), asignando un color distinto a cada uno (azul y naranja).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88038"/>
                </a:solidFill>
              </a:rPr>
              <a:t>kde=True</a:t>
            </a:r>
            <a:r>
              <a:rPr lang="en-US" sz="1700">
                <a:solidFill>
                  <a:schemeClr val="dk1"/>
                </a:solidFill>
              </a:rPr>
              <a:t>: Añade las </a:t>
            </a:r>
            <a:r>
              <a:rPr b="1" lang="en-US" sz="1700">
                <a:solidFill>
                  <a:schemeClr val="dk1"/>
                </a:solidFill>
              </a:rPr>
              <a:t>líneas suaves</a:t>
            </a:r>
            <a:r>
              <a:rPr lang="en-US" sz="1700">
                <a:solidFill>
                  <a:schemeClr val="dk1"/>
                </a:solidFill>
              </a:rPr>
              <a:t> (Estimación de Densidad de Kernel). Ayudan a ver la tendencia general o la "forma" de la distribución sin importar los picos individuales.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88038"/>
                </a:solidFill>
              </a:rPr>
              <a:t>element="step"</a:t>
            </a:r>
            <a:r>
              <a:rPr lang="en-US" sz="1700">
                <a:solidFill>
                  <a:schemeClr val="dk1"/>
                </a:solidFill>
              </a:rPr>
              <a:t>: Cambia el estilo visual de las barras a un contorno de "escalones" transparentes para que no se tapen entre sí y puedas comparar ambas distribuciones claramente.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9693ed6dd_0_63"/>
          <p:cNvSpPr txBox="1"/>
          <p:nvPr/>
        </p:nvSpPr>
        <p:spPr>
          <a:xfrm>
            <a:off x="2121600" y="2642248"/>
            <a:ext cx="7948800" cy="846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accent5"/>
                </a:solidFill>
              </a:rPr>
              <a:t>sns.boxplot(data=df, x="age", y="income")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Compara la distribución de una variable numérica entre categorías. </a:t>
            </a:r>
            <a:endParaRPr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9693ed6dd_0_94"/>
          <p:cNvSpPr txBox="1"/>
          <p:nvPr/>
        </p:nvSpPr>
        <p:spPr>
          <a:xfrm>
            <a:off x="771750" y="410675"/>
            <a:ext cx="10648500" cy="141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matriz_corr = df.corr(numeric_only=True)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sns.heatmap(matriz_corr, annot=True, cmap="coolwarm", fmt=".2f", vmin=-1, vmax=1) 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Calcula la matriz de correlación entre variables numéricas. 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Gráfica el mapa de calor de las correlaciones</a:t>
            </a:r>
            <a:endParaRPr sz="2000"/>
          </a:p>
        </p:txBody>
      </p:sp>
      <p:sp>
        <p:nvSpPr>
          <p:cNvPr id="341" name="Google Shape;341;g3f9693ed6dd_0_94"/>
          <p:cNvSpPr txBox="1"/>
          <p:nvPr/>
        </p:nvSpPr>
        <p:spPr>
          <a:xfrm>
            <a:off x="771750" y="2161425"/>
            <a:ext cx="10648500" cy="2158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</a:rPr>
              <a:t>annot=True</a:t>
            </a:r>
            <a:r>
              <a:rPr lang="en-US" sz="1900">
                <a:solidFill>
                  <a:schemeClr val="dk1"/>
                </a:solidFill>
              </a:rPr>
              <a:t>: Muestra los valores numéricos dentro de cada casilla para ver la correlación exacta.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</a:rPr>
              <a:t>cmap="coolwarm"</a:t>
            </a:r>
            <a:r>
              <a:rPr lang="en-US" sz="1900">
                <a:solidFill>
                  <a:schemeClr val="dk1"/>
                </a:solidFill>
              </a:rPr>
              <a:t>: Usa una paleta de colores intuitiva (rojo para correlaciones positivas/fuertes, azul para negativas.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</a:rPr>
              <a:t>fmt=".2f"</a:t>
            </a:r>
            <a:r>
              <a:rPr lang="en-US" sz="1900">
                <a:solidFill>
                  <a:schemeClr val="dk1"/>
                </a:solidFill>
              </a:rPr>
              <a:t>: Redondea a 2 decimales.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</a:rPr>
              <a:t>vmin=-1, vmax=1</a:t>
            </a:r>
            <a:r>
              <a:rPr lang="en-US" sz="1900">
                <a:solidFill>
                  <a:schemeClr val="dk1"/>
                </a:solidFill>
              </a:rPr>
              <a:t>: Ajusta la escala de color entre -1 y 1 (el rango teórico de la correlación de Pearson).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342" name="Google Shape;342;g3f9693ed6dd_0_94"/>
          <p:cNvSpPr txBox="1"/>
          <p:nvPr/>
        </p:nvSpPr>
        <p:spPr>
          <a:xfrm>
            <a:off x="771750" y="4762500"/>
            <a:ext cx="10817100" cy="1477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0.00 a 0.29 (Muy débil / Despreciable):</a:t>
            </a:r>
            <a:r>
              <a:rPr lang="en-US" sz="1500">
                <a:solidFill>
                  <a:schemeClr val="dk1"/>
                </a:solidFill>
              </a:rPr>
              <a:t> Prácticamente no hay relación lineal entre las variables.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0.30 a 0.49 (Moderada baja):</a:t>
            </a:r>
            <a:r>
              <a:rPr lang="en-US" sz="1500">
                <a:solidFill>
                  <a:schemeClr val="dk1"/>
                </a:solidFill>
              </a:rPr>
              <a:t> Existe una tendencia clara, pero con bastante dispersión.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0.50 a 0.69 (Moderada alta):</a:t>
            </a:r>
            <a:r>
              <a:rPr lang="en-US" sz="1500">
                <a:solidFill>
                  <a:schemeClr val="dk1"/>
                </a:solidFill>
              </a:rPr>
              <a:t> La relación es notable y visible a simple vista en un gráfico.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0.70 a 0.89 (Alta / Fuerte):</a:t>
            </a:r>
            <a:r>
              <a:rPr lang="en-US" sz="1500">
                <a:solidFill>
                  <a:schemeClr val="dk1"/>
                </a:solidFill>
              </a:rPr>
              <a:t> Existe una </a:t>
            </a:r>
            <a:r>
              <a:rPr b="1" lang="en-US" sz="1500">
                <a:solidFill>
                  <a:schemeClr val="dk1"/>
                </a:solidFill>
              </a:rPr>
              <a:t>correlación fuerte</a:t>
            </a:r>
            <a:r>
              <a:rPr lang="en-US" sz="1500">
                <a:solidFill>
                  <a:schemeClr val="dk1"/>
                </a:solidFill>
              </a:rPr>
              <a:t>. Las dos variables se mueven casi a la par.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0.90 a 1.00$ (Muy alta / Casi perfecta):</a:t>
            </a:r>
            <a:r>
              <a:rPr lang="en-US" sz="1500">
                <a:solidFill>
                  <a:schemeClr val="dk1"/>
                </a:solidFill>
              </a:rPr>
              <a:t> Una variable predice a la otra casi sin margen de error.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5995f7397_0_104"/>
          <p:cNvSpPr txBox="1"/>
          <p:nvPr/>
        </p:nvSpPr>
        <p:spPr>
          <a:xfrm>
            <a:off x="3934375" y="503500"/>
            <a:ext cx="42234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Análisis Multivariado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f5995f7397_0_104"/>
          <p:cNvSpPr txBox="1"/>
          <p:nvPr/>
        </p:nvSpPr>
        <p:spPr>
          <a:xfrm>
            <a:off x="1621925" y="2151525"/>
            <a:ext cx="904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sns.pairplot(df)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Genera gráficos de dispersión entre todas las variables numéricas del df. </a:t>
            </a:r>
            <a:endParaRPr sz="2000"/>
          </a:p>
        </p:txBody>
      </p:sp>
      <p:sp>
        <p:nvSpPr>
          <p:cNvPr id="350" name="Google Shape;350;g3f5995f7397_0_104"/>
          <p:cNvSpPr txBox="1"/>
          <p:nvPr/>
        </p:nvSpPr>
        <p:spPr>
          <a:xfrm>
            <a:off x="1702219" y="1075811"/>
            <a:ext cx="83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Estudia simultáneamente la relación entre múltiples variables para identificar patrones más complejos.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9693ed6dd_0_104"/>
          <p:cNvSpPr txBox="1"/>
          <p:nvPr/>
        </p:nvSpPr>
        <p:spPr>
          <a:xfrm>
            <a:off x="1634125" y="1492100"/>
            <a:ext cx="90486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accent5"/>
                </a:solidFill>
              </a:rPr>
              <a:t>df_clean = df.drop(columns=['Unnamed: 0'])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accent5"/>
                </a:solidFill>
              </a:rPr>
              <a:t>sns.pairplot(df_clean, hue="income", corner=True)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 </a:t>
            </a:r>
            <a:endParaRPr b="1" sz="20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Genera gráficos de dispersión entre todas numéricas del df. 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# Elimina 'Unnamed: 0' primero para evitar ruido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# Genera el pairplot pintando según si ganan &gt;50K o &lt;=50K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Usar Hue para analizar cómo se comportan las variables en función de la variable objetivo “income”.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5995f7397_0_279"/>
          <p:cNvSpPr txBox="1"/>
          <p:nvPr>
            <p:ph idx="1" type="body"/>
          </p:nvPr>
        </p:nvSpPr>
        <p:spPr>
          <a:xfrm>
            <a:off x="703875" y="421302"/>
            <a:ext cx="10515600" cy="79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Automatización</a:t>
            </a:r>
            <a:r>
              <a:rPr b="1" lang="en-US"/>
              <a:t> del </a:t>
            </a:r>
            <a:r>
              <a:rPr b="1" lang="en-US"/>
              <a:t>Análisis</a:t>
            </a:r>
            <a:r>
              <a:rPr b="1" lang="en-US"/>
              <a:t> Exploratorio de </a:t>
            </a:r>
            <a:r>
              <a:rPr b="1" lang="en-US"/>
              <a:t>Datos</a:t>
            </a:r>
            <a:endParaRPr b="1"/>
          </a:p>
        </p:txBody>
      </p:sp>
      <p:sp>
        <p:nvSpPr>
          <p:cNvPr id="363" name="Google Shape;363;g3f5995f7397_0_279"/>
          <p:cNvSpPr txBox="1"/>
          <p:nvPr/>
        </p:nvSpPr>
        <p:spPr>
          <a:xfrm>
            <a:off x="3203025" y="1489500"/>
            <a:ext cx="5517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Conocer el dataset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Tipo de Variable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Calidad de Datos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Valores Faltantes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Outliers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Estadística Descriptiva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Desbalance de Clases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Análisis Univariado / Distribuciones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Análisis Bivariado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Analisis Multivariado</a:t>
            </a:r>
            <a:endParaRPr sz="2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g3f5995f739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8662"/>
            <a:ext cx="12191997" cy="685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g3f5995f7397_0_0"/>
          <p:cNvPicPr preferRelativeResize="0"/>
          <p:nvPr/>
        </p:nvPicPr>
        <p:blipFill rotWithShape="1">
          <a:blip r:embed="rId4">
            <a:alphaModFix/>
          </a:blip>
          <a:srcRect b="188" l="16380" r="45107" t="1115"/>
          <a:stretch/>
        </p:blipFill>
        <p:spPr>
          <a:xfrm>
            <a:off x="-76200" y="-50801"/>
            <a:ext cx="4038598" cy="6969761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f5995f7397_0_0"/>
          <p:cNvSpPr txBox="1"/>
          <p:nvPr/>
        </p:nvSpPr>
        <p:spPr>
          <a:xfrm>
            <a:off x="4411089" y="1595151"/>
            <a:ext cx="713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5083"/>
                </a:solidFill>
                <a:latin typeface="Poppins"/>
                <a:ea typeface="Poppins"/>
                <a:cs typeface="Poppins"/>
                <a:sym typeface="Poppins"/>
              </a:rPr>
              <a:t>1. ML en produccion</a:t>
            </a:r>
            <a:endParaRPr b="1" sz="3000">
              <a:solidFill>
                <a:srgbClr val="00508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1" name="Google Shape;371;g3f5995f7397_0_0"/>
          <p:cNvSpPr txBox="1"/>
          <p:nvPr/>
        </p:nvSpPr>
        <p:spPr>
          <a:xfrm>
            <a:off x="4411087" y="2498147"/>
            <a:ext cx="7443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1.1 Análisis Exploratorio de Datos (EDA) </a:t>
            </a:r>
            <a:endParaRPr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1.2 Revisión de modelos y métricas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r>
              <a:rPr lang="en-US" sz="1600">
                <a:solidFill>
                  <a:schemeClr val="dk1"/>
                </a:solidFill>
              </a:rPr>
              <a:t> </a:t>
            </a:r>
            <a:endParaRPr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1.3 Interpretabilidad de features</a:t>
            </a:r>
            <a:endParaRPr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1.4 Series de Tiempo</a:t>
            </a:r>
            <a:endParaRPr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2" name="Google Shape;372;g3f5995f7397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66697" y="5411192"/>
            <a:ext cx="1502666" cy="981458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g3f5995f7397_0_0"/>
          <p:cNvSpPr/>
          <p:nvPr/>
        </p:nvSpPr>
        <p:spPr>
          <a:xfrm flipH="1">
            <a:off x="3858801" y="0"/>
            <a:ext cx="194700" cy="6858000"/>
          </a:xfrm>
          <a:prstGeom prst="rect">
            <a:avLst/>
          </a:prstGeom>
          <a:solidFill>
            <a:srgbClr val="34C0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9693ed6dd_0_127"/>
          <p:cNvSpPr txBox="1"/>
          <p:nvPr/>
        </p:nvSpPr>
        <p:spPr>
          <a:xfrm>
            <a:off x="3780631" y="389912"/>
            <a:ext cx="463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5083"/>
                </a:solidFill>
                <a:latin typeface="Poppins"/>
                <a:ea typeface="Poppins"/>
                <a:cs typeface="Poppins"/>
                <a:sym typeface="Poppins"/>
              </a:rPr>
              <a:t>Regresión Lineal</a:t>
            </a:r>
            <a:endParaRPr b="1" sz="2200">
              <a:solidFill>
                <a:srgbClr val="00508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0" name="Google Shape;380;g3f9693ed6dd_0_127"/>
          <p:cNvSpPr txBox="1"/>
          <p:nvPr/>
        </p:nvSpPr>
        <p:spPr>
          <a:xfrm>
            <a:off x="0" y="1419290"/>
            <a:ext cx="55332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Método supervisado que </a:t>
            </a:r>
            <a:r>
              <a:rPr b="1" i="0" lang="en-US" sz="2400" u="none" cap="none" strike="noStrik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predice un valor continuo “y</a:t>
            </a:r>
            <a:r>
              <a:rPr b="0" i="0" lang="en-U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” (ej.: precio de casa o salario) a </a:t>
            </a:r>
            <a:r>
              <a:rPr b="0" i="0" lang="en-US" sz="2400" u="none" cap="none" strike="noStrike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rPr>
              <a:t>partir de una o </a:t>
            </a:r>
            <a:r>
              <a:rPr lang="en-US" sz="2400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b="0" i="0" lang="en-US" sz="2400" u="none" cap="none" strike="noStrike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rPr>
              <a:t> variables de entrada “X_i”</a:t>
            </a:r>
            <a:r>
              <a:rPr b="0" i="0" lang="en-U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El objetivo es trazar una línea</a:t>
            </a:r>
            <a:r>
              <a:rPr b="0" i="0" lang="en-U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4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línea predictora</a:t>
            </a:r>
            <a:r>
              <a:rPr b="0" i="0" lang="en-U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) que mejor se ajuste a los datos, a través de minimizar el error entre los valores reales y las predicciones.</a:t>
            </a:r>
            <a:endParaRPr/>
          </a:p>
        </p:txBody>
      </p:sp>
      <p:pic>
        <p:nvPicPr>
          <p:cNvPr id="381" name="Google Shape;381;g3f9693ed6dd_0_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999" y="1693742"/>
            <a:ext cx="5533063" cy="3606079"/>
          </a:xfrm>
          <a:prstGeom prst="rect">
            <a:avLst/>
          </a:prstGeom>
          <a:noFill/>
          <a:ln cap="flat" cmpd="sng" w="9525">
            <a:solidFill>
              <a:srgbClr val="00508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9693ed6dd_0_134"/>
          <p:cNvSpPr txBox="1"/>
          <p:nvPr/>
        </p:nvSpPr>
        <p:spPr>
          <a:xfrm>
            <a:off x="3672225" y="390125"/>
            <a:ext cx="64401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mx + b			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y: </a:t>
            </a:r>
            <a:r>
              <a:rPr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valor de una casa</a:t>
            </a:r>
            <a:endParaRPr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x: </a:t>
            </a:r>
            <a:r>
              <a:rPr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metros cuadrados</a:t>
            </a:r>
            <a:endParaRPr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B_1* 	x + B_0 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B_0  + B_1* 	x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f9693ed6dd_0_139"/>
          <p:cNvSpPr txBox="1"/>
          <p:nvPr/>
        </p:nvSpPr>
        <p:spPr>
          <a:xfrm>
            <a:off x="3244700" y="2915100"/>
            <a:ext cx="74226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B_0  + B_1* 	</a:t>
            </a:r>
            <a:r>
              <a:rPr lang="en-U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 B_2*</a:t>
            </a:r>
            <a:r>
              <a:rPr lang="en-U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x_2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 B_3*</a:t>
            </a:r>
            <a:r>
              <a:rPr lang="en-U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x_3 + ….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f9693ed6dd_0_139"/>
          <p:cNvSpPr txBox="1"/>
          <p:nvPr/>
        </p:nvSpPr>
        <p:spPr>
          <a:xfrm>
            <a:off x="1340475" y="857250"/>
            <a:ext cx="10137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solo los metros cuadrados (</a:t>
            </a:r>
            <a:r>
              <a:rPr lang="en-US" sz="28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definen el precio de una casa..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También los años de </a:t>
            </a:r>
            <a:r>
              <a:rPr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antigüedad de la casa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8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x_2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)…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sector donde está ubicada la casa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8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x_3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etc… (</a:t>
            </a:r>
            <a:r>
              <a:rPr lang="en-US" sz="28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x_4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8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x_5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9693ed6dd_0_145"/>
          <p:cNvSpPr txBox="1"/>
          <p:nvPr/>
        </p:nvSpPr>
        <p:spPr>
          <a:xfrm>
            <a:off x="271108" y="839157"/>
            <a:ext cx="11049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Gráficamente la línea de regresión es la recta que pasa lo </a:t>
            </a:r>
            <a:r>
              <a:rPr lang="en-US" sz="24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b="0" i="0" lang="en-U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cerca posible de todos los puntos.</a:t>
            </a:r>
            <a:endParaRPr/>
          </a:p>
        </p:txBody>
      </p:sp>
      <p:pic>
        <p:nvPicPr>
          <p:cNvPr id="401" name="Google Shape;401;g3f9693ed6dd_0_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0959" y="3424085"/>
            <a:ext cx="3476165" cy="171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g3f9693ed6dd_0_145"/>
          <p:cNvPicPr preferRelativeResize="0"/>
          <p:nvPr/>
        </p:nvPicPr>
        <p:blipFill rotWithShape="1">
          <a:blip r:embed="rId4">
            <a:alphaModFix/>
          </a:blip>
          <a:srcRect b="0" l="0" r="16868" t="0"/>
          <a:stretch/>
        </p:blipFill>
        <p:spPr>
          <a:xfrm>
            <a:off x="2822081" y="2083450"/>
            <a:ext cx="6973920" cy="83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f9693ed6dd_0_152"/>
          <p:cNvSpPr txBox="1"/>
          <p:nvPr/>
        </p:nvSpPr>
        <p:spPr>
          <a:xfrm>
            <a:off x="271108" y="357377"/>
            <a:ext cx="1104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r>
              <a:rPr b="1" lang="en-US" sz="24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b="1" i="0" lang="en-U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inimizar el error</a:t>
            </a:r>
            <a:r>
              <a:rPr b="0" i="0" lang="en-US" sz="24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”? </a:t>
            </a:r>
            <a:endParaRPr/>
          </a:p>
        </p:txBody>
      </p:sp>
      <p:pic>
        <p:nvPicPr>
          <p:cNvPr id="409" name="Google Shape;409;g3f9693ed6dd_0_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4973" y="1601918"/>
            <a:ext cx="2834886" cy="548688"/>
          </a:xfrm>
          <a:prstGeom prst="rect">
            <a:avLst/>
          </a:prstGeom>
          <a:noFill/>
          <a:ln cap="flat" cmpd="sng" w="9525">
            <a:solidFill>
              <a:srgbClr val="005083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410" name="Google Shape;410;g3f9693ed6dd_0_152"/>
          <p:cNvCxnSpPr>
            <a:endCxn id="409" idx="1"/>
          </p:cNvCxnSpPr>
          <p:nvPr/>
        </p:nvCxnSpPr>
        <p:spPr>
          <a:xfrm>
            <a:off x="5117373" y="1876263"/>
            <a:ext cx="2967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1" name="Google Shape;411;g3f9693ed6dd_0_152"/>
          <p:cNvSpPr txBox="1"/>
          <p:nvPr/>
        </p:nvSpPr>
        <p:spPr>
          <a:xfrm>
            <a:off x="83113" y="2757266"/>
            <a:ext cx="6096000" cy="10419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7020" l="0" r="-1000" t="-23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412" name="Google Shape;412;g3f9693ed6dd_0_1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4973" y="2866760"/>
            <a:ext cx="2911092" cy="823031"/>
          </a:xfrm>
          <a:prstGeom prst="rect">
            <a:avLst/>
          </a:prstGeom>
          <a:noFill/>
          <a:ln cap="flat" cmpd="sng" w="9525">
            <a:solidFill>
              <a:srgbClr val="005083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413" name="Google Shape;413;g3f9693ed6dd_0_152"/>
          <p:cNvCxnSpPr>
            <a:stCxn id="411" idx="3"/>
            <a:endCxn id="412" idx="1"/>
          </p:cNvCxnSpPr>
          <p:nvPr/>
        </p:nvCxnSpPr>
        <p:spPr>
          <a:xfrm>
            <a:off x="6179113" y="3278216"/>
            <a:ext cx="1905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4" name="Google Shape;414;g3f9693ed6dd_0_152"/>
          <p:cNvSpPr txBox="1"/>
          <p:nvPr/>
        </p:nvSpPr>
        <p:spPr>
          <a:xfrm>
            <a:off x="7363890" y="4378877"/>
            <a:ext cx="4144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Esta técnica se llama: 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Mínimos Cuadrados Ordinarios</a:t>
            </a:r>
            <a:r>
              <a:rPr b="0" i="0" lang="en-US" sz="17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(OLS – Ordinary Least Squares)</a:t>
            </a:r>
            <a:endParaRPr/>
          </a:p>
        </p:txBody>
      </p:sp>
      <p:cxnSp>
        <p:nvCxnSpPr>
          <p:cNvPr id="415" name="Google Shape;415;g3f9693ed6dd_0_152"/>
          <p:cNvCxnSpPr>
            <a:endCxn id="412" idx="2"/>
          </p:cNvCxnSpPr>
          <p:nvPr/>
        </p:nvCxnSpPr>
        <p:spPr>
          <a:xfrm rot="10800000">
            <a:off x="9540519" y="3689791"/>
            <a:ext cx="0" cy="641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6" name="Google Shape;416;g3f9693ed6dd_0_152"/>
          <p:cNvSpPr txBox="1"/>
          <p:nvPr/>
        </p:nvSpPr>
        <p:spPr>
          <a:xfrm>
            <a:off x="83113" y="1691643"/>
            <a:ext cx="609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El error para cada observación es: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g3f9693ed6dd_0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25" y="852200"/>
            <a:ext cx="4934549" cy="477477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23" name="Google Shape;423;g3f9693ed6dd_0_1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9224" y="1088375"/>
            <a:ext cx="6310374" cy="3808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g3f9693ed6dd_0_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149" y="1449819"/>
            <a:ext cx="5533063" cy="3606079"/>
          </a:xfrm>
          <a:prstGeom prst="rect">
            <a:avLst/>
          </a:prstGeom>
          <a:noFill/>
          <a:ln cap="flat" cmpd="sng" w="9525">
            <a:solidFill>
              <a:srgbClr val="00508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0" name="Google Shape;430;g3f9693ed6dd_0_1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9960" y="695281"/>
            <a:ext cx="2834886" cy="548688"/>
          </a:xfrm>
          <a:prstGeom prst="rect">
            <a:avLst/>
          </a:prstGeom>
          <a:noFill/>
          <a:ln cap="flat" cmpd="sng" w="9525">
            <a:solidFill>
              <a:srgbClr val="00508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9693ed6dd_0_219"/>
          <p:cNvSpPr txBox="1"/>
          <p:nvPr/>
        </p:nvSpPr>
        <p:spPr>
          <a:xfrm>
            <a:off x="3357715" y="452196"/>
            <a:ext cx="547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Polynomial Features</a:t>
            </a:r>
            <a:endParaRPr b="1" i="0" sz="2400" u="none" cap="none" strike="noStrike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7" name="Google Shape;437;g3f9693ed6dd_0_219"/>
          <p:cNvSpPr txBox="1"/>
          <p:nvPr/>
        </p:nvSpPr>
        <p:spPr>
          <a:xfrm>
            <a:off x="1425673" y="1554669"/>
            <a:ext cx="9675600" cy="64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4150" l="-570" r="0" t="-472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38" name="Google Shape;438;g3f9693ed6dd_0_219"/>
          <p:cNvSpPr txBox="1"/>
          <p:nvPr/>
        </p:nvSpPr>
        <p:spPr>
          <a:xfrm>
            <a:off x="1381331" y="4123331"/>
            <a:ext cx="88701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670" l="-620" r="0" t="-100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No se transforma a “y”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9" name="Google Shape;439;g3f9693ed6dd_0_2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83127" y="2545003"/>
            <a:ext cx="4625741" cy="883997"/>
          </a:xfrm>
          <a:prstGeom prst="rect">
            <a:avLst/>
          </a:prstGeom>
          <a:noFill/>
          <a:ln cap="flat" cmpd="sng" w="9525">
            <a:solidFill>
              <a:srgbClr val="00508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g3f9693ed6dd_0_2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1500" y="1614481"/>
            <a:ext cx="5773600" cy="410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g3f9693ed6dd_0_2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6425" y="2005431"/>
            <a:ext cx="2324100" cy="5143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7" name="Google Shape;447;g3f9693ed6dd_0_2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92450" y="3556882"/>
            <a:ext cx="4819650" cy="495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8" name="Google Shape;448;g3f9693ed6dd_0_2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78425" y="5873157"/>
            <a:ext cx="8039100" cy="428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9" name="Google Shape;449;g3f9693ed6dd_0_2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45808" y="322100"/>
            <a:ext cx="1933575" cy="685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0" name="Google Shape;450;g3f9693ed6dd_0_234"/>
          <p:cNvSpPr txBox="1"/>
          <p:nvPr/>
        </p:nvSpPr>
        <p:spPr>
          <a:xfrm>
            <a:off x="1516925" y="464900"/>
            <a:ext cx="4819800" cy="4002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Sigue siendo lineal respecto a los coeficientes β: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g3f9693ed6dd_0_2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425" y="1694950"/>
            <a:ext cx="7527824" cy="39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g3f9693ed6dd_0_250"/>
          <p:cNvSpPr txBox="1"/>
          <p:nvPr/>
        </p:nvSpPr>
        <p:spPr>
          <a:xfrm>
            <a:off x="5122950" y="540250"/>
            <a:ext cx="177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Variables: x1,x2,x3</a:t>
            </a:r>
            <a:endParaRPr/>
          </a:p>
        </p:txBody>
      </p:sp>
      <p:pic>
        <p:nvPicPr>
          <p:cNvPr id="458" name="Google Shape;458;g3f9693ed6dd_0_2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2324" y="2041750"/>
            <a:ext cx="3105150" cy="4572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59" name="Google Shape;459;g3f9693ed6dd_0_2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7450" y="4019225"/>
            <a:ext cx="8020050" cy="40005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f9693ed6dd_0_277"/>
          <p:cNvSpPr txBox="1"/>
          <p:nvPr/>
        </p:nvSpPr>
        <p:spPr>
          <a:xfrm>
            <a:off x="1784400" y="567375"/>
            <a:ext cx="8311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Si usas </a:t>
            </a:r>
            <a:r>
              <a:rPr b="1" lang="en-US" sz="1100">
                <a:solidFill>
                  <a:schemeClr val="dk1"/>
                </a:solidFill>
              </a:rPr>
              <a:t>13 variables</a:t>
            </a:r>
            <a:r>
              <a:rPr lang="en-US" sz="1100">
                <a:solidFill>
                  <a:schemeClr val="dk1"/>
                </a:solidFill>
              </a:rPr>
              <a:t> y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PolynomialFeatures(degree=2, include_bias=False)</a:t>
            </a:r>
            <a:r>
              <a:rPr lang="en-US" sz="1100">
                <a:solidFill>
                  <a:schemeClr val="dk1"/>
                </a:solidFill>
              </a:rPr>
              <a:t>, se crean coeficentes : </a:t>
            </a:r>
            <a:endParaRPr/>
          </a:p>
        </p:txBody>
      </p:sp>
      <p:pic>
        <p:nvPicPr>
          <p:cNvPr id="466" name="Google Shape;466;g3f9693ed6dd_0_2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1025" y="1213550"/>
            <a:ext cx="123825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g3f9693ed6dd_0_2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6650" y="1261425"/>
            <a:ext cx="1619250" cy="609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68" name="Google Shape;468;g3f9693ed6dd_0_2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0013" y="2211075"/>
            <a:ext cx="4371975" cy="838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69" name="Google Shape;469;g3f9693ed6dd_0_277"/>
          <p:cNvSpPr txBox="1"/>
          <p:nvPr/>
        </p:nvSpPr>
        <p:spPr>
          <a:xfrm>
            <a:off x="4498000" y="3182300"/>
            <a:ext cx="414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Total: </a:t>
            </a:r>
            <a:r>
              <a:rPr b="1" lang="en-US" sz="1500">
                <a:solidFill>
                  <a:schemeClr val="dk1"/>
                </a:solidFill>
              </a:rPr>
              <a:t>104 coeficientes/betas</a:t>
            </a:r>
            <a:r>
              <a:rPr lang="en-US" sz="1500">
                <a:solidFill>
                  <a:schemeClr val="dk1"/>
                </a:solidFill>
              </a:rPr>
              <a:t> (sin intercepto) </a:t>
            </a:r>
            <a:endParaRPr sz="1800"/>
          </a:p>
        </p:txBody>
      </p:sp>
      <p:sp>
        <p:nvSpPr>
          <p:cNvPr id="470" name="Google Shape;470;g3f9693ed6dd_0_277"/>
          <p:cNvSpPr txBox="1"/>
          <p:nvPr/>
        </p:nvSpPr>
        <p:spPr>
          <a:xfrm>
            <a:off x="3626350" y="3864825"/>
            <a:ext cx="38715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Términos lineales (grado 1):</a:t>
            </a:r>
            <a:r>
              <a:rPr lang="en-US" sz="1100">
                <a:solidFill>
                  <a:schemeClr val="dk1"/>
                </a:solidFill>
              </a:rPr>
              <a:t>  13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Términos cuadráticos e interacciones (grado 2): </a:t>
            </a:r>
            <a:r>
              <a:rPr lang="en-US" sz="1100">
                <a:solidFill>
                  <a:schemeClr val="dk1"/>
                </a:solidFill>
              </a:rPr>
              <a:t>91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	terminos X_i al cuadrado: 13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	78 combinaciones cuadraticas entre los X_i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471" name="Google Shape;471;g3f9693ed6dd_0_2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6300" y="4476350"/>
            <a:ext cx="1504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g3f9693ed6dd_0_2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02675" y="5168850"/>
            <a:ext cx="1190625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g3f9693ed6dd_0_277"/>
          <p:cNvSpPr txBox="1"/>
          <p:nvPr/>
        </p:nvSpPr>
        <p:spPr>
          <a:xfrm>
            <a:off x="3157625" y="5961675"/>
            <a:ext cx="572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2"/>
                </a:solidFill>
              </a:rPr>
              <a:t>Más el intercepto B_0 que mi modelo lo agrega. </a:t>
            </a:r>
            <a:endParaRPr b="1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2"/>
                </a:solidFill>
              </a:rPr>
              <a:t>En total 105 Betas </a:t>
            </a:r>
            <a:endParaRPr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f9693ed6dd_0_365"/>
          <p:cNvSpPr txBox="1"/>
          <p:nvPr/>
        </p:nvSpPr>
        <p:spPr>
          <a:xfrm>
            <a:off x="4248761" y="498598"/>
            <a:ext cx="3184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Regresión Ridge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Regularización L2</a:t>
            </a:r>
            <a:endParaRPr/>
          </a:p>
        </p:txBody>
      </p:sp>
      <p:sp>
        <p:nvSpPr>
          <p:cNvPr id="480" name="Google Shape;480;g3f9693ed6dd_0_365"/>
          <p:cNvSpPr txBox="1"/>
          <p:nvPr/>
        </p:nvSpPr>
        <p:spPr>
          <a:xfrm>
            <a:off x="1406009" y="1554669"/>
            <a:ext cx="967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Agrega una penalización cuadrática (L2) a los coeficientes.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f9693ed6dd_0_365"/>
          <p:cNvSpPr txBox="1"/>
          <p:nvPr/>
        </p:nvSpPr>
        <p:spPr>
          <a:xfrm>
            <a:off x="1406006" y="3374441"/>
            <a:ext cx="887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Efecto: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Penaliza los coeficientes grandes 🡪 los encoge hacia cero, pero no los vuelve cero.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 la generalización reduciendo el sobreajuste.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2" name="Google Shape;482;g3f9693ed6dd_0_3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9679" y="2030995"/>
            <a:ext cx="2652642" cy="695449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3" name="Google Shape;483;g3f9693ed6dd_0_365"/>
          <p:cNvSpPr txBox="1"/>
          <p:nvPr/>
        </p:nvSpPr>
        <p:spPr>
          <a:xfrm>
            <a:off x="8359350" y="2194053"/>
            <a:ext cx="27612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580" l="0" r="0" t="-98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484" name="Google Shape;484;g3f9693ed6dd_0_365"/>
          <p:cNvGrpSpPr/>
          <p:nvPr/>
        </p:nvGrpSpPr>
        <p:grpSpPr>
          <a:xfrm>
            <a:off x="1674527" y="4512959"/>
            <a:ext cx="8931485" cy="1102274"/>
            <a:chOff x="1608752" y="4941174"/>
            <a:chExt cx="8931485" cy="1102274"/>
          </a:xfrm>
        </p:grpSpPr>
        <p:sp>
          <p:nvSpPr>
            <p:cNvPr id="485" name="Google Shape;485;g3f9693ed6dd_0_365"/>
            <p:cNvSpPr txBox="1"/>
            <p:nvPr/>
          </p:nvSpPr>
          <p:spPr>
            <a:xfrm>
              <a:off x="1608752" y="5107590"/>
              <a:ext cx="3817800" cy="7695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1" marL="45720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𝝀 </a:t>
              </a:r>
              <a:r>
                <a:rPr b="1" i="0" lang="en-US" sz="2000" u="none" cap="none" strike="noStrike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Es un </a:t>
              </a:r>
              <a:r>
                <a:rPr b="1" lang="en-US" sz="2000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hiper parámetro</a:t>
              </a:r>
              <a:r>
                <a:rPr b="1" i="0" lang="en-US" sz="2000" u="none" cap="none" strike="noStrike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 de regularización :</a:t>
              </a:r>
              <a:endParaRPr/>
            </a:p>
          </p:txBody>
        </p:sp>
        <p:pic>
          <p:nvPicPr>
            <p:cNvPr id="486" name="Google Shape;486;g3f9693ed6dd_0_36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426681" y="4941174"/>
              <a:ext cx="5113556" cy="1102274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9693ed6dd_0_379"/>
          <p:cNvSpPr txBox="1"/>
          <p:nvPr/>
        </p:nvSpPr>
        <p:spPr>
          <a:xfrm>
            <a:off x="4248761" y="498598"/>
            <a:ext cx="3184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Regresión Lasso</a:t>
            </a:r>
            <a:endParaRPr/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Regularización L1</a:t>
            </a:r>
            <a:endParaRPr b="1" i="0" sz="1600" u="none" cap="none" strike="noStrike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3" name="Google Shape;493;g3f9693ed6dd_0_379"/>
          <p:cNvSpPr txBox="1"/>
          <p:nvPr/>
        </p:nvSpPr>
        <p:spPr>
          <a:xfrm>
            <a:off x="1406009" y="1554669"/>
            <a:ext cx="967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Agrega una penalización absoluta (L1) a los coeficientes.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f9693ed6dd_0_379"/>
          <p:cNvSpPr txBox="1"/>
          <p:nvPr/>
        </p:nvSpPr>
        <p:spPr>
          <a:xfrm>
            <a:off x="1406009" y="3294004"/>
            <a:ext cx="9135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Efecto: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Penaliza los coeficientes grandes 🡪 algunos se vuelven exactamente cero.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decir, se eliminan predictores (features).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Útil, cuando hay muchas variables predictoras (features) y se busca un modelo más simple.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Lasso no solo reduce los coeficientes Betas sino que apaga algunos de ellos.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f9693ed6dd_0_379"/>
          <p:cNvSpPr txBox="1"/>
          <p:nvPr/>
        </p:nvSpPr>
        <p:spPr>
          <a:xfrm>
            <a:off x="8359350" y="2477831"/>
            <a:ext cx="27612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4590" l="0" r="0" t="-82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496" name="Google Shape;496;g3f9693ed6dd_0_3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4593" y="2268383"/>
            <a:ext cx="2832931" cy="695449"/>
          </a:xfrm>
          <a:prstGeom prst="rect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497" name="Google Shape;497;g3f9693ed6dd_0_379"/>
          <p:cNvGrpSpPr/>
          <p:nvPr/>
        </p:nvGrpSpPr>
        <p:grpSpPr>
          <a:xfrm>
            <a:off x="1608752" y="4941174"/>
            <a:ext cx="8931485" cy="1102274"/>
            <a:chOff x="1608752" y="4941174"/>
            <a:chExt cx="8931485" cy="1102274"/>
          </a:xfrm>
        </p:grpSpPr>
        <p:sp>
          <p:nvSpPr>
            <p:cNvPr id="498" name="Google Shape;498;g3f9693ed6dd_0_379"/>
            <p:cNvSpPr txBox="1"/>
            <p:nvPr/>
          </p:nvSpPr>
          <p:spPr>
            <a:xfrm>
              <a:off x="1608752" y="5107590"/>
              <a:ext cx="3817800" cy="7695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1" marL="45720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𝝀 </a:t>
              </a:r>
              <a:r>
                <a:rPr b="1" i="0" lang="en-US" sz="2000" u="none" cap="none" strike="noStrike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Es un </a:t>
              </a:r>
              <a:r>
                <a:rPr b="1" lang="en-US" sz="2000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hiper parámetro</a:t>
              </a:r>
              <a:r>
                <a:rPr b="1" i="0" lang="en-US" sz="2000" u="none" cap="none" strike="noStrike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 de regularización :</a:t>
              </a:r>
              <a:endParaRPr/>
            </a:p>
          </p:txBody>
        </p:sp>
        <p:pic>
          <p:nvPicPr>
            <p:cNvPr id="499" name="Google Shape;499;g3f9693ed6dd_0_37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426681" y="4941174"/>
              <a:ext cx="5113556" cy="1102274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9693ed6dd_0_466"/>
          <p:cNvSpPr txBox="1"/>
          <p:nvPr/>
        </p:nvSpPr>
        <p:spPr>
          <a:xfrm>
            <a:off x="3404800" y="308650"/>
            <a:ext cx="54831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Support Vector Machines (SVM)</a:t>
            </a:r>
            <a:endParaRPr sz="1700"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Máquinas de vectores de soporte</a:t>
            </a:r>
            <a:endParaRPr/>
          </a:p>
        </p:txBody>
      </p:sp>
      <p:sp>
        <p:nvSpPr>
          <p:cNvPr id="506" name="Google Shape;506;g3f9693ed6dd_0_466"/>
          <p:cNvSpPr txBox="1"/>
          <p:nvPr/>
        </p:nvSpPr>
        <p:spPr>
          <a:xfrm>
            <a:off x="42475" y="1450025"/>
            <a:ext cx="5426400" cy="40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Drucker en 1997, en el </a:t>
            </a:r>
            <a:r>
              <a:rPr lang="en-US" sz="21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artículo</a:t>
            </a:r>
            <a:r>
              <a:rPr b="0" i="0" lang="en-US" sz="21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titulado “support vector regression machines” propone este algoritmo para el problema de </a:t>
            </a:r>
            <a:r>
              <a:rPr b="1" i="0" lang="en-US" sz="21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regresión</a:t>
            </a:r>
            <a:r>
              <a:rPr b="0" i="0" lang="en-US" sz="21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8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Support Vector Regressor (SVR)</a:t>
            </a:r>
            <a:endParaRPr b="0" i="0" sz="21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A diferencia de la regresión lineal tradicional, que busca minimizar el error total, SVR busca encontrar una línea (o hiperplano) que se ajuste a los datos dentro de un margen de tolerancia específico.</a:t>
            </a:r>
            <a:endParaRPr/>
          </a:p>
        </p:txBody>
      </p:sp>
      <p:pic>
        <p:nvPicPr>
          <p:cNvPr id="507" name="Google Shape;507;g3f9693ed6dd_0_4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7975" y="1389296"/>
            <a:ext cx="6651626" cy="466648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g3f9693ed6dd_0_4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2925" y="1613838"/>
            <a:ext cx="4735574" cy="3322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14" name="Google Shape;514;g3f9693ed6dd_0_4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20763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g3f9693ed6dd_0_473"/>
          <p:cNvSpPr txBox="1"/>
          <p:nvPr/>
        </p:nvSpPr>
        <p:spPr>
          <a:xfrm>
            <a:off x="360025" y="551425"/>
            <a:ext cx="7062900" cy="54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  <a:highlight>
                  <a:srgbClr val="FFFFFF"/>
                </a:highlight>
              </a:rPr>
              <a:t>1. Conceptos Clave de SVR</a:t>
            </a:r>
            <a:endParaRPr b="1" sz="2000">
              <a:solidFill>
                <a:schemeClr val="accent5"/>
              </a:solidFill>
              <a:highlight>
                <a:srgbClr val="FFFFFF"/>
              </a:highlight>
            </a:endParaRPr>
          </a:p>
          <a:p>
            <a:pPr indent="-27305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A0A0A"/>
              </a:buClr>
              <a:buSzPts val="700"/>
              <a:buChar char="●"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Hiperplano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Es la línea (en 2D) o plano (en 3D) que representa la predicción del modelo.</a:t>
            </a:r>
            <a:endParaRPr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3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700"/>
              <a:buChar char="●"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Margen de Tolerancia </a:t>
            </a:r>
            <a:r>
              <a:rPr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(Épsilon): SVR crea un "tubo" o "calle" alrededor del hiperplano. </a:t>
            </a:r>
            <a:r>
              <a:rPr b="1" lang="en-US" sz="1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El objetivo es que la mayor cantidad de puntos de datos caigan dentro de este tubo</a:t>
            </a:r>
            <a:r>
              <a:rPr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. Los puntos fuera de este margen son considerados errores.</a:t>
            </a:r>
            <a:endParaRPr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3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700"/>
              <a:buChar char="●"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Vectores de Soporte:</a:t>
            </a:r>
            <a:r>
              <a:rPr b="1"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Son los puntos de datos que están en el borde del margen o fuera de él. Estos puntos son los que definen la posición del hiperplano.</a:t>
            </a:r>
            <a:endParaRPr sz="700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g3f9693ed6dd_0_4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07637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g3f9693ed6dd_0_4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3575" y="4646025"/>
            <a:ext cx="8429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g3f9693ed6dd_0_492"/>
          <p:cNvSpPr txBox="1"/>
          <p:nvPr/>
        </p:nvSpPr>
        <p:spPr>
          <a:xfrm>
            <a:off x="733150" y="3988849"/>
            <a:ext cx="6504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Si un punto cae dentro → no hay penalización, no es SV</a:t>
            </a:r>
            <a:endParaRPr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Si cae fuera → error →se penaliza y es Support Vector (SV)</a:t>
            </a:r>
            <a:endParaRPr b="1"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Si cae en el borde → no penaliza y es SV</a:t>
            </a:r>
            <a:endParaRPr b="1"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4" name="Google Shape;524;g3f9693ed6dd_0_492"/>
          <p:cNvSpPr txBox="1"/>
          <p:nvPr/>
        </p:nvSpPr>
        <p:spPr>
          <a:xfrm>
            <a:off x="7928663" y="4646025"/>
            <a:ext cx="3954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1200"/>
              </a:spcAft>
              <a:buNone/>
            </a:pPr>
            <a:r>
              <a:rPr lang="en-US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Vectores de Soporte son los puntos que “empujan” ‘</a:t>
            </a:r>
            <a:r>
              <a:rPr b="1" lang="en-US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y’</a:t>
            </a:r>
            <a:r>
              <a:rPr lang="en-US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determinan la forma final de la tuberia y del hiper plano ‘W^T*X’.</a:t>
            </a:r>
            <a:endParaRPr sz="1200"/>
          </a:p>
        </p:txBody>
      </p:sp>
      <p:sp>
        <p:nvSpPr>
          <p:cNvPr id="525" name="Google Shape;525;g3f9693ed6dd_0_492"/>
          <p:cNvSpPr txBox="1"/>
          <p:nvPr/>
        </p:nvSpPr>
        <p:spPr>
          <a:xfrm>
            <a:off x="733150" y="2326549"/>
            <a:ext cx="6415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= vector de pendientes. Regularizador. Lo minimizamos para mantener una </a:t>
            </a:r>
            <a:r>
              <a:rPr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función</a:t>
            </a:r>
            <a:r>
              <a:rPr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sencilla que generalice mejor.</a:t>
            </a:r>
            <a:endParaRPr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 es un valor de penalización para los errores  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Errores fuera de </a:t>
            </a:r>
            <a:r>
              <a:rPr b="1"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ε</a:t>
            </a:r>
            <a:r>
              <a:rPr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 → penalizados, asi: </a:t>
            </a:r>
            <a:endParaRPr/>
          </a:p>
        </p:txBody>
      </p:sp>
      <p:pic>
        <p:nvPicPr>
          <p:cNvPr id="526" name="Google Shape;526;g3f9693ed6dd_0_4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3350" y="1288959"/>
            <a:ext cx="3414801" cy="74531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7" name="Google Shape;527;g3f9693ed6dd_0_4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8675" y="1021250"/>
            <a:ext cx="3954299" cy="3503643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8" name="Google Shape;528;g3f9693ed6dd_0_492"/>
          <p:cNvSpPr txBox="1"/>
          <p:nvPr/>
        </p:nvSpPr>
        <p:spPr>
          <a:xfrm>
            <a:off x="540560" y="717741"/>
            <a:ext cx="680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Función Objetivo a minimizar: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g3f9693ed6dd_0_5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0763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g3f9693ed6dd_0_504"/>
          <p:cNvSpPr txBox="1"/>
          <p:nvPr/>
        </p:nvSpPr>
        <p:spPr>
          <a:xfrm>
            <a:off x="360025" y="551425"/>
            <a:ext cx="7062900" cy="54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el margen es estrecho: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El modelo es más preciso con los datos de entrenamiento. pero puede ajustarse demasiado (</a:t>
            </a:r>
            <a:r>
              <a:rPr lang="en-US" sz="16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overfitting</a:t>
            </a:r>
            <a:r>
              <a:rPr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). </a:t>
            </a:r>
            <a:endParaRPr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Túnel estrecho, aumenta el número de support vectors → </a:t>
            </a:r>
            <a:r>
              <a:rPr lang="en-US" sz="16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modelo más complejo</a:t>
            </a:r>
            <a:r>
              <a:rPr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A0A0A"/>
              </a:buClr>
              <a:buSzPts val="1200"/>
              <a:buChar char="●"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el margen es amplio: 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El </a:t>
            </a:r>
            <a:r>
              <a:rPr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modelo es más flexible, pero puede ser menos preciso</a:t>
            </a:r>
            <a:r>
              <a:rPr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Al reducir el número de support vectors → </a:t>
            </a:r>
            <a:r>
              <a:rPr lang="en-US" sz="16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modelo más simple</a:t>
            </a:r>
            <a:r>
              <a:rPr lang="en-US" sz="1600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600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36" name="Google Shape;536;g3f9693ed6dd_0_5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3575" y="4646025"/>
            <a:ext cx="8429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g3f9693ed6dd_0_504"/>
          <p:cNvSpPr txBox="1"/>
          <p:nvPr/>
        </p:nvSpPr>
        <p:spPr>
          <a:xfrm>
            <a:off x="11355975" y="479842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8" name="Google Shape;538;g3f9693ed6dd_0_504"/>
          <p:cNvPicPr preferRelativeResize="0"/>
          <p:nvPr/>
        </p:nvPicPr>
        <p:blipFill rotWithShape="1">
          <a:blip r:embed="rId4">
            <a:alphaModFix/>
          </a:blip>
          <a:srcRect b="0" l="1807" r="0" t="0"/>
          <a:stretch/>
        </p:blipFill>
        <p:spPr>
          <a:xfrm>
            <a:off x="7734425" y="1497875"/>
            <a:ext cx="4383549" cy="368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g3f9693ed6dd_0_5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1000" y="1642000"/>
            <a:ext cx="3609975" cy="9334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45" name="Google Shape;545;g3f9693ed6dd_0_513"/>
          <p:cNvSpPr txBox="1"/>
          <p:nvPr/>
        </p:nvSpPr>
        <p:spPr>
          <a:xfrm>
            <a:off x="2983950" y="497625"/>
            <a:ext cx="2752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Regularización (complejidad)</a:t>
            </a:r>
            <a:endParaRPr sz="1500"/>
          </a:p>
        </p:txBody>
      </p:sp>
      <p:cxnSp>
        <p:nvCxnSpPr>
          <p:cNvPr id="546" name="Google Shape;546;g3f9693ed6dd_0_513"/>
          <p:cNvCxnSpPr>
            <a:stCxn id="545" idx="2"/>
          </p:cNvCxnSpPr>
          <p:nvPr/>
        </p:nvCxnSpPr>
        <p:spPr>
          <a:xfrm>
            <a:off x="4360200" y="913125"/>
            <a:ext cx="679500" cy="8676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7" name="Google Shape;547;g3f9693ed6dd_0_513"/>
          <p:cNvSpPr txBox="1"/>
          <p:nvPr/>
        </p:nvSpPr>
        <p:spPr>
          <a:xfrm>
            <a:off x="6663600" y="5052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Penalización de errores </a:t>
            </a:r>
            <a:endParaRPr sz="1500"/>
          </a:p>
        </p:txBody>
      </p:sp>
      <p:cxnSp>
        <p:nvCxnSpPr>
          <p:cNvPr id="548" name="Google Shape;548;g3f9693ed6dd_0_513"/>
          <p:cNvCxnSpPr>
            <a:stCxn id="547" idx="2"/>
          </p:cNvCxnSpPr>
          <p:nvPr/>
        </p:nvCxnSpPr>
        <p:spPr>
          <a:xfrm flipH="1">
            <a:off x="7182600" y="920775"/>
            <a:ext cx="981000" cy="914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49" name="Google Shape;549;g3f9693ed6dd_0_5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4100" y="2952750"/>
            <a:ext cx="32004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g3f9693ed6dd_0_513"/>
          <p:cNvSpPr txBox="1"/>
          <p:nvPr/>
        </p:nvSpPr>
        <p:spPr>
          <a:xfrm>
            <a:off x="432750" y="3979950"/>
            <a:ext cx="5303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“Para evitar cometer errores hago más complejo el modelo”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errores pesan más que la complejidad del modelo.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Menor efecto de la regularización.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Mayor riesgo de overfitting.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1" name="Google Shape;551;g3f9693ed6dd_0_5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48300" y="2971800"/>
            <a:ext cx="34671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g3f9693ed6dd_0_513"/>
          <p:cNvSpPr txBox="1"/>
          <p:nvPr/>
        </p:nvSpPr>
        <p:spPr>
          <a:xfrm>
            <a:off x="6321450" y="4037500"/>
            <a:ext cx="5657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Prefiero mantener un modelo simple, aunque cometa + errores.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errores casi no importan.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Eso produce un modelo más suave y simple. 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f9693ed6dd_0_526"/>
          <p:cNvSpPr txBox="1"/>
          <p:nvPr/>
        </p:nvSpPr>
        <p:spPr>
          <a:xfrm>
            <a:off x="1171413" y="1543950"/>
            <a:ext cx="6033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En </a:t>
            </a:r>
            <a:r>
              <a:rPr b="1" lang="en-US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sklearn.svm.SVR</a:t>
            </a:r>
            <a:r>
              <a:rPr lang="en-US" sz="1700">
                <a:solidFill>
                  <a:schemeClr val="dk1"/>
                </a:solidFill>
              </a:rPr>
              <a:t>, el valor por defecto de </a:t>
            </a:r>
            <a:r>
              <a:rPr b="1" lang="en-US" sz="1700">
                <a:solidFill>
                  <a:schemeClr val="dk1"/>
                </a:solidFill>
              </a:rPr>
              <a:t>C</a:t>
            </a:r>
            <a:r>
              <a:rPr lang="en-US" sz="1700">
                <a:solidFill>
                  <a:schemeClr val="dk1"/>
                </a:solidFill>
              </a:rPr>
              <a:t> es 1.0​ </a:t>
            </a:r>
            <a:endParaRPr sz="2000"/>
          </a:p>
        </p:txBody>
      </p:sp>
      <p:graphicFrame>
        <p:nvGraphicFramePr>
          <p:cNvPr id="559" name="Google Shape;559;g3f9693ed6dd_0_526"/>
          <p:cNvGraphicFramePr/>
          <p:nvPr/>
        </p:nvGraphicFramePr>
        <p:xfrm>
          <a:off x="7951250" y="45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{4BBCF7D7-AE8C-4610-8E5E-FE50FF2AD8CB}</a:tableStyleId>
              </a:tblPr>
              <a:tblGrid>
                <a:gridCol w="964775"/>
                <a:gridCol w="30162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Valor de (C)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Comportamiento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Regularización muy fuerte (modelo muy simple)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Regularización fuerte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1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Valor por defecto de Scikit-learn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Ajuste más estricto a los datos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Muy alta; mayor riesgo de sobreajuste (modelo más complejo)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560" name="Google Shape;560;g3f9693ed6dd_0_5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3213" y="374575"/>
            <a:ext cx="3609975" cy="9334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61" name="Google Shape;561;g3f9693ed6dd_0_526"/>
          <p:cNvSpPr txBox="1"/>
          <p:nvPr/>
        </p:nvSpPr>
        <p:spPr>
          <a:xfrm>
            <a:off x="1101875" y="2226275"/>
            <a:ext cx="57624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Si C es grande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Los errores fuera del tubo ε son muy costosos.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El modelo intenta ajustar la mayor cantidad posible de puntos.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Mayor riesgo de </a:t>
            </a:r>
            <a:r>
              <a:rPr b="1" lang="en-US" sz="1300">
                <a:solidFill>
                  <a:schemeClr val="dk1"/>
                </a:solidFill>
              </a:rPr>
              <a:t>sobreajuste (overfitting)</a:t>
            </a:r>
            <a:r>
              <a:rPr lang="en-US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62" name="Google Shape;562;g3f9693ed6dd_0_526"/>
          <p:cNvSpPr txBox="1"/>
          <p:nvPr/>
        </p:nvSpPr>
        <p:spPr>
          <a:xfrm>
            <a:off x="1101875" y="3930600"/>
            <a:ext cx="6790200" cy="1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Si C es pequeño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Los errores fuera del tubo ε son poco costosos.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El modelo acepta más errores si con ello obtiene una función más simple.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Menor riesgo de sobreajuste, pero puede aparecer </a:t>
            </a:r>
            <a:r>
              <a:rPr b="1" lang="en-US" sz="1300">
                <a:solidFill>
                  <a:schemeClr val="dk1"/>
                </a:solidFill>
              </a:rPr>
              <a:t>subajuste (underfitting)</a:t>
            </a:r>
            <a:r>
              <a:rPr lang="en-US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g3f9693ed6dd_0_5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8675" y="828875"/>
            <a:ext cx="5924550" cy="529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69" name="Google Shape;569;g3f9693ed6dd_0_5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38" y="1991850"/>
            <a:ext cx="3609975" cy="9334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0" name="Google Shape;570;g3f9693ed6dd_0_535"/>
          <p:cNvSpPr txBox="1"/>
          <p:nvPr/>
        </p:nvSpPr>
        <p:spPr>
          <a:xfrm>
            <a:off x="907875" y="598725"/>
            <a:ext cx="34911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4C0C7"/>
                </a:solidFill>
              </a:rPr>
              <a:t>ε</a:t>
            </a:r>
            <a:r>
              <a:rPr lang="en-US" sz="1900">
                <a:solidFill>
                  <a:srgbClr val="34C0C7"/>
                </a:solidFill>
              </a:rPr>
              <a:t> - ancho del tubo</a:t>
            </a:r>
            <a:endParaRPr sz="1900">
              <a:solidFill>
                <a:srgbClr val="34C0C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responde a: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Qué errores voy a ignorar?"</a:t>
            </a:r>
            <a:r>
              <a:rPr lang="en-US" sz="1900">
                <a:solidFill>
                  <a:schemeClr val="dk1"/>
                </a:solidFill>
              </a:rPr>
              <a:t> </a:t>
            </a:r>
            <a:endParaRPr sz="22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6" name="Google Shape;576;g3f9693ed6dd_0_542"/>
          <p:cNvGraphicFramePr/>
          <p:nvPr/>
        </p:nvGraphicFramePr>
        <p:xfrm>
          <a:off x="2397775" y="197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{4BBCF7D7-AE8C-4610-8E5E-FE50FF2AD8CB}</a:tableStyleId>
              </a:tblPr>
              <a:tblGrid>
                <a:gridCol w="1225550"/>
                <a:gridCol w="2889175"/>
                <a:gridCol w="40204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Parámetro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Controla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Si aumenta...</a:t>
                      </a:r>
                      <a:endParaRPr b="1" sz="15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900">
                          <a:solidFill>
                            <a:srgbClr val="34C0C7"/>
                          </a:solidFill>
                        </a:rPr>
                        <a:t>ε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Tamaño del error que se ignora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 ignoran más errores → modelo más simple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900">
                          <a:solidFill>
                            <a:srgbClr val="34C0C7"/>
                          </a:solidFill>
                        </a:rPr>
                        <a:t>C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Penalización de los errores no ignorados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 castigan más los errores → modelo más complejo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f9693ed6dd_0_622"/>
          <p:cNvSpPr txBox="1"/>
          <p:nvPr/>
        </p:nvSpPr>
        <p:spPr>
          <a:xfrm>
            <a:off x="3346900" y="256442"/>
            <a:ext cx="489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Árboles para regresión</a:t>
            </a:r>
            <a:endParaRPr sz="2400"/>
          </a:p>
        </p:txBody>
      </p:sp>
      <p:sp>
        <p:nvSpPr>
          <p:cNvPr id="583" name="Google Shape;583;g3f9693ed6dd_0_622"/>
          <p:cNvSpPr/>
          <p:nvPr/>
        </p:nvSpPr>
        <p:spPr>
          <a:xfrm>
            <a:off x="5150731" y="2164467"/>
            <a:ext cx="352500" cy="225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g3f9693ed6dd_0_622"/>
          <p:cNvSpPr/>
          <p:nvPr/>
        </p:nvSpPr>
        <p:spPr>
          <a:xfrm>
            <a:off x="5476756" y="2432617"/>
            <a:ext cx="352500" cy="225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g3f9693ed6dd_0_622"/>
          <p:cNvSpPr/>
          <p:nvPr/>
        </p:nvSpPr>
        <p:spPr>
          <a:xfrm>
            <a:off x="5615648" y="1807580"/>
            <a:ext cx="352500" cy="225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g3f9693ed6dd_0_622"/>
          <p:cNvSpPr/>
          <p:nvPr/>
        </p:nvSpPr>
        <p:spPr>
          <a:xfrm>
            <a:off x="5941673" y="2075730"/>
            <a:ext cx="352500" cy="225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7" name="Google Shape;587;g3f9693ed6dd_0_6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0566" y="1177023"/>
            <a:ext cx="5278663" cy="5199878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g3f9693ed6dd_0_622"/>
          <p:cNvSpPr/>
          <p:nvPr/>
        </p:nvSpPr>
        <p:spPr>
          <a:xfrm>
            <a:off x="4416485" y="4630933"/>
            <a:ext cx="352500" cy="225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g3f9693ed6dd_0_622"/>
          <p:cNvSpPr/>
          <p:nvPr/>
        </p:nvSpPr>
        <p:spPr>
          <a:xfrm>
            <a:off x="4798301" y="5056399"/>
            <a:ext cx="352500" cy="225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g3f9693ed6dd_0_622"/>
          <p:cNvSpPr/>
          <p:nvPr/>
        </p:nvSpPr>
        <p:spPr>
          <a:xfrm>
            <a:off x="5124326" y="4118778"/>
            <a:ext cx="352500" cy="225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g3f9693ed6dd_0_622"/>
          <p:cNvSpPr/>
          <p:nvPr/>
        </p:nvSpPr>
        <p:spPr>
          <a:xfrm>
            <a:off x="5503161" y="4713036"/>
            <a:ext cx="352500" cy="225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f9693ed6dd_0_622"/>
          <p:cNvSpPr/>
          <p:nvPr/>
        </p:nvSpPr>
        <p:spPr>
          <a:xfrm>
            <a:off x="7083107" y="2712881"/>
            <a:ext cx="352500" cy="225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g3f9693ed6dd_0_622"/>
          <p:cNvSpPr/>
          <p:nvPr/>
        </p:nvSpPr>
        <p:spPr>
          <a:xfrm>
            <a:off x="6413156" y="4006316"/>
            <a:ext cx="352500" cy="225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g3f9693ed6dd_0_622"/>
          <p:cNvSpPr/>
          <p:nvPr/>
        </p:nvSpPr>
        <p:spPr>
          <a:xfrm>
            <a:off x="6730677" y="2712880"/>
            <a:ext cx="352500" cy="225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g3f9693ed6dd_0_622"/>
          <p:cNvSpPr/>
          <p:nvPr/>
        </p:nvSpPr>
        <p:spPr>
          <a:xfrm>
            <a:off x="7122117" y="3316538"/>
            <a:ext cx="352500" cy="225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g3f9693ed6dd_0_622"/>
          <p:cNvSpPr/>
          <p:nvPr/>
        </p:nvSpPr>
        <p:spPr>
          <a:xfrm>
            <a:off x="5967435" y="3405127"/>
            <a:ext cx="352500" cy="225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g3f9693ed6dd_0_622"/>
          <p:cNvSpPr/>
          <p:nvPr/>
        </p:nvSpPr>
        <p:spPr>
          <a:xfrm>
            <a:off x="4622086" y="4331834"/>
            <a:ext cx="352500" cy="225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f9693ed6dd_0_798"/>
          <p:cNvSpPr txBox="1"/>
          <p:nvPr/>
        </p:nvSpPr>
        <p:spPr>
          <a:xfrm>
            <a:off x="4621162" y="265546"/>
            <a:ext cx="3097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5083"/>
                </a:solidFill>
                <a:latin typeface="Poppins"/>
                <a:ea typeface="Poppins"/>
                <a:cs typeface="Poppins"/>
                <a:sym typeface="Poppins"/>
              </a:rPr>
              <a:t>XGBoost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(Extreme Gradient Boosting)</a:t>
            </a:r>
            <a:endParaRPr b="1" sz="2200">
              <a:solidFill>
                <a:srgbClr val="00508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4" name="Google Shape;604;g3f9693ed6dd_0_798"/>
          <p:cNvSpPr txBox="1"/>
          <p:nvPr/>
        </p:nvSpPr>
        <p:spPr>
          <a:xfrm>
            <a:off x="147484" y="1553617"/>
            <a:ext cx="66072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un modelo de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basado en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árboles de decisión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usa una técnica llamada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boosting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donde los árboles se construyen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uno tras otro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corregir los errores del anterior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2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5" name="Google Shape;605;g3f9693ed6dd_0_798"/>
          <p:cNvSpPr txBox="1"/>
          <p:nvPr/>
        </p:nvSpPr>
        <p:spPr>
          <a:xfrm>
            <a:off x="542177" y="3947925"/>
            <a:ext cx="6212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lugar de reentrenar desde cero, XGBoost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ajusta las predicciones paso a paso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usando el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gradiente del error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6" name="Google Shape;606;g3f9693ed6dd_0_7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1238" y="1676977"/>
            <a:ext cx="4159046" cy="3771766"/>
          </a:xfrm>
          <a:prstGeom prst="rect">
            <a:avLst/>
          </a:prstGeom>
          <a:noFill/>
          <a:ln cap="flat" cmpd="sng" w="9525">
            <a:solidFill>
              <a:srgbClr val="00508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f9693ed6dd_0_717"/>
          <p:cNvSpPr txBox="1"/>
          <p:nvPr/>
        </p:nvSpPr>
        <p:spPr>
          <a:xfrm>
            <a:off x="1563328" y="4955578"/>
            <a:ext cx="9065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descenso de gradiente es un algoritmo de optimización popular que se utiliza para minimizar la </a:t>
            </a:r>
            <a:r>
              <a:rPr b="1" i="0" lang="en-US" sz="1800" u="none" cap="none" strike="noStrike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función de pérdida (minimizar el error)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problemas de machine learning. 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gradiente indica la dirección en que apunta el error.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Función de </a:t>
            </a:r>
            <a:r>
              <a:rPr lang="en-US" sz="18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pérdida</a:t>
            </a:r>
            <a:r>
              <a:rPr b="0" i="0" lang="en-US" sz="1800" u="none" cap="none" strike="noStrike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 🡪 minimizar error 🡪 Gradiente Descendiente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3" name="Google Shape;613;g3f9693ed6dd_0_7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9214" y="188763"/>
            <a:ext cx="7933572" cy="4477912"/>
          </a:xfrm>
          <a:prstGeom prst="rect">
            <a:avLst/>
          </a:prstGeom>
          <a:noFill/>
          <a:ln cap="flat" cmpd="sng" w="9525">
            <a:solidFill>
              <a:srgbClr val="00508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f5d67b6a6c_0_9"/>
          <p:cNvSpPr txBox="1"/>
          <p:nvPr>
            <p:ph idx="1" type="body"/>
          </p:nvPr>
        </p:nvSpPr>
        <p:spPr>
          <a:xfrm>
            <a:off x="838200" y="2058600"/>
            <a:ext cx="10515600" cy="272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Confianza: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 Permite a los usuarios y empresas confiar en los resultados automatizados.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Detección de sesgos: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 Ayuda a identificar patrones injustos o discriminatorios en los datos.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Cumplimiento legal: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 Facilita cumplir con normativas estrictas de transparencia, como la legislación europea (AI Act)</a:t>
            </a:r>
            <a:endParaRPr sz="3700"/>
          </a:p>
        </p:txBody>
      </p:sp>
      <p:sp>
        <p:nvSpPr>
          <p:cNvPr id="620" name="Google Shape;620;g3f5d67b6a6c_0_9"/>
          <p:cNvSpPr txBox="1"/>
          <p:nvPr>
            <p:ph type="title"/>
          </p:nvPr>
        </p:nvSpPr>
        <p:spPr>
          <a:xfrm>
            <a:off x="838200" y="365125"/>
            <a:ext cx="10515600" cy="1062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1"/>
                </a:solidFill>
              </a:rPr>
              <a:t>Importancia de </a:t>
            </a:r>
            <a:r>
              <a:rPr b="1" lang="en-US">
                <a:solidFill>
                  <a:schemeClr val="accent1"/>
                </a:solidFill>
              </a:rPr>
              <a:t>IA Explicable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6" name="Google Shape;626;p17"/>
          <p:cNvGraphicFramePr/>
          <p:nvPr/>
        </p:nvGraphicFramePr>
        <p:xfrm>
          <a:off x="457200" y="10496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{E0BA0052-F328-4321-A817-4CDF0A49F5EC}</a:tableStyleId>
              </a:tblPr>
              <a:tblGrid>
                <a:gridCol w="2905425"/>
                <a:gridCol w="2538325"/>
                <a:gridCol w="2800600"/>
                <a:gridCol w="3244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Métrica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Formula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Interpretación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python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MAE</a:t>
                      </a:r>
                      <a:r>
                        <a:rPr lang="en-US" sz="1800" u="none" cap="none" strike="noStrike"/>
                        <a:t> (Mean Absolute Error)-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Error absoluto medio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mae =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mean_absolute_error(y_test,y_pred)</a:t>
                      </a:r>
                      <a:endParaRPr sz="1150"/>
                    </a:p>
                  </a:txBody>
                  <a:tcPr marT="45725" marB="45725" marR="91450" marL="91450" anchor="ctr"/>
                </a:tc>
              </a:tr>
              <a:tr h="1066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MSE</a:t>
                      </a:r>
                      <a:r>
                        <a:rPr lang="en-US" sz="1800"/>
                        <a:t> (Mean Squared Error)-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Error cuadratico medio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Promedio del cuadrado de los errores.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Penaliza fuertemente los errores grandes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urier New"/>
                        <a:buNone/>
                      </a:pPr>
                      <a:r>
                        <a:rPr lang="en-U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mse = mean_squared_error(y_test,y_pred)</a:t>
                      </a:r>
                      <a:endParaRPr sz="1200"/>
                    </a:p>
                  </a:txBody>
                  <a:tcPr marT="45725" marB="45725" marR="91450" marL="91450" anchor="ctr"/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RMSE</a:t>
                      </a:r>
                      <a:r>
                        <a:rPr lang="en-US" sz="1800"/>
                        <a:t> (Raíz del MSE)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Raíz cuadrada del MSE. Mantiene la misma escala que la variable original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urier New"/>
                        <a:buNone/>
                      </a:pPr>
                      <a:r>
                        <a:rPr lang="en-US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rmse = np.sqrt(mse)</a:t>
                      </a:r>
                      <a:endParaRPr sz="1300"/>
                    </a:p>
                  </a:txBody>
                  <a:tcPr marT="45725" marB="45725" marR="91450" marL="91450" anchor="ctr"/>
                </a:tc>
              </a:tr>
              <a:tr h="131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R²</a:t>
                      </a:r>
                      <a:r>
                        <a:rPr lang="en-US" sz="1800"/>
                        <a:t> (Coeficiente de determinación)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urier New"/>
                        <a:buNone/>
                      </a:pPr>
                      <a:r>
                        <a:rPr lang="en-US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r2 = r2_score(y_test, y_pred)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urier New"/>
                        <a:buNone/>
                      </a:pPr>
                      <a:r>
                        <a:rPr lang="en-US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model.score(X_test, y_test)</a:t>
                      </a:r>
                      <a:endParaRPr sz="13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id="627" name="Google Shape;6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2269" y="2605277"/>
            <a:ext cx="2279251" cy="449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2269" y="3588390"/>
            <a:ext cx="2279251" cy="410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32269" y="4591181"/>
            <a:ext cx="2279251" cy="515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2109" y="1587431"/>
            <a:ext cx="2279251" cy="636493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17"/>
          <p:cNvSpPr txBox="1"/>
          <p:nvPr/>
        </p:nvSpPr>
        <p:spPr>
          <a:xfrm>
            <a:off x="3525520" y="326983"/>
            <a:ext cx="534416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4C0C7"/>
                </a:solidFill>
                <a:latin typeface="Calibri"/>
                <a:ea typeface="Calibri"/>
                <a:cs typeface="Calibri"/>
                <a:sym typeface="Calibri"/>
              </a:rPr>
              <a:t>Para Regresión (variable numérica continua)</a:t>
            </a:r>
            <a:endParaRPr b="1" sz="2200">
              <a:solidFill>
                <a:srgbClr val="34C0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7"/>
          <p:cNvSpPr txBox="1"/>
          <p:nvPr/>
        </p:nvSpPr>
        <p:spPr>
          <a:xfrm>
            <a:off x="3525520" y="5857396"/>
            <a:ext cx="65735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MAE, MSE, RMSE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🡪 Indicador de errores acumulados del modelo.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5083"/>
                </a:solidFill>
                <a:latin typeface="Calibri"/>
                <a:ea typeface="Calibri"/>
                <a:cs typeface="Calibri"/>
                <a:sym typeface="Calibri"/>
              </a:rPr>
              <a:t>R² 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🡪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 explicative del modelo.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g3f9693ed6dd_0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8662"/>
            <a:ext cx="12191997" cy="685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g3f9693ed6dd_0_118"/>
          <p:cNvPicPr preferRelativeResize="0"/>
          <p:nvPr/>
        </p:nvPicPr>
        <p:blipFill rotWithShape="1">
          <a:blip r:embed="rId4">
            <a:alphaModFix/>
          </a:blip>
          <a:srcRect b="188" l="16380" r="45107" t="1115"/>
          <a:stretch/>
        </p:blipFill>
        <p:spPr>
          <a:xfrm>
            <a:off x="-76200" y="-50801"/>
            <a:ext cx="4038598" cy="6969761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g3f9693ed6dd_0_118"/>
          <p:cNvSpPr txBox="1"/>
          <p:nvPr/>
        </p:nvSpPr>
        <p:spPr>
          <a:xfrm>
            <a:off x="4411089" y="1595151"/>
            <a:ext cx="713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5083"/>
                </a:solidFill>
                <a:latin typeface="Poppins"/>
                <a:ea typeface="Poppins"/>
                <a:cs typeface="Poppins"/>
                <a:sym typeface="Poppins"/>
              </a:rPr>
              <a:t>1. ML en produccion</a:t>
            </a:r>
            <a:endParaRPr b="1" sz="3000">
              <a:solidFill>
                <a:srgbClr val="00508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0" name="Google Shape;640;g3f9693ed6dd_0_118"/>
          <p:cNvSpPr txBox="1"/>
          <p:nvPr/>
        </p:nvSpPr>
        <p:spPr>
          <a:xfrm>
            <a:off x="4411087" y="2498147"/>
            <a:ext cx="7443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1.1 Análisis Exploratorio de Datos (EDA) </a:t>
            </a:r>
            <a:endParaRPr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1.2 Revisión de modelos y métricas</a:t>
            </a:r>
            <a:r>
              <a:rPr lang="en-US" sz="1600">
                <a:solidFill>
                  <a:schemeClr val="dk1"/>
                </a:solidFill>
              </a:rPr>
              <a:t>  </a:t>
            </a:r>
            <a:endParaRPr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1.3 Interpretabilidad de features</a:t>
            </a:r>
            <a:endParaRPr b="1"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1.4 Series de Tiempo</a:t>
            </a:r>
            <a:endParaRPr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1" name="Google Shape;641;g3f9693ed6dd_0_1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66697" y="5411192"/>
            <a:ext cx="1502666" cy="981458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g3f9693ed6dd_0_118"/>
          <p:cNvSpPr/>
          <p:nvPr/>
        </p:nvSpPr>
        <p:spPr>
          <a:xfrm flipH="1">
            <a:off x="3858801" y="0"/>
            <a:ext cx="194700" cy="6858000"/>
          </a:xfrm>
          <a:prstGeom prst="rect">
            <a:avLst/>
          </a:prstGeom>
          <a:solidFill>
            <a:srgbClr val="34C0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f5d67b6a6c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1"/>
                </a:solidFill>
              </a:rPr>
              <a:t>IA Explicable (XAI) 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649" name="Google Shape;649;g3f5d67b6a6c_0_0"/>
          <p:cNvSpPr txBox="1"/>
          <p:nvPr>
            <p:ph idx="1" type="body"/>
          </p:nvPr>
        </p:nvSpPr>
        <p:spPr>
          <a:xfrm>
            <a:off x="838200" y="1974712"/>
            <a:ext cx="10515600" cy="216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La IA Explicable (XAI) es un conjunto de métodos y técnicas que busca hacer que las decisiones de los modelos de inteligencia artificial sean comprensibles, transparentes y auditable para los humanos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Tradicionalmente, </a:t>
            </a: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algoritmos complejos operan como "cajas negras"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, lo que dificulta saber cómo llegan a un resultado.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0" name="Google Shape;650;g3f5d67b6a6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5625" y="3835337"/>
            <a:ext cx="4325056" cy="241368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8b8a8be19d_0_1"/>
          <p:cNvSpPr txBox="1"/>
          <p:nvPr/>
        </p:nvSpPr>
        <p:spPr>
          <a:xfrm>
            <a:off x="512475" y="545700"/>
            <a:ext cx="10359900" cy="51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Sector Bancario: Aprobación y Rechazo de Créditos Hipotecarios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Un cliente solicita un crédito hipotecario. Un modelo avanzado de Machine Learning analizó cientos de variables y resolvió: </a:t>
            </a:r>
            <a:r>
              <a:rPr b="1" lang="en-US" sz="1800">
                <a:solidFill>
                  <a:schemeClr val="dk1"/>
                </a:solidFill>
              </a:rPr>
              <a:t>Denegado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¿Por qué se necesita IA Explicable?</a:t>
            </a:r>
            <a:endParaRPr b="1" sz="20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accent5"/>
                </a:solidFill>
              </a:rPr>
              <a:t>Derecho a la explicación (Normativa Legal):</a:t>
            </a:r>
            <a:r>
              <a:rPr lang="en-US" sz="1800">
                <a:solidFill>
                  <a:schemeClr val="accent5"/>
                </a:solidFill>
              </a:rPr>
              <a:t> </a:t>
            </a:r>
            <a:r>
              <a:rPr lang="en-US" sz="1800">
                <a:solidFill>
                  <a:schemeClr val="dk1"/>
                </a:solidFill>
              </a:rPr>
              <a:t>En regiones como la Unión Europea o EE. UU. las entidades financieras tienen la obligación legal de explicarle al usuario </a:t>
            </a:r>
            <a:r>
              <a:rPr b="1" lang="en-US" sz="1800">
                <a:solidFill>
                  <a:schemeClr val="dk1"/>
                </a:solidFill>
              </a:rPr>
              <a:t>por qué</a:t>
            </a:r>
            <a:r>
              <a:rPr lang="en-US" sz="1800">
                <a:solidFill>
                  <a:schemeClr val="dk1"/>
                </a:solidFill>
              </a:rPr>
              <a:t> se le rechazó la solicitud. No pueden decir simplemente "el algoritmo dijo que no".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accent5"/>
                </a:solidFill>
              </a:rPr>
              <a:t>Detección de Sesgos (Discriminación):</a:t>
            </a:r>
            <a:r>
              <a:rPr lang="en-US" sz="1800">
                <a:solidFill>
                  <a:schemeClr val="dk1"/>
                </a:solidFill>
              </a:rPr>
              <a:t> Si el modelo no es explicable, podría estar penalizando a personas de cierta edad, género o zona geográfica sin que el banco lo note.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accent5"/>
                </a:solidFill>
              </a:rPr>
              <a:t>Acción correctiva para el usuario:</a:t>
            </a:r>
            <a:r>
              <a:rPr lang="en-US" sz="1800">
                <a:solidFill>
                  <a:schemeClr val="dk1"/>
                </a:solidFill>
              </a:rPr>
              <a:t> Con herramientas como </a:t>
            </a:r>
            <a:r>
              <a:rPr b="1" lang="en-US" sz="1800">
                <a:solidFill>
                  <a:schemeClr val="dk1"/>
                </a:solidFill>
              </a:rPr>
              <a:t>SHAP/Feature Importance</a:t>
            </a:r>
            <a:r>
              <a:rPr lang="en-US" sz="1800">
                <a:solidFill>
                  <a:schemeClr val="dk1"/>
                </a:solidFill>
              </a:rPr>
              <a:t>, el banco puede decirle al cliente:</a:t>
            </a:r>
            <a:br>
              <a:rPr lang="en-US" sz="1800">
                <a:solidFill>
                  <a:schemeClr val="dk1"/>
                </a:solidFill>
              </a:rPr>
            </a:br>
            <a:r>
              <a:rPr i="1" lang="en-US" sz="1800">
                <a:solidFill>
                  <a:schemeClr val="dk1"/>
                </a:solidFill>
              </a:rPr>
              <a:t>"Su crédito no fue aprobado. Si reduce su nivel de endeudamiento actual en un 15% o incrementa su cuota inicial en $5,000, la predicción cambiará a Aprobado."</a:t>
            </a:r>
            <a:endParaRPr i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f5d67b6a6c_0_17"/>
          <p:cNvSpPr txBox="1"/>
          <p:nvPr>
            <p:ph type="title"/>
          </p:nvPr>
        </p:nvSpPr>
        <p:spPr>
          <a:xfrm>
            <a:off x="2655175" y="402400"/>
            <a:ext cx="67728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1"/>
                </a:solidFill>
              </a:rPr>
              <a:t>Técnica: Feature Importance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Importancia de </a:t>
            </a:r>
            <a:r>
              <a:rPr b="1" lang="en-US" sz="1800">
                <a:solidFill>
                  <a:schemeClr val="accent1"/>
                </a:solidFill>
              </a:rPr>
              <a:t>Características</a:t>
            </a:r>
            <a:endParaRPr b="1" sz="1800">
              <a:solidFill>
                <a:schemeClr val="accent1"/>
              </a:solidFill>
            </a:endParaRPr>
          </a:p>
        </p:txBody>
      </p:sp>
      <p:sp>
        <p:nvSpPr>
          <p:cNvPr id="663" name="Google Shape;663;g3f5d67b6a6c_0_17"/>
          <p:cNvSpPr txBox="1"/>
          <p:nvPr>
            <p:ph idx="1" type="body"/>
          </p:nvPr>
        </p:nvSpPr>
        <p:spPr>
          <a:xfrm>
            <a:off x="838200" y="2142419"/>
            <a:ext cx="10515600" cy="396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6773"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6773">
                <a:latin typeface="Arial"/>
                <a:ea typeface="Arial"/>
                <a:cs typeface="Arial"/>
                <a:sym typeface="Arial"/>
              </a:rPr>
              <a:t>s un ranking o puntuación que indica qué variables (features) utilizó más el modelo para tomar sus decisiones en general.</a:t>
            </a:r>
            <a:r>
              <a:rPr lang="en-US" sz="5373">
                <a:latin typeface="Arial"/>
                <a:ea typeface="Arial"/>
                <a:cs typeface="Arial"/>
                <a:sym typeface="Arial"/>
              </a:rPr>
              <a:t> </a:t>
            </a:r>
            <a:endParaRPr sz="6773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5675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Imagine que un médico evalúa si un paciente tiene gripe </a:t>
            </a:r>
            <a:r>
              <a:rPr lang="en-US" sz="5675">
                <a:latin typeface="Arial"/>
                <a:ea typeface="Arial"/>
                <a:cs typeface="Arial"/>
                <a:sym typeface="Arial"/>
              </a:rPr>
              <a:t>revisando: a)Temperatura, b)Dolor de cabeza y c)Color de ojos.</a:t>
            </a:r>
            <a:endParaRPr sz="567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5675">
                <a:latin typeface="Arial"/>
                <a:ea typeface="Arial"/>
                <a:cs typeface="Arial"/>
                <a:sym typeface="Arial"/>
              </a:rPr>
              <a:t>La Temperatura y el Dolor de cabeza pesarán muchísimo en su diagnóstico, mientras que el Color de ojos no aportará nada. Feature importance mide la importancia de cada feature.</a:t>
            </a:r>
            <a:endParaRPr b="1" sz="557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8b8a8be19d_0_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1"/>
                </a:solidFill>
              </a:rPr>
              <a:t>Feature Importance - Calculo:</a:t>
            </a:r>
            <a:endParaRPr b="1" sz="28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1"/>
                </a:solidFill>
              </a:rPr>
              <a:t>Método del Sabotaje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670" name="Google Shape;670;g38b8a8be19d_0_7"/>
          <p:cNvSpPr txBox="1"/>
          <p:nvPr>
            <p:ph idx="1" type="body"/>
          </p:nvPr>
        </p:nvSpPr>
        <p:spPr>
          <a:xfrm>
            <a:off x="838200" y="1825625"/>
            <a:ext cx="105156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Idea: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Si "saboteo" una variable y el modelo empeora mucho, entonces esa variable era muy importante.</a:t>
            </a:r>
            <a:endParaRPr sz="2400"/>
          </a:p>
        </p:txBody>
      </p:sp>
      <p:sp>
        <p:nvSpPr>
          <p:cNvPr id="671" name="Google Shape;671;g38b8a8be19d_0_7"/>
          <p:cNvSpPr txBox="1"/>
          <p:nvPr>
            <p:ph idx="1" type="body"/>
          </p:nvPr>
        </p:nvSpPr>
        <p:spPr>
          <a:xfrm>
            <a:off x="962650" y="3571400"/>
            <a:ext cx="10515600" cy="187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Entrenar y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Evalúa el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 modelo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usando todas las variables.  Ej: R2=0.92.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Sabotear una variable: Seleccionar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variable predictora X_i y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Permutar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sus valores, dejando todas las demás sin cambios.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Volver a Entrenar y Evaluar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ej. Ej: R2=0.61.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Calcular la importancia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de la variable 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Repetir el proceso para cada variable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X_i del modelo.</a:t>
            </a:r>
            <a:endParaRPr sz="37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8b8a8be19d_0_33"/>
          <p:cNvSpPr txBox="1"/>
          <p:nvPr/>
        </p:nvSpPr>
        <p:spPr>
          <a:xfrm>
            <a:off x="2152450" y="201200"/>
            <a:ext cx="8109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</a:rPr>
              <a:t>Supongamos un modelo de regresión para predecir el </a:t>
            </a:r>
            <a:r>
              <a:rPr b="1" lang="en-US" sz="1800">
                <a:solidFill>
                  <a:schemeClr val="accent6"/>
                </a:solidFill>
              </a:rPr>
              <a:t>Precio de una casa</a:t>
            </a:r>
            <a:r>
              <a:rPr lang="en-US" sz="1800">
                <a:solidFill>
                  <a:schemeClr val="accent6"/>
                </a:solidFill>
              </a:rPr>
              <a:t>.</a:t>
            </a:r>
            <a:endParaRPr sz="1800"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6"/>
                </a:solidFill>
              </a:rPr>
              <a:t>X_i = Tamano, Habitaciones, Antiguedad.  </a:t>
            </a:r>
            <a:endParaRPr b="1" sz="1800">
              <a:solidFill>
                <a:schemeClr val="accent6"/>
              </a:solidFill>
            </a:endParaRPr>
          </a:p>
        </p:txBody>
      </p:sp>
      <p:sp>
        <p:nvSpPr>
          <p:cNvPr id="678" name="Google Shape;678;g38b8a8be19d_0_33"/>
          <p:cNvSpPr txBox="1"/>
          <p:nvPr/>
        </p:nvSpPr>
        <p:spPr>
          <a:xfrm>
            <a:off x="1313815" y="922480"/>
            <a:ext cx="99963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1. </a:t>
            </a:r>
            <a:r>
              <a:rPr b="1" lang="en-US" sz="2000">
                <a:solidFill>
                  <a:schemeClr val="dk1"/>
                </a:solidFill>
              </a:rPr>
              <a:t>Entrenar y Evalúa el modelo</a:t>
            </a:r>
            <a:r>
              <a:rPr lang="en-US" sz="2000">
                <a:solidFill>
                  <a:schemeClr val="dk1"/>
                </a:solidFill>
              </a:rPr>
              <a:t> usando todas las variables. 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Ej: R2=0.92.</a:t>
            </a:r>
            <a:endParaRPr/>
          </a:p>
        </p:txBody>
      </p:sp>
      <p:sp>
        <p:nvSpPr>
          <p:cNvPr id="679" name="Google Shape;679;g38b8a8be19d_0_33"/>
          <p:cNvSpPr txBox="1"/>
          <p:nvPr/>
        </p:nvSpPr>
        <p:spPr>
          <a:xfrm>
            <a:off x="1313815" y="2254055"/>
            <a:ext cx="99963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2. Sabotear una variable predictora. 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Elegimos la variable </a:t>
            </a:r>
            <a:r>
              <a:rPr lang="en-US" sz="2000">
                <a:solidFill>
                  <a:schemeClr val="accent6"/>
                </a:solidFill>
              </a:rPr>
              <a:t>Tamaño</a:t>
            </a:r>
            <a:r>
              <a:rPr lang="en-US" sz="2000">
                <a:solidFill>
                  <a:schemeClr val="accent6"/>
                </a:solidFill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y </a:t>
            </a:r>
            <a:r>
              <a:rPr b="1" lang="en-US" sz="2000">
                <a:solidFill>
                  <a:schemeClr val="accent2"/>
                </a:solidFill>
              </a:rPr>
              <a:t>Permutamos </a:t>
            </a:r>
            <a:r>
              <a:rPr lang="en-US" sz="2000">
                <a:solidFill>
                  <a:schemeClr val="dk1"/>
                </a:solidFill>
              </a:rPr>
              <a:t>(mezclamos aleatoriamente sus valores).</a:t>
            </a:r>
            <a:endParaRPr/>
          </a:p>
        </p:txBody>
      </p:sp>
      <p:graphicFrame>
        <p:nvGraphicFramePr>
          <p:cNvPr id="680" name="Google Shape;680;g38b8a8be19d_0_33"/>
          <p:cNvGraphicFramePr/>
          <p:nvPr/>
        </p:nvGraphicFramePr>
        <p:xfrm>
          <a:off x="1590472" y="345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{4BBCF7D7-AE8C-4610-8E5E-FE50FF2AD8CB}</a:tableStyleId>
              </a:tblPr>
              <a:tblGrid>
                <a:gridCol w="1345625"/>
                <a:gridCol w="21306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accent6"/>
                          </a:solidFill>
                        </a:rPr>
                        <a:t>Casa</a:t>
                      </a:r>
                      <a:endParaRPr b="1" sz="2100">
                        <a:solidFill>
                          <a:schemeClr val="accent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accent6"/>
                          </a:solidFill>
                        </a:rPr>
                        <a:t>Tamaño</a:t>
                      </a:r>
                      <a:endParaRPr b="1" sz="2100">
                        <a:solidFill>
                          <a:schemeClr val="accent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150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180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220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170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1" name="Google Shape;681;g38b8a8be19d_0_33"/>
          <p:cNvGraphicFramePr/>
          <p:nvPr/>
        </p:nvGraphicFramePr>
        <p:xfrm>
          <a:off x="7274422" y="345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{4BBCF7D7-AE8C-4610-8E5E-FE50FF2AD8CB}</a:tableStyleId>
              </a:tblPr>
              <a:tblGrid>
                <a:gridCol w="1287925"/>
                <a:gridCol w="20392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accent6"/>
                          </a:solidFill>
                        </a:rPr>
                        <a:t>Casa</a:t>
                      </a:r>
                      <a:endParaRPr b="1" sz="2100">
                        <a:solidFill>
                          <a:schemeClr val="accent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accent6"/>
                          </a:solidFill>
                        </a:rPr>
                        <a:t>Tamaño</a:t>
                      </a:r>
                      <a:endParaRPr b="1" sz="2100">
                        <a:solidFill>
                          <a:schemeClr val="accent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220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150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170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180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82" name="Google Shape;682;g38b8a8be19d_0_33"/>
          <p:cNvCxnSpPr/>
          <p:nvPr/>
        </p:nvCxnSpPr>
        <p:spPr>
          <a:xfrm>
            <a:off x="5079647" y="4689425"/>
            <a:ext cx="2208300" cy="93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3" name="Google Shape;683;g38b8a8be19d_0_33"/>
          <p:cNvSpPr txBox="1"/>
          <p:nvPr/>
        </p:nvSpPr>
        <p:spPr>
          <a:xfrm>
            <a:off x="5530210" y="4168425"/>
            <a:ext cx="128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Permutar</a:t>
            </a:r>
            <a:endParaRPr/>
          </a:p>
        </p:txBody>
      </p:sp>
      <p:sp>
        <p:nvSpPr>
          <p:cNvPr id="684" name="Google Shape;684;g38b8a8be19d_0_33"/>
          <p:cNvSpPr txBox="1"/>
          <p:nvPr/>
        </p:nvSpPr>
        <p:spPr>
          <a:xfrm>
            <a:off x="3287375" y="5973575"/>
            <a:ext cx="6041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accent2"/>
                </a:solidFill>
              </a:rPr>
              <a:t>Las demás variables X_i permanecen exactamente iguales. </a:t>
            </a:r>
            <a:endParaRPr sz="17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8b8a8be19d_0_52"/>
          <p:cNvSpPr txBox="1"/>
          <p:nvPr/>
        </p:nvSpPr>
        <p:spPr>
          <a:xfrm>
            <a:off x="1313815" y="922480"/>
            <a:ext cx="9996300" cy="56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3</a:t>
            </a:r>
            <a:r>
              <a:rPr b="1" lang="en-US" sz="2000">
                <a:solidFill>
                  <a:schemeClr val="dk1"/>
                </a:solidFill>
              </a:rPr>
              <a:t>. Volver a Entrenar y Evalúa el modelo</a:t>
            </a:r>
            <a:r>
              <a:rPr lang="en-US" sz="2000">
                <a:solidFill>
                  <a:schemeClr val="dk1"/>
                </a:solidFill>
              </a:rPr>
              <a:t> usando todas las variables. 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Ej: R2=0.61.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4</a:t>
            </a:r>
            <a:r>
              <a:rPr b="1" lang="en-US" sz="2000">
                <a:solidFill>
                  <a:schemeClr val="dk1"/>
                </a:solidFill>
              </a:rPr>
              <a:t>. Calcular la importancia </a:t>
            </a:r>
            <a:r>
              <a:rPr lang="en-US" sz="2000">
                <a:solidFill>
                  <a:schemeClr val="dk1"/>
                </a:solidFill>
              </a:rPr>
              <a:t>de la variable X_i. 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			Importancia =  0.92 - 0.61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			Importancia = 0.31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PERMUTAR/Repetir varias veces</a:t>
            </a:r>
            <a:r>
              <a:rPr lang="en-US" sz="2000">
                <a:solidFill>
                  <a:schemeClr val="dk1"/>
                </a:solidFill>
              </a:rPr>
              <a:t> (ej: 10 permutaciones) y calcular el </a:t>
            </a:r>
            <a:r>
              <a:rPr b="1" lang="en-US" sz="2000">
                <a:solidFill>
                  <a:schemeClr val="dk1"/>
                </a:solidFill>
              </a:rPr>
              <a:t>promedio</a:t>
            </a:r>
            <a:r>
              <a:rPr lang="en-US" sz="2000">
                <a:solidFill>
                  <a:schemeClr val="dk1"/>
                </a:solidFill>
              </a:rPr>
              <a:t> de las importancias. 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5"/>
                </a:solidFill>
              </a:rPr>
              <a:t>5. Repetir el proceso para cada variable</a:t>
            </a:r>
            <a:r>
              <a:rPr lang="en-US" sz="2000">
                <a:solidFill>
                  <a:schemeClr val="accent5"/>
                </a:solidFill>
              </a:rPr>
              <a:t> X_i del modelo.</a:t>
            </a:r>
            <a:endParaRPr sz="37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691" name="Google Shape;691;g38b8a8be19d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7100" y="2552405"/>
            <a:ext cx="6734175" cy="7334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7" name="Google Shape;697;g38b8a8be19d_0_61"/>
          <p:cNvGraphicFramePr/>
          <p:nvPr/>
        </p:nvGraphicFramePr>
        <p:xfrm>
          <a:off x="2924363" y="180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{4BBCF7D7-AE8C-4610-8E5E-FE50FF2AD8CB}</a:tableStyleId>
              </a:tblPr>
              <a:tblGrid>
                <a:gridCol w="1445525"/>
                <a:gridCol w="1683600"/>
                <a:gridCol w="1734625"/>
                <a:gridCol w="14795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chemeClr val="accent6"/>
                          </a:solidFill>
                        </a:rPr>
                        <a:t>Variable</a:t>
                      </a:r>
                      <a:endParaRPr b="1" sz="1700">
                        <a:solidFill>
                          <a:schemeClr val="accent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chemeClr val="accent6"/>
                          </a:solidFill>
                        </a:rPr>
                        <a:t>(R^2) original</a:t>
                      </a:r>
                      <a:endParaRPr b="1" sz="1700">
                        <a:solidFill>
                          <a:schemeClr val="accent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chemeClr val="accent6"/>
                          </a:solidFill>
                        </a:rPr>
                        <a:t>(R^2) sabotaje</a:t>
                      </a:r>
                      <a:endParaRPr b="1" sz="1700">
                        <a:solidFill>
                          <a:schemeClr val="accent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chemeClr val="accent6"/>
                          </a:solidFill>
                        </a:rPr>
                        <a:t>Importancia</a:t>
                      </a:r>
                      <a:endParaRPr b="1" sz="1700">
                        <a:solidFill>
                          <a:schemeClr val="accent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Tamaño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0.61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0.31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Habitaciones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0.08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Antigüedad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0.04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98" name="Google Shape;698;g38b8a8be19d_0_61"/>
          <p:cNvSpPr txBox="1"/>
          <p:nvPr/>
        </p:nvSpPr>
        <p:spPr>
          <a:xfrm>
            <a:off x="1153650" y="717500"/>
            <a:ext cx="9884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Tamaño</a:t>
            </a:r>
            <a:r>
              <a:rPr lang="en-US" sz="2000">
                <a:solidFill>
                  <a:schemeClr val="dk1"/>
                </a:solidFill>
              </a:rPr>
              <a:t> produjo la mayor caída en el desempeño, concluimos que es la variable más importante para el modelo. </a:t>
            </a:r>
            <a:endParaRPr sz="23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8b8a8be19d_0_79"/>
          <p:cNvSpPr txBox="1"/>
          <p:nvPr/>
        </p:nvSpPr>
        <p:spPr>
          <a:xfrm>
            <a:off x="1605600" y="1183375"/>
            <a:ext cx="89808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El valor de importancia </a:t>
            </a:r>
            <a:r>
              <a:rPr b="1" lang="en-US" sz="1800">
                <a:solidFill>
                  <a:schemeClr val="dk1"/>
                </a:solidFill>
              </a:rPr>
              <a:t>no tiene una unidad universal</a:t>
            </a:r>
            <a:r>
              <a:rPr lang="en-US" sz="1800">
                <a:solidFill>
                  <a:schemeClr val="dk1"/>
                </a:solidFill>
              </a:rPr>
              <a:t>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Depende de la métrica que estés usando: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Si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scoring="r2"</a:t>
            </a:r>
            <a:r>
              <a:rPr lang="en-US" sz="1800">
                <a:solidFill>
                  <a:schemeClr val="dk1"/>
                </a:solidFill>
              </a:rPr>
              <a:t>, la importancia es la </a:t>
            </a:r>
            <a:r>
              <a:rPr b="1" lang="en-US" sz="1800">
                <a:solidFill>
                  <a:schemeClr val="dk1"/>
                </a:solidFill>
              </a:rPr>
              <a:t>disminución del R^2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Si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scoring="neg_mean_squared_error"</a:t>
            </a:r>
            <a:r>
              <a:rPr lang="en-US" sz="1800">
                <a:solidFill>
                  <a:schemeClr val="dk1"/>
                </a:solidFill>
              </a:rPr>
              <a:t>, refleja el cambio en el </a:t>
            </a:r>
            <a:r>
              <a:rPr b="1" lang="en-US" sz="1800">
                <a:solidFill>
                  <a:schemeClr val="dk1"/>
                </a:solidFill>
              </a:rPr>
              <a:t>MSE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Si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scoring="accuracy"</a:t>
            </a:r>
            <a:r>
              <a:rPr lang="en-US" sz="1800">
                <a:solidFill>
                  <a:schemeClr val="dk1"/>
                </a:solidFill>
              </a:rPr>
              <a:t>, representa la </a:t>
            </a:r>
            <a:r>
              <a:rPr b="1" lang="en-US" sz="1800">
                <a:solidFill>
                  <a:schemeClr val="dk1"/>
                </a:solidFill>
              </a:rPr>
              <a:t>caída en la exactitud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Por eso los números pueden ser 0.42, 8000, 0.08, etc.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Lo importante es que </a:t>
            </a:r>
            <a:r>
              <a:rPr b="1" lang="en-US" sz="1800">
                <a:solidFill>
                  <a:schemeClr val="dk1"/>
                </a:solidFill>
              </a:rPr>
              <a:t>cuanto mayor sea el deterioro del desempeño al sabotear una variable, mayor será su importancia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g38b8a8be19d_0_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3150" y="161150"/>
            <a:ext cx="5205701" cy="29021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1" name="Google Shape;711;g38b8a8be19d_0_88"/>
          <p:cNvSpPr txBox="1"/>
          <p:nvPr/>
        </p:nvSpPr>
        <p:spPr>
          <a:xfrm>
            <a:off x="5173950" y="3322469"/>
            <a:ext cx="207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Limitaciones</a:t>
            </a:r>
            <a:r>
              <a:rPr lang="en-US" sz="2400">
                <a:solidFill>
                  <a:schemeClr val="dk1"/>
                </a:solidFill>
              </a:rPr>
              <a:t> </a:t>
            </a:r>
            <a:endParaRPr sz="1800"/>
          </a:p>
        </p:txBody>
      </p:sp>
      <p:sp>
        <p:nvSpPr>
          <p:cNvPr id="712" name="Google Shape;712;g38b8a8be19d_0_88"/>
          <p:cNvSpPr txBox="1"/>
          <p:nvPr/>
        </p:nvSpPr>
        <p:spPr>
          <a:xfrm>
            <a:off x="1079125" y="3981009"/>
            <a:ext cx="9951600" cy="21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6"/>
                </a:solidFill>
              </a:rPr>
              <a:t>S</a:t>
            </a:r>
            <a:r>
              <a:rPr b="1" lang="en-US" sz="1600">
                <a:solidFill>
                  <a:schemeClr val="accent6"/>
                </a:solidFill>
              </a:rPr>
              <a:t>olo INTERPRETABILIDAD GLOBAL:</a:t>
            </a:r>
            <a:r>
              <a:rPr lang="en-US" sz="1600">
                <a:solidFill>
                  <a:schemeClr val="dk1"/>
                </a:solidFill>
              </a:rPr>
              <a:t> Indica que el </a:t>
            </a:r>
            <a:r>
              <a:rPr i="1" lang="en-US" sz="1600">
                <a:solidFill>
                  <a:schemeClr val="dk1"/>
                </a:solidFill>
              </a:rPr>
              <a:t>Ingreso Mensual</a:t>
            </a:r>
            <a:r>
              <a:rPr lang="en-US" sz="1600">
                <a:solidFill>
                  <a:schemeClr val="dk1"/>
                </a:solidFill>
              </a:rPr>
              <a:t> importa un 55% para el modelo </a:t>
            </a:r>
            <a:r>
              <a:rPr i="1" lang="en-US" sz="1600">
                <a:solidFill>
                  <a:schemeClr val="dk1"/>
                </a:solidFill>
              </a:rPr>
              <a:t>en general</a:t>
            </a:r>
            <a:r>
              <a:rPr lang="en-US" sz="1600">
                <a:solidFill>
                  <a:schemeClr val="dk1"/>
                </a:solidFill>
              </a:rPr>
              <a:t>, pero no explica el caso de </a:t>
            </a:r>
            <a:r>
              <a:rPr b="1" lang="en-US" sz="1600">
                <a:solidFill>
                  <a:schemeClr val="dk1"/>
                </a:solidFill>
              </a:rPr>
              <a:t>un cliente en particular</a:t>
            </a:r>
            <a:r>
              <a:rPr lang="en-US" sz="1600">
                <a:solidFill>
                  <a:schemeClr val="dk1"/>
                </a:solidFill>
              </a:rPr>
              <a:t> (</a:t>
            </a:r>
            <a:r>
              <a:rPr i="1" lang="en-US" sz="1600">
                <a:solidFill>
                  <a:schemeClr val="dk1"/>
                </a:solidFill>
              </a:rPr>
              <a:t>interpretabilidad local</a:t>
            </a:r>
            <a:r>
              <a:rPr lang="en-US" sz="1600">
                <a:solidFill>
                  <a:schemeClr val="dk1"/>
                </a:solidFill>
              </a:rPr>
              <a:t>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6"/>
                </a:solidFill>
              </a:rPr>
              <a:t>No tiene DIRECCIÓN:</a:t>
            </a:r>
            <a:r>
              <a:rPr lang="en-US" sz="1600">
                <a:solidFill>
                  <a:schemeClr val="dk1"/>
                </a:solidFill>
              </a:rPr>
              <a:t> Indica que el </a:t>
            </a:r>
            <a:r>
              <a:rPr i="1" lang="en-US" sz="1600">
                <a:solidFill>
                  <a:schemeClr val="dk1"/>
                </a:solidFill>
              </a:rPr>
              <a:t>Ingreso Mensual</a:t>
            </a:r>
            <a:r>
              <a:rPr lang="en-US" sz="1600">
                <a:solidFill>
                  <a:schemeClr val="dk1"/>
                </a:solidFill>
              </a:rPr>
              <a:t> es importante, pero el gráfico de </a:t>
            </a:r>
            <a:r>
              <a:rPr i="1" lang="en-US" sz="1600">
                <a:solidFill>
                  <a:schemeClr val="dk1"/>
                </a:solidFill>
              </a:rPr>
              <a:t>Feature Importance</a:t>
            </a:r>
            <a:r>
              <a:rPr lang="en-US" sz="1600">
                <a:solidFill>
                  <a:schemeClr val="dk1"/>
                </a:solidFill>
              </a:rPr>
              <a:t> </a:t>
            </a:r>
            <a:r>
              <a:rPr b="1" lang="en-US" sz="1600">
                <a:solidFill>
                  <a:schemeClr val="dk1"/>
                </a:solidFill>
              </a:rPr>
              <a:t>NO dice</a:t>
            </a:r>
            <a:r>
              <a:rPr lang="en-US" sz="1600">
                <a:solidFill>
                  <a:schemeClr val="dk1"/>
                </a:solidFill>
              </a:rPr>
              <a:t> indica directa o inversa proporcionalidad.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6"/>
                </a:solidFill>
              </a:rPr>
              <a:t>No detecta la correlación bien:</a:t>
            </a:r>
            <a:r>
              <a:rPr lang="en-US" sz="1600">
                <a:solidFill>
                  <a:schemeClr val="dk1"/>
                </a:solidFill>
              </a:rPr>
              <a:t> Si tienes dos variables muy parecidas (ej. </a:t>
            </a:r>
            <a:r>
              <a:rPr i="1" lang="en-US" sz="1600">
                <a:solidFill>
                  <a:schemeClr val="dk1"/>
                </a:solidFill>
              </a:rPr>
              <a:t>Ingreso en USD</a:t>
            </a:r>
            <a:r>
              <a:rPr lang="en-US" sz="1600">
                <a:solidFill>
                  <a:schemeClr val="dk1"/>
                </a:solidFill>
              </a:rPr>
              <a:t> e </a:t>
            </a:r>
            <a:r>
              <a:rPr i="1" lang="en-US" sz="1600">
                <a:solidFill>
                  <a:schemeClr val="dk1"/>
                </a:solidFill>
              </a:rPr>
              <a:t>Ingreso en Euros</a:t>
            </a:r>
            <a:r>
              <a:rPr lang="en-US" sz="1600">
                <a:solidFill>
                  <a:schemeClr val="dk1"/>
                </a:solidFill>
              </a:rPr>
              <a:t>), el modelo se puede confundir y dividir la importancia entre las dos, haciendo que parezcan menos importantes de lo que realmente son.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8b8a8be19d_0_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1"/>
                </a:solidFill>
              </a:rPr>
              <a:t>Tecnica: SHAP VALUE</a:t>
            </a:r>
            <a:endParaRPr/>
          </a:p>
        </p:txBody>
      </p:sp>
      <p:sp>
        <p:nvSpPr>
          <p:cNvPr id="719" name="Google Shape;719;g38b8a8be19d_0_16"/>
          <p:cNvSpPr txBox="1"/>
          <p:nvPr>
            <p:ph idx="1" type="body"/>
          </p:nvPr>
        </p:nvSpPr>
        <p:spPr>
          <a:xfrm>
            <a:off x="838200" y="2142435"/>
            <a:ext cx="10515600" cy="251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SHAP (SHapley Additive exPlanations):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 Asigna a cada variable característica (X_i) un valor de importancia para una predicción específica.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SHAP mide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cuánto contribuye cada variable feature ‘X_i’ a una predicción individual.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8b8a8be19d_0_24"/>
          <p:cNvSpPr txBox="1"/>
          <p:nvPr/>
        </p:nvSpPr>
        <p:spPr>
          <a:xfrm>
            <a:off x="1181625" y="382025"/>
            <a:ext cx="9448200" cy="3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accent6"/>
                </a:solidFill>
              </a:rPr>
              <a:t>Imaginemos un modelo para predecir el </a:t>
            </a:r>
            <a:r>
              <a:rPr b="1" lang="en-US" sz="2500">
                <a:solidFill>
                  <a:schemeClr val="accent6"/>
                </a:solidFill>
              </a:rPr>
              <a:t>precio de una casa</a:t>
            </a:r>
            <a:r>
              <a:rPr lang="en-US" sz="2500">
                <a:solidFill>
                  <a:schemeClr val="accent6"/>
                </a:solidFill>
              </a:rPr>
              <a:t>:</a:t>
            </a:r>
            <a:endParaRPr sz="2500"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</a:rPr>
              <a:t>X_i =Tamano, Habitaciones, Antiguedad.  </a:t>
            </a:r>
            <a:endParaRPr sz="1800"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accent6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Valor Base:</a:t>
            </a:r>
            <a:r>
              <a:rPr lang="en-US" sz="1800">
                <a:solidFill>
                  <a:schemeClr val="dk1"/>
                </a:solidFill>
              </a:rPr>
              <a:t> El precio promedio de todas las casas en el dataset de train es </a:t>
            </a:r>
            <a:r>
              <a:rPr b="1" lang="en-US" sz="1800">
                <a:solidFill>
                  <a:schemeClr val="dk1"/>
                </a:solidFill>
              </a:rPr>
              <a:t>$200,000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Predicción concreta:</a:t>
            </a:r>
            <a:r>
              <a:rPr lang="en-US" sz="1800">
                <a:solidFill>
                  <a:schemeClr val="dk1"/>
                </a:solidFill>
              </a:rPr>
              <a:t> Para una casa específica, el modelo predice </a:t>
            </a:r>
            <a:r>
              <a:rPr b="1" lang="en-US" sz="1800">
                <a:solidFill>
                  <a:schemeClr val="dk1"/>
                </a:solidFill>
              </a:rPr>
              <a:t>$250,000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SHAP responde la pregunta: </a:t>
            </a:r>
            <a:r>
              <a:rPr b="1" lang="en-US" sz="1800">
                <a:solidFill>
                  <a:schemeClr val="dk1"/>
                </a:solidFill>
              </a:rPr>
              <a:t>¿Cómo pasamos de $200,000 a $250,000?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SHAP le asigna un impacto numérico a cada variable: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726" name="Google Shape;726;g38b8a8be19d_0_24"/>
          <p:cNvGraphicFramePr/>
          <p:nvPr/>
        </p:nvGraphicFramePr>
        <p:xfrm>
          <a:off x="1060400" y="40006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{4BBCF7D7-AE8C-4610-8E5E-FE50FF2AD8CB}</a:tableStyleId>
              </a:tblPr>
              <a:tblGrid>
                <a:gridCol w="1647200"/>
                <a:gridCol w="2109625"/>
                <a:gridCol w="1647200"/>
                <a:gridCol w="4667150"/>
              </a:tblGrid>
              <a:tr h="352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1F1F1F"/>
                          </a:solidFill>
                        </a:rPr>
                        <a:t>Variable</a:t>
                      </a:r>
                      <a:endParaRPr b="1" sz="1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1F1F1F"/>
                          </a:solidFill>
                        </a:rPr>
                        <a:t>Valor de la casa</a:t>
                      </a:r>
                      <a:endParaRPr b="1" sz="1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1F1F1F"/>
                          </a:solidFill>
                        </a:rPr>
                        <a:t>Valor SHAP</a:t>
                      </a:r>
                      <a:endParaRPr b="1" sz="1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1F1F1F"/>
                          </a:solidFill>
                        </a:rPr>
                        <a:t>Explicación</a:t>
                      </a:r>
                      <a:endParaRPr b="1" sz="1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1F1F1F"/>
                          </a:solidFill>
                        </a:rPr>
                        <a:t>Tamaño</a:t>
                      </a:r>
                      <a:endParaRPr b="1" sz="1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</a:rPr>
                        <a:t>200 m²</a:t>
                      </a:r>
                      <a:endParaRPr sz="1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70C0"/>
                          </a:solidFill>
                        </a:rPr>
                        <a:t>+$30,000</a:t>
                      </a:r>
                      <a:endParaRPr sz="1800">
                        <a:solidFill>
                          <a:srgbClr val="0070C0"/>
                        </a:solidFill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</a:rPr>
                        <a:t>Aumenta el precio por ser casa grande.</a:t>
                      </a:r>
                      <a:endParaRPr sz="1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1F1F1F"/>
                          </a:solidFill>
                        </a:rPr>
                        <a:t>Ubicación</a:t>
                      </a:r>
                      <a:endParaRPr b="1" sz="1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</a:rPr>
                        <a:t>Zona Céntrica</a:t>
                      </a:r>
                      <a:endParaRPr sz="1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70C0"/>
                          </a:solidFill>
                        </a:rPr>
                        <a:t>+$25,000</a:t>
                      </a:r>
                      <a:endParaRPr sz="1800">
                        <a:solidFill>
                          <a:srgbClr val="0070C0"/>
                        </a:solidFill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</a:rPr>
                        <a:t>Aumenta el precio por estar bien ubicada.</a:t>
                      </a:r>
                      <a:endParaRPr sz="1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1F1F1F"/>
                          </a:solidFill>
                        </a:rPr>
                        <a:t>Antigüedad</a:t>
                      </a:r>
                      <a:endParaRPr b="1" sz="1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</a:rPr>
                        <a:t>30 años</a:t>
                      </a:r>
                      <a:endParaRPr sz="1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70C0"/>
                          </a:solidFill>
                        </a:rPr>
                        <a:t>-$5,000</a:t>
                      </a:r>
                      <a:endParaRPr sz="1800">
                        <a:solidFill>
                          <a:srgbClr val="0070C0"/>
                        </a:solidFill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</a:rPr>
                        <a:t>Reduce el precio por ser antigua.</a:t>
                      </a:r>
                      <a:endParaRPr sz="1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2" name="Google Shape;732;g38b8a8be19d_0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850" y="1744472"/>
            <a:ext cx="7915275" cy="1638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8b8a8be19d_0_141"/>
          <p:cNvSpPr txBox="1"/>
          <p:nvPr/>
        </p:nvSpPr>
        <p:spPr>
          <a:xfrm>
            <a:off x="1784475" y="2078514"/>
            <a:ext cx="7727400" cy="23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Valor Base:</a:t>
            </a:r>
            <a:r>
              <a:rPr lang="en-US" sz="1800"/>
              <a:t>  $200k  (promedio de valor de las casas del entrenamiento).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Prediccion:</a:t>
            </a:r>
            <a:r>
              <a:rPr lang="en-US" sz="1800">
                <a:solidFill>
                  <a:schemeClr val="dk1"/>
                </a:solidFill>
              </a:rPr>
              <a:t>  $250k.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$50k se deben explicar.</a:t>
            </a:r>
            <a:r>
              <a:rPr lang="en-US" sz="1800"/>
              <a:t> Que feature ‘</a:t>
            </a:r>
            <a:r>
              <a:rPr b="1" lang="en-US" sz="1800"/>
              <a:t>X_i</a:t>
            </a:r>
            <a:r>
              <a:rPr lang="en-US" sz="1800"/>
              <a:t>’ los produjo?</a:t>
            </a:r>
            <a:endParaRPr sz="18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800"/>
              <a:t>¿El tamaño?</a:t>
            </a:r>
            <a:endParaRPr sz="18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800"/>
              <a:t>¿Las habitaciones?</a:t>
            </a:r>
            <a:endParaRPr sz="18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800"/>
              <a:t>¿La antigüedad?</a:t>
            </a:r>
            <a:endParaRPr sz="1800"/>
          </a:p>
        </p:txBody>
      </p:sp>
      <p:pic>
        <p:nvPicPr>
          <p:cNvPr id="739" name="Google Shape;739;g38b8a8be19d_0_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8700" y="908134"/>
            <a:ext cx="6638925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8b8a8be19d_0_125"/>
          <p:cNvSpPr txBox="1"/>
          <p:nvPr/>
        </p:nvSpPr>
        <p:spPr>
          <a:xfrm>
            <a:off x="4530025" y="2166575"/>
            <a:ext cx="347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chemeClr val="accent6"/>
                </a:solidFill>
              </a:rPr>
              <a:t>Contribución</a:t>
            </a:r>
            <a:r>
              <a:rPr lang="en-US" sz="2000">
                <a:solidFill>
                  <a:schemeClr val="accent6"/>
                </a:solidFill>
              </a:rPr>
              <a:t> del</a:t>
            </a:r>
            <a:r>
              <a:rPr lang="en-US" sz="2000">
                <a:solidFill>
                  <a:schemeClr val="dk1"/>
                </a:solidFill>
              </a:rPr>
              <a:t> </a:t>
            </a:r>
            <a:r>
              <a:rPr b="1" lang="en-US" sz="2000">
                <a:solidFill>
                  <a:schemeClr val="accent6"/>
                </a:solidFill>
              </a:rPr>
              <a:t>T</a:t>
            </a:r>
            <a:r>
              <a:rPr b="1" lang="en-US" sz="2000">
                <a:solidFill>
                  <a:schemeClr val="accent6"/>
                </a:solidFill>
              </a:rPr>
              <a:t>amaño:</a:t>
            </a:r>
            <a:endParaRPr b="1" sz="1700">
              <a:solidFill>
                <a:schemeClr val="accent6"/>
              </a:solidFill>
            </a:endParaRPr>
          </a:p>
        </p:txBody>
      </p:sp>
      <p:sp>
        <p:nvSpPr>
          <p:cNvPr id="746" name="Google Shape;746;g38b8a8be19d_0_125"/>
          <p:cNvSpPr txBox="1"/>
          <p:nvPr/>
        </p:nvSpPr>
        <p:spPr>
          <a:xfrm>
            <a:off x="1018075" y="2919963"/>
            <a:ext cx="4897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Asuma que </a:t>
            </a:r>
            <a:r>
              <a:rPr b="1" lang="en-US" sz="1700">
                <a:solidFill>
                  <a:schemeClr val="dk1"/>
                </a:solidFill>
              </a:rPr>
              <a:t>el modelo solo conoce el T</a:t>
            </a:r>
            <a:r>
              <a:rPr b="1" lang="en-US" sz="1700">
                <a:solidFill>
                  <a:schemeClr val="dk1"/>
                </a:solidFill>
              </a:rPr>
              <a:t>amaño</a:t>
            </a:r>
            <a:r>
              <a:rPr lang="en-US" sz="1700">
                <a:solidFill>
                  <a:schemeClr val="dk1"/>
                </a:solidFill>
              </a:rPr>
              <a:t> y desconoce habitaciones y antigüedad.</a:t>
            </a:r>
            <a:r>
              <a:rPr lang="en-US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747" name="Google Shape;747;g38b8a8be19d_0_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9163" y="535422"/>
            <a:ext cx="66389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g38b8a8be19d_0_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0023" y="1333344"/>
            <a:ext cx="3131976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g38b8a8be19d_0_125"/>
          <p:cNvSpPr txBox="1"/>
          <p:nvPr/>
        </p:nvSpPr>
        <p:spPr>
          <a:xfrm>
            <a:off x="3012109" y="1396600"/>
            <a:ext cx="159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Prediccion: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750" name="Google Shape;750;g38b8a8be19d_0_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6075" y="2873275"/>
            <a:ext cx="4638675" cy="3162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51" name="Google Shape;751;g38b8a8be19d_0_1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02150" y="3888750"/>
            <a:ext cx="3131975" cy="58323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2" name="Google Shape;752;g38b8a8be19d_0_125"/>
          <p:cNvSpPr txBox="1"/>
          <p:nvPr/>
        </p:nvSpPr>
        <p:spPr>
          <a:xfrm>
            <a:off x="1018075" y="4824138"/>
            <a:ext cx="4897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Valor Base $200k.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Si se considera solo el ‘</a:t>
            </a:r>
            <a:r>
              <a:rPr lang="en-US" sz="1700">
                <a:solidFill>
                  <a:schemeClr val="dk1"/>
                </a:solidFill>
              </a:rPr>
              <a:t>tamaño’, el valor de la casa es $220k.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Asi, su </a:t>
            </a:r>
            <a:r>
              <a:rPr lang="en-US" sz="1700">
                <a:solidFill>
                  <a:schemeClr val="accent6"/>
                </a:solidFill>
              </a:rPr>
              <a:t>aporte es de $20k.</a:t>
            </a:r>
            <a:endParaRPr sz="17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8b8a8be19d_0_154"/>
          <p:cNvSpPr txBox="1"/>
          <p:nvPr/>
        </p:nvSpPr>
        <p:spPr>
          <a:xfrm>
            <a:off x="1544663" y="1047050"/>
            <a:ext cx="9062100" cy="2016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Asuma que </a:t>
            </a:r>
            <a:r>
              <a:rPr b="1" lang="en-US" sz="1700">
                <a:solidFill>
                  <a:schemeClr val="dk1"/>
                </a:solidFill>
              </a:rPr>
              <a:t>el modelo solo conoce </a:t>
            </a:r>
            <a:r>
              <a:rPr b="1" lang="en-US" sz="1700">
                <a:solidFill>
                  <a:schemeClr val="dk1"/>
                </a:solidFill>
              </a:rPr>
              <a:t>Habitaciones</a:t>
            </a:r>
            <a:r>
              <a:rPr lang="en-US" sz="1700">
                <a:solidFill>
                  <a:schemeClr val="dk1"/>
                </a:solidFill>
              </a:rPr>
              <a:t>.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F (habitaciones) = F (4) = 210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Asuma que </a:t>
            </a:r>
            <a:r>
              <a:rPr b="1" lang="en-US" sz="1700">
                <a:solidFill>
                  <a:schemeClr val="dk1"/>
                </a:solidFill>
              </a:rPr>
              <a:t>el modelo conoce Habitaciones y Tamaño</a:t>
            </a:r>
            <a:r>
              <a:rPr lang="en-US" sz="1700">
                <a:solidFill>
                  <a:schemeClr val="dk1"/>
                </a:solidFill>
              </a:rPr>
              <a:t>. pero desconoce antigüedad.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F (tamano, habitaciones) = F (180, 4) = 245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accent6"/>
                </a:solidFill>
              </a:rPr>
              <a:t>Entonces Tamano aporta = 245-210 = $35k</a:t>
            </a:r>
            <a:endParaRPr sz="1700">
              <a:solidFill>
                <a:schemeClr val="accent6"/>
              </a:solidFill>
            </a:endParaRPr>
          </a:p>
        </p:txBody>
      </p:sp>
      <p:sp>
        <p:nvSpPr>
          <p:cNvPr id="759" name="Google Shape;759;g38b8a8be19d_0_154"/>
          <p:cNvSpPr txBox="1"/>
          <p:nvPr/>
        </p:nvSpPr>
        <p:spPr>
          <a:xfrm>
            <a:off x="1585238" y="3389125"/>
            <a:ext cx="9062100" cy="2016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Asuma que </a:t>
            </a:r>
            <a:r>
              <a:rPr b="1" lang="en-US" sz="1700">
                <a:solidFill>
                  <a:schemeClr val="dk1"/>
                </a:solidFill>
              </a:rPr>
              <a:t>el modelo solo conoce </a:t>
            </a:r>
            <a:r>
              <a:rPr b="1" lang="en-US" sz="1700">
                <a:solidFill>
                  <a:schemeClr val="dk1"/>
                </a:solidFill>
              </a:rPr>
              <a:t>Antigüedad</a:t>
            </a:r>
            <a:r>
              <a:rPr lang="en-US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F (antiguedad) = F (5) = 190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Asuma que </a:t>
            </a:r>
            <a:r>
              <a:rPr b="1" lang="en-US" sz="1700">
                <a:solidFill>
                  <a:schemeClr val="dk1"/>
                </a:solidFill>
              </a:rPr>
              <a:t>el modelo conoce </a:t>
            </a:r>
            <a:r>
              <a:rPr b="1" lang="en-US" sz="1700">
                <a:solidFill>
                  <a:schemeClr val="dk1"/>
                </a:solidFill>
              </a:rPr>
              <a:t>Antigüedad</a:t>
            </a:r>
            <a:r>
              <a:rPr b="1" lang="en-US" sz="1700">
                <a:solidFill>
                  <a:schemeClr val="dk1"/>
                </a:solidFill>
              </a:rPr>
              <a:t> y Tamaño</a:t>
            </a:r>
            <a:r>
              <a:rPr lang="en-US" sz="1700">
                <a:solidFill>
                  <a:schemeClr val="dk1"/>
                </a:solidFill>
              </a:rPr>
              <a:t>. pero desconoce habitaciones.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F (antiguedad, tamano) = F (180, 5) = 230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accent6"/>
                </a:solidFill>
              </a:rPr>
              <a:t>Entonces Tamano aporta = 230-190 = $40k</a:t>
            </a:r>
            <a:endParaRPr sz="17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8b8a8be19d_0_162"/>
          <p:cNvSpPr txBox="1"/>
          <p:nvPr/>
        </p:nvSpPr>
        <p:spPr>
          <a:xfrm>
            <a:off x="952850" y="692975"/>
            <a:ext cx="9062100" cy="2016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Asuma que </a:t>
            </a:r>
            <a:r>
              <a:rPr b="1" lang="en-US" sz="1700">
                <a:solidFill>
                  <a:schemeClr val="dk1"/>
                </a:solidFill>
              </a:rPr>
              <a:t>el modelo solo conoce </a:t>
            </a:r>
            <a:r>
              <a:rPr b="1" lang="en-US" sz="1700">
                <a:solidFill>
                  <a:schemeClr val="dk1"/>
                </a:solidFill>
              </a:rPr>
              <a:t>Antigüedad</a:t>
            </a:r>
            <a:r>
              <a:rPr b="1" lang="en-US" sz="1700">
                <a:solidFill>
                  <a:schemeClr val="dk1"/>
                </a:solidFill>
              </a:rPr>
              <a:t> y Habitaciones</a:t>
            </a:r>
            <a:r>
              <a:rPr lang="en-US" sz="1700">
                <a:solidFill>
                  <a:schemeClr val="dk1"/>
                </a:solidFill>
              </a:rPr>
              <a:t>. pero desconoce Tamano.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F (</a:t>
            </a:r>
            <a:r>
              <a:rPr lang="en-US" sz="1700">
                <a:solidFill>
                  <a:schemeClr val="dk1"/>
                </a:solidFill>
              </a:rPr>
              <a:t>antigüedad,</a:t>
            </a:r>
            <a:r>
              <a:rPr lang="en-US" sz="1700">
                <a:solidFill>
                  <a:schemeClr val="dk1"/>
                </a:solidFill>
              </a:rPr>
              <a:t>habitaciones) = F (180,4) = 220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Asuma que </a:t>
            </a:r>
            <a:r>
              <a:rPr b="1" lang="en-US" sz="1700">
                <a:solidFill>
                  <a:schemeClr val="dk1"/>
                </a:solidFill>
              </a:rPr>
              <a:t>el modelo conoce Habitaciones, </a:t>
            </a:r>
            <a:r>
              <a:rPr b="1" lang="en-US" sz="1700">
                <a:solidFill>
                  <a:schemeClr val="dk1"/>
                </a:solidFill>
              </a:rPr>
              <a:t>Antigüedad </a:t>
            </a:r>
            <a:r>
              <a:rPr b="1" lang="en-US" sz="1700">
                <a:solidFill>
                  <a:schemeClr val="dk1"/>
                </a:solidFill>
              </a:rPr>
              <a:t>  y Tamaño</a:t>
            </a:r>
            <a:r>
              <a:rPr lang="en-US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F (tamano, habitaciones) = F (180, 4, 5) = 250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accent6"/>
                </a:solidFill>
              </a:rPr>
              <a:t>Entonces Tamano aporta = 250-200 = $30k</a:t>
            </a:r>
            <a:endParaRPr sz="1700">
              <a:solidFill>
                <a:schemeClr val="accent6"/>
              </a:solidFill>
            </a:endParaRPr>
          </a:p>
        </p:txBody>
      </p:sp>
      <p:sp>
        <p:nvSpPr>
          <p:cNvPr id="766" name="Google Shape;766;g38b8a8be19d_0_162"/>
          <p:cNvSpPr txBox="1"/>
          <p:nvPr/>
        </p:nvSpPr>
        <p:spPr>
          <a:xfrm>
            <a:off x="952850" y="3143475"/>
            <a:ext cx="9062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accent6"/>
                </a:solidFill>
              </a:rPr>
              <a:t>Las aportaciones son: $20k,  $35k,  $40k,  </a:t>
            </a:r>
            <a:r>
              <a:rPr lang="en-US" sz="1700">
                <a:solidFill>
                  <a:schemeClr val="accent6"/>
                </a:solidFill>
              </a:rPr>
              <a:t>$30k</a:t>
            </a:r>
            <a:endParaRPr sz="17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accent6"/>
                </a:solidFill>
              </a:rPr>
              <a:t>Se toma un promedio ponderado</a:t>
            </a:r>
            <a:endParaRPr b="1" sz="1700">
              <a:solidFill>
                <a:schemeClr val="accent6"/>
              </a:solidFill>
            </a:endParaRPr>
          </a:p>
        </p:txBody>
      </p:sp>
      <p:pic>
        <p:nvPicPr>
          <p:cNvPr id="767" name="Google Shape;767;g38b8a8be19d_0_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8500" y="3217325"/>
            <a:ext cx="5404750" cy="312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3" name="Google Shape;773;g38b8a8be19d_0_107"/>
          <p:cNvGraphicFramePr/>
          <p:nvPr/>
        </p:nvGraphicFramePr>
        <p:xfrm>
          <a:off x="462250" y="12254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{4BBCF7D7-AE8C-4610-8E5E-FE50FF2AD8CB}</a:tableStyleId>
              </a:tblPr>
              <a:tblGrid>
                <a:gridCol w="1738400"/>
                <a:gridCol w="4730750"/>
                <a:gridCol w="4913225"/>
              </a:tblGrid>
              <a:tr h="352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1F1F1F"/>
                          </a:solidFill>
                        </a:rPr>
                        <a:t>Característica</a:t>
                      </a:r>
                      <a:endParaRPr b="1"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1F1F1F"/>
                          </a:solidFill>
                        </a:rPr>
                        <a:t>Permutation Importance</a:t>
                      </a:r>
                      <a:endParaRPr b="1"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1F1F1F"/>
                          </a:solidFill>
                        </a:rPr>
                        <a:t>SHAP Values</a:t>
                      </a:r>
                      <a:endParaRPr b="1" sz="1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1F1F"/>
                          </a:solidFill>
                        </a:rPr>
                        <a:t>Alcance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</a:rPr>
                        <a:t>Solo </a:t>
                      </a:r>
                      <a:r>
                        <a:rPr b="1" lang="en-US" sz="1300">
                          <a:solidFill>
                            <a:srgbClr val="1F1F1F"/>
                          </a:solidFill>
                        </a:rPr>
                        <a:t>Global</a:t>
                      </a:r>
                      <a:r>
                        <a:rPr lang="en-US" sz="1300">
                          <a:solidFill>
                            <a:srgbClr val="1F1F1F"/>
                          </a:solidFill>
                        </a:rPr>
                        <a:t> (todo el dataset).</a:t>
                      </a:r>
                      <a:endParaRPr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1F1F"/>
                          </a:solidFill>
                        </a:rPr>
                        <a:t>Local</a:t>
                      </a:r>
                      <a:r>
                        <a:rPr lang="en-US" sz="1300">
                          <a:solidFill>
                            <a:srgbClr val="1F1F1F"/>
                          </a:solidFill>
                        </a:rPr>
                        <a:t> (por individuo) y </a:t>
                      </a:r>
                      <a:r>
                        <a:rPr b="1" lang="en-US" sz="1300">
                          <a:solidFill>
                            <a:srgbClr val="1F1F1F"/>
                          </a:solidFill>
                        </a:rPr>
                        <a:t>Global</a:t>
                      </a:r>
                      <a:r>
                        <a:rPr lang="en-US" sz="1300">
                          <a:solidFill>
                            <a:srgbClr val="1F1F1F"/>
                          </a:solidFill>
                        </a:rPr>
                        <a:t> (agregado).</a:t>
                      </a:r>
                      <a:endParaRPr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1F1F"/>
                          </a:solidFill>
                        </a:rPr>
                        <a:t>Dirección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</a:rPr>
                        <a:t>Solo mide magnitud (cuán importante es).</a:t>
                      </a:r>
                      <a:endParaRPr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</a:rPr>
                        <a:t>Mide magnitud </a:t>
                      </a:r>
                      <a:r>
                        <a:rPr b="1" lang="en-US" sz="1300">
                          <a:solidFill>
                            <a:srgbClr val="1F1F1F"/>
                          </a:solidFill>
                        </a:rPr>
                        <a:t>y dirección</a:t>
                      </a:r>
                      <a:r>
                        <a:rPr lang="en-US" sz="1300">
                          <a:solidFill>
                            <a:srgbClr val="1F1F1F"/>
                          </a:solidFill>
                        </a:rPr>
                        <a:t> (+ o - en la predicción).</a:t>
                      </a:r>
                      <a:endParaRPr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1F1F"/>
                          </a:solidFill>
                        </a:rPr>
                        <a:t>Métrica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</a:rPr>
                        <a:t>Depende de la pérdida de rendimiento (R2, RMSE, Accuracy).</a:t>
                      </a:r>
                      <a:endParaRPr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</a:rPr>
                        <a:t>Está en las </a:t>
                      </a:r>
                      <a:r>
                        <a:rPr b="1" lang="en-US" sz="1300">
                          <a:solidFill>
                            <a:srgbClr val="1F1F1F"/>
                          </a:solidFill>
                        </a:rPr>
                        <a:t>mismas unidades que la salida</a:t>
                      </a:r>
                      <a:r>
                        <a:rPr lang="en-US" sz="13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lang="en-US" sz="1300">
                          <a:solidFill>
                            <a:srgbClr val="1F1F1F"/>
                          </a:solidFill>
                        </a:rPr>
                        <a:t>(</a:t>
                      </a:r>
                      <a:r>
                        <a:rPr lang="en-US" sz="1300">
                          <a:solidFill>
                            <a:srgbClr val="1F1F1F"/>
                          </a:solidFill>
                        </a:rPr>
                        <a:t>años, edad, sueldo).</a:t>
                      </a:r>
                      <a:endParaRPr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74" name="Google Shape;774;g38b8a8be19d_0_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7850" y="3130500"/>
            <a:ext cx="4746775" cy="2747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5" name="Google Shape;775;g38b8a8be19d_0_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2975" y="3207200"/>
            <a:ext cx="4746776" cy="264634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8b8a8be19d_0_18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Practica#2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g38b8a8be19d_0_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8662"/>
            <a:ext cx="12191997" cy="685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g38b8a8be19d_0_170"/>
          <p:cNvPicPr preferRelativeResize="0"/>
          <p:nvPr/>
        </p:nvPicPr>
        <p:blipFill rotWithShape="1">
          <a:blip r:embed="rId4">
            <a:alphaModFix/>
          </a:blip>
          <a:srcRect b="188" l="16380" r="45107" t="1115"/>
          <a:stretch/>
        </p:blipFill>
        <p:spPr>
          <a:xfrm>
            <a:off x="-76200" y="-50801"/>
            <a:ext cx="4038598" cy="6969761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g38b8a8be19d_0_170"/>
          <p:cNvSpPr txBox="1"/>
          <p:nvPr/>
        </p:nvSpPr>
        <p:spPr>
          <a:xfrm>
            <a:off x="4411089" y="1595151"/>
            <a:ext cx="713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5083"/>
                </a:solidFill>
                <a:latin typeface="Poppins"/>
                <a:ea typeface="Poppins"/>
                <a:cs typeface="Poppins"/>
                <a:sym typeface="Poppins"/>
              </a:rPr>
              <a:t>1. ML en produccion</a:t>
            </a:r>
            <a:endParaRPr b="1" sz="3000">
              <a:solidFill>
                <a:srgbClr val="00508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9" name="Google Shape;789;g38b8a8be19d_0_170"/>
          <p:cNvSpPr txBox="1"/>
          <p:nvPr/>
        </p:nvSpPr>
        <p:spPr>
          <a:xfrm>
            <a:off x="4411087" y="2498147"/>
            <a:ext cx="7443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1.1 Análisis Exploratorio de Datos (EDA) </a:t>
            </a:r>
            <a:endParaRPr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1.2 Revisión de modelos y métricas</a:t>
            </a:r>
            <a:r>
              <a:rPr lang="en-US" sz="1600">
                <a:solidFill>
                  <a:schemeClr val="dk1"/>
                </a:solidFill>
              </a:rPr>
              <a:t>  </a:t>
            </a:r>
            <a:endParaRPr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1.3 Interpretabilidad de features</a:t>
            </a:r>
            <a:endParaRPr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1.4 Series de Tiempo</a:t>
            </a:r>
            <a:endParaRPr b="1" sz="2400">
              <a:solidFill>
                <a:srgbClr val="34C0C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90" name="Google Shape;790;g38b8a8be19d_0_1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66697" y="5411192"/>
            <a:ext cx="1502666" cy="981458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g38b8a8be19d_0_170"/>
          <p:cNvSpPr/>
          <p:nvPr/>
        </p:nvSpPr>
        <p:spPr>
          <a:xfrm flipH="1">
            <a:off x="3858801" y="0"/>
            <a:ext cx="194700" cy="6858000"/>
          </a:xfrm>
          <a:prstGeom prst="rect">
            <a:avLst/>
          </a:prstGeom>
          <a:solidFill>
            <a:srgbClr val="34C0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8b8a8be19d_0_179"/>
          <p:cNvSpPr txBox="1"/>
          <p:nvPr/>
        </p:nvSpPr>
        <p:spPr>
          <a:xfrm>
            <a:off x="4202925" y="425625"/>
            <a:ext cx="402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Series de Tiempo</a:t>
            </a:r>
            <a:endParaRPr sz="2200"/>
          </a:p>
        </p:txBody>
      </p:sp>
      <p:sp>
        <p:nvSpPr>
          <p:cNvPr id="798" name="Google Shape;798;g38b8a8be19d_0_179"/>
          <p:cNvSpPr txBox="1"/>
          <p:nvPr/>
        </p:nvSpPr>
        <p:spPr>
          <a:xfrm>
            <a:off x="942525" y="1322765"/>
            <a:ext cx="99711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Una </a:t>
            </a:r>
            <a:r>
              <a:rPr b="1" lang="en-US" sz="1900">
                <a:solidFill>
                  <a:schemeClr val="dk1"/>
                </a:solidFill>
              </a:rPr>
              <a:t>serie de tiempo</a:t>
            </a:r>
            <a:r>
              <a:rPr lang="en-US" sz="1900">
                <a:solidFill>
                  <a:schemeClr val="dk1"/>
                </a:solidFill>
              </a:rPr>
              <a:t> (o serie temporal) es una </a:t>
            </a:r>
            <a:r>
              <a:rPr b="1" lang="en-US" sz="1900">
                <a:solidFill>
                  <a:schemeClr val="dk1"/>
                </a:solidFill>
              </a:rPr>
              <a:t>secuencia de datos recolectados/observados a intervalos de tiempo regulares</a:t>
            </a:r>
            <a:r>
              <a:rPr lang="en-US" sz="1900">
                <a:solidFill>
                  <a:schemeClr val="dk1"/>
                </a:solidFill>
              </a:rPr>
              <a:t> (por ejemplo: por segundo, por hora, diariamente, mensualmente, anualmente).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En las series de tiempo </a:t>
            </a:r>
            <a:r>
              <a:rPr b="1" lang="en-US" sz="1900">
                <a:solidFill>
                  <a:schemeClr val="dk1"/>
                </a:solidFill>
              </a:rPr>
              <a:t>el orden de los datos es fundamental</a:t>
            </a:r>
            <a:r>
              <a:rPr lang="en-US" sz="1900">
                <a:solidFill>
                  <a:schemeClr val="dk1"/>
                </a:solidFill>
              </a:rPr>
              <a:t>, ya que </a:t>
            </a:r>
            <a:r>
              <a:rPr lang="en-US" sz="1900">
                <a:solidFill>
                  <a:schemeClr val="accent5"/>
                </a:solidFill>
              </a:rPr>
              <a:t>existe una dependencia entre las observaciones pasadas y las futuras.</a:t>
            </a:r>
            <a:endParaRPr sz="1900">
              <a:solidFill>
                <a:schemeClr val="accent5"/>
              </a:solidFill>
            </a:endParaRPr>
          </a:p>
        </p:txBody>
      </p:sp>
      <p:pic>
        <p:nvPicPr>
          <p:cNvPr id="799" name="Google Shape;799;g38b8a8be19d_0_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9163" y="3480425"/>
            <a:ext cx="4513674" cy="28922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8b8a8be19d_0_204"/>
          <p:cNvSpPr txBox="1"/>
          <p:nvPr/>
        </p:nvSpPr>
        <p:spPr>
          <a:xfrm>
            <a:off x="1885050" y="610400"/>
            <a:ext cx="83463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/>
              <a:t>En series de tiempo:</a:t>
            </a:r>
            <a:endParaRPr sz="20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2000"/>
              <a:t>Ventas de hoy dependen de las ventas de ayer.</a:t>
            </a:r>
            <a:endParaRPr sz="20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2000"/>
              <a:t>Temperatura de hoy depende de la de los días anteriores.</a:t>
            </a:r>
            <a:endParaRPr sz="20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2000"/>
              <a:t>Precio de una acción depende de los precios recientes.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Hay correlación en los errores/residuos.</a:t>
            </a:r>
            <a:endParaRPr sz="2000"/>
          </a:p>
        </p:txBody>
      </p:sp>
      <p:sp>
        <p:nvSpPr>
          <p:cNvPr id="806" name="Google Shape;806;g38b8a8be19d_0_204"/>
          <p:cNvSpPr txBox="1"/>
          <p:nvPr/>
        </p:nvSpPr>
        <p:spPr>
          <a:xfrm>
            <a:off x="1732450" y="3147729"/>
            <a:ext cx="88851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5"/>
                </a:solidFill>
              </a:rPr>
              <a:t>La </a:t>
            </a:r>
            <a:r>
              <a:rPr lang="en-US" sz="2000">
                <a:solidFill>
                  <a:schemeClr val="accent5"/>
                </a:solidFill>
              </a:rPr>
              <a:t>regresión</a:t>
            </a:r>
            <a:r>
              <a:rPr lang="en-US" sz="2000">
                <a:solidFill>
                  <a:schemeClr val="accent5"/>
                </a:solidFill>
              </a:rPr>
              <a:t> Lineal </a:t>
            </a:r>
            <a:r>
              <a:rPr lang="en-US" sz="2000">
                <a:solidFill>
                  <a:schemeClr val="accent5"/>
                </a:solidFill>
              </a:rPr>
              <a:t>solo aprende una tendencia lineal</a:t>
            </a:r>
            <a:r>
              <a:rPr lang="en-US">
                <a:solidFill>
                  <a:schemeClr val="accent5"/>
                </a:solidFill>
              </a:rPr>
              <a:t>.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chemeClr val="accent5"/>
                </a:solidFill>
              </a:rPr>
              <a:t>No incorporamos información de los valores pasados 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807" name="Google Shape;807;g38b8a8be19d_0_204"/>
          <p:cNvPicPr preferRelativeResize="0"/>
          <p:nvPr/>
        </p:nvPicPr>
        <p:blipFill rotWithShape="1">
          <a:blip r:embed="rId3">
            <a:alphaModFix/>
          </a:blip>
          <a:srcRect b="0" l="0" r="0" t="13390"/>
          <a:stretch/>
        </p:blipFill>
        <p:spPr>
          <a:xfrm>
            <a:off x="2279500" y="4148217"/>
            <a:ext cx="359092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g38b8a8be19d_0_2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9425" y="4218099"/>
            <a:ext cx="4400550" cy="781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9" name="Google Shape;809;g38b8a8be19d_0_204"/>
          <p:cNvCxnSpPr>
            <a:stCxn id="807" idx="3"/>
            <a:endCxn id="808" idx="1"/>
          </p:cNvCxnSpPr>
          <p:nvPr/>
        </p:nvCxnSpPr>
        <p:spPr>
          <a:xfrm flipH="1" rot="10800000">
            <a:off x="5870425" y="4608679"/>
            <a:ext cx="969000" cy="1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8b8a8be19d_0_190"/>
          <p:cNvSpPr txBox="1"/>
          <p:nvPr/>
        </p:nvSpPr>
        <p:spPr>
          <a:xfrm>
            <a:off x="3986400" y="407875"/>
            <a:ext cx="453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Limitaciones de la Regresión Lineal</a:t>
            </a:r>
            <a:endParaRPr sz="2300"/>
          </a:p>
        </p:txBody>
      </p:sp>
      <p:graphicFrame>
        <p:nvGraphicFramePr>
          <p:cNvPr id="816" name="Google Shape;816;g38b8a8be19d_0_190"/>
          <p:cNvGraphicFramePr/>
          <p:nvPr/>
        </p:nvGraphicFramePr>
        <p:xfrm>
          <a:off x="1269675" y="13046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{4BBCF7D7-AE8C-4610-8E5E-FE50FF2AD8CB}</a:tableStyleId>
              </a:tblPr>
              <a:tblGrid>
                <a:gridCol w="9482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1. No considera la dependencia temporal</a:t>
                      </a:r>
                      <a:r>
                        <a:rPr lang="en-US" sz="1600"/>
                        <a:t>. Asume que las observaciones son independientes.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2. No modela la autocorrelación de los errores</a:t>
                      </a:r>
                      <a:r>
                        <a:rPr lang="en-US" sz="1600"/>
                        <a:t>. Los errores de predicción están correlacionados en el tiempo, y la regresión lineal no lo considera.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3</a:t>
                      </a:r>
                      <a:r>
                        <a:rPr b="1" lang="en-US" sz="1600"/>
                        <a:t>. No maneja series no estacionarias</a:t>
                      </a:r>
                      <a:r>
                        <a:rPr lang="en-US" sz="1600"/>
                        <a:t>. Si la media/varianza cambia con el tiempo, la regresión puede producir resultados poco fiables.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4</a:t>
                      </a:r>
                      <a:r>
                        <a:rPr b="1" lang="en-US" sz="1600"/>
                        <a:t>. El entrenamiento tradicional (train/test aleatorio) no es adecuada. </a:t>
                      </a:r>
                      <a:r>
                        <a:rPr lang="en-US" sz="1600"/>
                        <a:t>Se debe entrenar respetando el orden cronológico.</a:t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817" name="Google Shape;817;g38b8a8be19d_0_1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5450" y="3909124"/>
            <a:ext cx="3875799" cy="1815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18" name="Google Shape;818;g38b8a8be19d_0_1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8925" y="3909125"/>
            <a:ext cx="4180275" cy="1815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9" name="Google Shape;819;g38b8a8be19d_0_190"/>
          <p:cNvSpPr txBox="1"/>
          <p:nvPr/>
        </p:nvSpPr>
        <p:spPr>
          <a:xfrm>
            <a:off x="4282625" y="5724650"/>
            <a:ext cx="210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A3A3A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M</a:t>
            </a:r>
            <a:r>
              <a:rPr lang="en-US" sz="1350">
                <a:solidFill>
                  <a:srgbClr val="3A3A3A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edia se incrementa </a:t>
            </a:r>
            <a:endParaRPr sz="1350">
              <a:solidFill>
                <a:srgbClr val="3A3A3A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A3A3A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con el paso del tiempo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820" name="Google Shape;820;g38b8a8be19d_0_190"/>
          <p:cNvSpPr txBox="1"/>
          <p:nvPr/>
        </p:nvSpPr>
        <p:spPr>
          <a:xfrm>
            <a:off x="8519400" y="5724650"/>
            <a:ext cx="2262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A3A3A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Varianz</a:t>
            </a:r>
            <a:r>
              <a:rPr lang="en-US" sz="1350">
                <a:solidFill>
                  <a:srgbClr val="3A3A3A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a se incrementa </a:t>
            </a:r>
            <a:endParaRPr sz="1350">
              <a:solidFill>
                <a:srgbClr val="3A3A3A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A3A3A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con el paso del tiempo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8b8a8be19d_0_194"/>
          <p:cNvSpPr txBox="1"/>
          <p:nvPr/>
        </p:nvSpPr>
        <p:spPr>
          <a:xfrm>
            <a:off x="5254500" y="523149"/>
            <a:ext cx="168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4C0C7"/>
                </a:solidFill>
                <a:latin typeface="Poppins"/>
                <a:ea typeface="Poppins"/>
                <a:cs typeface="Poppins"/>
                <a:sym typeface="Poppins"/>
              </a:rPr>
              <a:t>ARIMA</a:t>
            </a:r>
            <a:endParaRPr sz="2200"/>
          </a:p>
        </p:txBody>
      </p:sp>
      <p:sp>
        <p:nvSpPr>
          <p:cNvPr id="827" name="Google Shape;827;g38b8a8be19d_0_194"/>
          <p:cNvSpPr txBox="1"/>
          <p:nvPr/>
        </p:nvSpPr>
        <p:spPr>
          <a:xfrm>
            <a:off x="3617725" y="1418725"/>
            <a:ext cx="4458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AR</a:t>
            </a:r>
            <a:r>
              <a:rPr lang="en-US" sz="3000">
                <a:solidFill>
                  <a:schemeClr val="dk1"/>
                </a:solidFill>
              </a:rPr>
              <a:t>: AutoRegressivo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I</a:t>
            </a:r>
            <a:r>
              <a:rPr lang="en-US" sz="3000">
                <a:solidFill>
                  <a:schemeClr val="dk1"/>
                </a:solidFill>
              </a:rPr>
              <a:t>: Integrado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MA</a:t>
            </a:r>
            <a:r>
              <a:rPr lang="en-US" sz="3000">
                <a:solidFill>
                  <a:schemeClr val="dk1"/>
                </a:solidFill>
              </a:rPr>
              <a:t>: Media Movil </a:t>
            </a:r>
            <a:r>
              <a:rPr lang="en-US" sz="1200">
                <a:solidFill>
                  <a:schemeClr val="dk1"/>
                </a:solidFill>
              </a:rPr>
              <a:t>(moving average)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28" name="Google Shape;828;g38b8a8be19d_0_194"/>
          <p:cNvSpPr txBox="1"/>
          <p:nvPr/>
        </p:nvSpPr>
        <p:spPr>
          <a:xfrm>
            <a:off x="799350" y="3351800"/>
            <a:ext cx="992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ARIMA son las siglas de </a:t>
            </a:r>
            <a:r>
              <a:rPr b="1" lang="en-US" sz="1800">
                <a:solidFill>
                  <a:schemeClr val="dk1"/>
                </a:solidFill>
              </a:rPr>
              <a:t>AutoRegressive Integrated Moving Average</a:t>
            </a:r>
            <a:r>
              <a:rPr lang="en-US" sz="1800">
                <a:solidFill>
                  <a:schemeClr val="dk1"/>
                </a:solidFill>
              </a:rPr>
              <a:t>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El modelo combina 3 componentes, cada uno resolviendo una limitación de la regresión lineal.</a:t>
            </a:r>
            <a:endParaRPr sz="210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f64ef6a7af_0_3"/>
          <p:cNvSpPr txBox="1"/>
          <p:nvPr/>
        </p:nvSpPr>
        <p:spPr>
          <a:xfrm>
            <a:off x="4372725" y="273300"/>
            <a:ext cx="300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ARIMA (p,d,q) </a:t>
            </a:r>
            <a:endParaRPr sz="3400"/>
          </a:p>
        </p:txBody>
      </p:sp>
      <p:sp>
        <p:nvSpPr>
          <p:cNvPr id="835" name="Google Shape;835;g3f64ef6a7af_0_3"/>
          <p:cNvSpPr txBox="1"/>
          <p:nvPr/>
        </p:nvSpPr>
        <p:spPr>
          <a:xfrm>
            <a:off x="990100" y="1353425"/>
            <a:ext cx="9918300" cy="28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1. AR(p) — Parte </a:t>
            </a:r>
            <a:r>
              <a:rPr b="1" lang="en-US" sz="2100">
                <a:solidFill>
                  <a:schemeClr val="dk1"/>
                </a:solidFill>
              </a:rPr>
              <a:t>autorregresivo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La serie se explica con sus propios valores pasados: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V</a:t>
            </a:r>
            <a:r>
              <a:rPr lang="en-US" sz="1800">
                <a:solidFill>
                  <a:schemeClr val="dk1"/>
                </a:solidFill>
              </a:rPr>
              <a:t>entas de hoy dependen de ventas anteriores: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836" name="Google Shape;836;g3f64ef6a7af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4013" y="2617739"/>
            <a:ext cx="5572125" cy="6667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37" name="Google Shape;837;g3f64ef6a7af_0_3"/>
          <p:cNvSpPr txBox="1"/>
          <p:nvPr/>
        </p:nvSpPr>
        <p:spPr>
          <a:xfrm>
            <a:off x="3704025" y="4418650"/>
            <a:ext cx="5572200" cy="477000"/>
          </a:xfrm>
          <a:prstGeom prst="rect">
            <a:avLst/>
          </a:prstGeom>
          <a:noFill/>
          <a:ln cap="flat" cmpd="sng" w="952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Ventas_t = f(Ventas_t-1, Ventas_t-2)</a:t>
            </a:r>
            <a:r>
              <a:rPr lang="en-US" sz="1900">
                <a:solidFill>
                  <a:schemeClr val="dk1"/>
                </a:solidFill>
              </a:rPr>
              <a:t> </a:t>
            </a:r>
            <a:endParaRPr sz="2200"/>
          </a:p>
        </p:txBody>
      </p:sp>
      <p:sp>
        <p:nvSpPr>
          <p:cNvPr id="838" name="Google Shape;838;g3f64ef6a7af_0_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f753beb3ca_0_0"/>
          <p:cNvSpPr txBox="1"/>
          <p:nvPr/>
        </p:nvSpPr>
        <p:spPr>
          <a:xfrm>
            <a:off x="4372725" y="273300"/>
            <a:ext cx="300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ARIMA (p,d,q) </a:t>
            </a:r>
            <a:endParaRPr sz="3400"/>
          </a:p>
        </p:txBody>
      </p:sp>
      <p:sp>
        <p:nvSpPr>
          <p:cNvPr id="845" name="Google Shape;845;g3f753beb3ca_0_0"/>
          <p:cNvSpPr txBox="1"/>
          <p:nvPr/>
        </p:nvSpPr>
        <p:spPr>
          <a:xfrm>
            <a:off x="990100" y="1350771"/>
            <a:ext cx="9918300" cy="21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2. I(d) — Diferenciación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La regresión lineal falla si la serie no es estacionaria (media o varianza cambian en el tiempo). La solución es diferenciar(restar)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Ej.: ventas 100, 110, 120, 130 → diferencias +10, +10, +10. 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846" name="Google Shape;846;g3f753beb3c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6225" y="3847549"/>
            <a:ext cx="3875799" cy="1815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47" name="Google Shape;847;g3f753beb3ca_0_0"/>
          <p:cNvSpPr txBox="1"/>
          <p:nvPr/>
        </p:nvSpPr>
        <p:spPr>
          <a:xfrm>
            <a:off x="6143400" y="5663075"/>
            <a:ext cx="210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A3A3A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Media se incrementa </a:t>
            </a:r>
            <a:endParaRPr sz="1350">
              <a:solidFill>
                <a:srgbClr val="3A3A3A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A3A3A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con el paso del tiempo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8b8a8be19d_0_231"/>
          <p:cNvSpPr txBox="1"/>
          <p:nvPr/>
        </p:nvSpPr>
        <p:spPr>
          <a:xfrm>
            <a:off x="1136850" y="1324160"/>
            <a:ext cx="9918300" cy="27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3</a:t>
            </a:r>
            <a:r>
              <a:rPr b="1" lang="en-US" sz="2100">
                <a:solidFill>
                  <a:schemeClr val="dk1"/>
                </a:solidFill>
              </a:rPr>
              <a:t>. MA(q) — Media Movil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Modela el error actual como combinación de errores pasados.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Ej.: si ayer hubo un error grande de predicción en ventas, ARIMA lo considera para ajustar la predicción de hoy.</a:t>
            </a:r>
            <a:r>
              <a:rPr b="1" lang="en-US" sz="1800">
                <a:solidFill>
                  <a:schemeClr val="dk1"/>
                </a:solidFill>
              </a:rPr>
              <a:t> 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854" name="Google Shape;854;g38b8a8be19d_0_231"/>
          <p:cNvSpPr txBox="1"/>
          <p:nvPr/>
        </p:nvSpPr>
        <p:spPr>
          <a:xfrm>
            <a:off x="4372725" y="273300"/>
            <a:ext cx="300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ARIMA (p,d,q) </a:t>
            </a:r>
            <a:endParaRPr sz="3400"/>
          </a:p>
        </p:txBody>
      </p:sp>
      <p:pic>
        <p:nvPicPr>
          <p:cNvPr id="855" name="Google Shape;855;g38b8a8be19d_0_2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8050" y="2428460"/>
            <a:ext cx="52959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f753beb3ca_0_22"/>
          <p:cNvSpPr txBox="1"/>
          <p:nvPr>
            <p:ph type="title"/>
          </p:nvPr>
        </p:nvSpPr>
        <p:spPr>
          <a:xfrm>
            <a:off x="838200" y="582024"/>
            <a:ext cx="10515600" cy="760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ARIMA (p,d,q) → (1,1,1)</a:t>
            </a:r>
            <a:endParaRPr/>
          </a:p>
        </p:txBody>
      </p:sp>
      <p:sp>
        <p:nvSpPr>
          <p:cNvPr id="862" name="Google Shape;862;g3f753beb3ca_0_22"/>
          <p:cNvSpPr txBox="1"/>
          <p:nvPr/>
        </p:nvSpPr>
        <p:spPr>
          <a:xfrm>
            <a:off x="2127150" y="1598175"/>
            <a:ext cx="79377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p = 1</a:t>
            </a:r>
            <a:r>
              <a:rPr lang="en-US" sz="2000">
                <a:solidFill>
                  <a:schemeClr val="dk1"/>
                </a:solidFill>
              </a:rPr>
              <a:t> → usa </a:t>
            </a:r>
            <a:r>
              <a:rPr b="1" lang="en-US" sz="2000">
                <a:solidFill>
                  <a:schemeClr val="dk1"/>
                </a:solidFill>
              </a:rPr>
              <a:t>1 valor pasado</a:t>
            </a:r>
            <a:r>
              <a:rPr lang="en-US" sz="2000">
                <a:solidFill>
                  <a:schemeClr val="dk1"/>
                </a:solidFill>
              </a:rPr>
              <a:t> de la serie (AR).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d = 1</a:t>
            </a:r>
            <a:r>
              <a:rPr lang="en-US" sz="2000">
                <a:solidFill>
                  <a:schemeClr val="dk1"/>
                </a:solidFill>
              </a:rPr>
              <a:t> → hace </a:t>
            </a:r>
            <a:r>
              <a:rPr b="1" lang="en-US" sz="2000">
                <a:solidFill>
                  <a:schemeClr val="dk1"/>
                </a:solidFill>
              </a:rPr>
              <a:t>1 diferenciación</a:t>
            </a:r>
            <a:r>
              <a:rPr lang="en-US" sz="2000">
                <a:solidFill>
                  <a:schemeClr val="dk1"/>
                </a:solidFill>
              </a:rPr>
              <a:t> para volver la serie estacionaria.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q = 1</a:t>
            </a:r>
            <a:r>
              <a:rPr lang="en-US" sz="2000">
                <a:solidFill>
                  <a:schemeClr val="dk1"/>
                </a:solidFill>
              </a:rPr>
              <a:t> → usa </a:t>
            </a:r>
            <a:r>
              <a:rPr b="1" lang="en-US" sz="2000">
                <a:solidFill>
                  <a:schemeClr val="dk1"/>
                </a:solidFill>
              </a:rPr>
              <a:t>1 error pasado</a:t>
            </a:r>
            <a:r>
              <a:rPr lang="en-US" sz="2000">
                <a:solidFill>
                  <a:schemeClr val="dk1"/>
                </a:solidFill>
              </a:rPr>
              <a:t> de predicción (MA).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863" name="Google Shape;863;g3f753beb3ca_0_22"/>
          <p:cNvSpPr txBox="1"/>
          <p:nvPr/>
        </p:nvSpPr>
        <p:spPr>
          <a:xfrm>
            <a:off x="1213050" y="3470375"/>
            <a:ext cx="9765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Suponga</a:t>
            </a:r>
            <a:r>
              <a:rPr lang="en-US" sz="1800"/>
              <a:t> las siguientes ventas mensuales:  </a:t>
            </a:r>
            <a:r>
              <a:rPr b="1" lang="en-US" sz="1800">
                <a:solidFill>
                  <a:srgbClr val="188038"/>
                </a:solidFill>
              </a:rPr>
              <a:t>100 → 110 → 108 → 115 → 120</a:t>
            </a:r>
            <a:endParaRPr b="1" sz="18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d=1: Diferenciar:</a:t>
            </a:r>
            <a:r>
              <a:rPr lang="en-US" sz="1800"/>
              <a:t> </a:t>
            </a:r>
            <a:r>
              <a:rPr lang="en-US" sz="1800"/>
              <a:t> </a:t>
            </a:r>
            <a:r>
              <a:rPr lang="en-US" sz="1800"/>
              <a:t>Calculamos cuánto cambió cada mes: </a:t>
            </a:r>
            <a:r>
              <a:rPr b="1" lang="en-US" sz="1800">
                <a:solidFill>
                  <a:srgbClr val="188038"/>
                </a:solidFill>
              </a:rPr>
              <a:t>+10 → -2 → +7 → +5</a:t>
            </a:r>
            <a:r>
              <a:rPr lang="en-US" sz="1800"/>
              <a:t>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p=1: AR</a:t>
            </a:r>
            <a:r>
              <a:rPr lang="en-US" sz="1800"/>
              <a:t>: Para predecir el próximo cambio se mira 1 cambio anterior:  </a:t>
            </a:r>
            <a:r>
              <a:rPr b="1" lang="en-US" sz="1800">
                <a:solidFill>
                  <a:srgbClr val="188038"/>
                </a:solidFill>
              </a:rPr>
              <a:t>+5</a:t>
            </a:r>
            <a:endParaRPr b="1" sz="18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q=1: MA</a:t>
            </a:r>
            <a:r>
              <a:rPr lang="en-US" sz="1800">
                <a:solidFill>
                  <a:schemeClr val="dk1"/>
                </a:solidFill>
              </a:rPr>
              <a:t>: Mira el error de la predicción anterior. Prediccion 120, venta real 119, </a:t>
            </a:r>
            <a:r>
              <a:rPr b="1" lang="en-US" sz="1800">
                <a:solidFill>
                  <a:srgbClr val="188038"/>
                </a:solidFill>
              </a:rPr>
              <a:t>Error=+1.</a:t>
            </a:r>
            <a:endParaRPr b="1" sz="1800">
              <a:solidFill>
                <a:srgbClr val="188038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f6f5e11020_0_3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Practica#3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24"/>
          <p:cNvSpPr txBox="1"/>
          <p:nvPr/>
        </p:nvSpPr>
        <p:spPr>
          <a:xfrm>
            <a:off x="5166852" y="2930012"/>
            <a:ext cx="18582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Muchas Gracias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2023-04-21T18:09:58Z</dcterms:created>
  <dc:creator>Jacov Mendoza</dc:creator>
</cp:coreProperties>
</file>